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57" r:id="rId3"/>
    <p:sldId id="292" r:id="rId4"/>
    <p:sldId id="289" r:id="rId5"/>
    <p:sldId id="287" r:id="rId6"/>
    <p:sldId id="294" r:id="rId7"/>
    <p:sldId id="264" r:id="rId8"/>
    <p:sldId id="260" r:id="rId9"/>
    <p:sldId id="327" r:id="rId10"/>
    <p:sldId id="328" r:id="rId11"/>
    <p:sldId id="329" r:id="rId12"/>
    <p:sldId id="330" r:id="rId13"/>
    <p:sldId id="314" r:id="rId14"/>
    <p:sldId id="316" r:id="rId15"/>
    <p:sldId id="295" r:id="rId16"/>
    <p:sldId id="297" r:id="rId17"/>
    <p:sldId id="282" r:id="rId18"/>
    <p:sldId id="283" r:id="rId19"/>
    <p:sldId id="315" r:id="rId20"/>
    <p:sldId id="296" r:id="rId21"/>
    <p:sldId id="268" r:id="rId22"/>
    <p:sldId id="298" r:id="rId23"/>
    <p:sldId id="301" r:id="rId24"/>
    <p:sldId id="302" r:id="rId25"/>
    <p:sldId id="303" r:id="rId26"/>
    <p:sldId id="305" r:id="rId27"/>
    <p:sldId id="259" r:id="rId28"/>
    <p:sldId id="308" r:id="rId29"/>
    <p:sldId id="311" r:id="rId30"/>
    <p:sldId id="312" r:id="rId31"/>
    <p:sldId id="313" r:id="rId32"/>
    <p:sldId id="317" r:id="rId33"/>
    <p:sldId id="318" r:id="rId34"/>
    <p:sldId id="319" r:id="rId35"/>
    <p:sldId id="320" r:id="rId36"/>
    <p:sldId id="321" r:id="rId37"/>
    <p:sldId id="322" r:id="rId38"/>
    <p:sldId id="339" r:id="rId39"/>
    <p:sldId id="331" r:id="rId40"/>
    <p:sldId id="332" r:id="rId41"/>
    <p:sldId id="333" r:id="rId42"/>
    <p:sldId id="334" r:id="rId43"/>
    <p:sldId id="335" r:id="rId44"/>
    <p:sldId id="336" r:id="rId45"/>
    <p:sldId id="337" r:id="rId46"/>
    <p:sldId id="338" r:id="rId47"/>
    <p:sldId id="341" r:id="rId48"/>
    <p:sldId id="340" r:id="rId49"/>
    <p:sldId id="342" r:id="rId50"/>
    <p:sldId id="343" r:id="rId51"/>
    <p:sldId id="344" r:id="rId52"/>
    <p:sldId id="345" r:id="rId53"/>
    <p:sldId id="346" r:id="rId54"/>
    <p:sldId id="348" r:id="rId55"/>
    <p:sldId id="347" r:id="rId56"/>
    <p:sldId id="349" r:id="rId57"/>
    <p:sldId id="350" r:id="rId58"/>
    <p:sldId id="351" r:id="rId5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ECFA48C8-3611-4B34-A92F-072C9C686824}">
          <p14:sldIdLst>
            <p14:sldId id="256"/>
            <p14:sldId id="257"/>
            <p14:sldId id="292"/>
            <p14:sldId id="289"/>
            <p14:sldId id="287"/>
            <p14:sldId id="294"/>
            <p14:sldId id="264"/>
            <p14:sldId id="260"/>
            <p14:sldId id="327"/>
            <p14:sldId id="328"/>
            <p14:sldId id="329"/>
            <p14:sldId id="330"/>
            <p14:sldId id="314"/>
            <p14:sldId id="316"/>
            <p14:sldId id="295"/>
            <p14:sldId id="297"/>
            <p14:sldId id="282"/>
            <p14:sldId id="283"/>
            <p14:sldId id="315"/>
            <p14:sldId id="296"/>
            <p14:sldId id="268"/>
            <p14:sldId id="298"/>
            <p14:sldId id="301"/>
            <p14:sldId id="302"/>
            <p14:sldId id="303"/>
            <p14:sldId id="305"/>
            <p14:sldId id="259"/>
            <p14:sldId id="308"/>
            <p14:sldId id="311"/>
            <p14:sldId id="312"/>
            <p14:sldId id="313"/>
            <p14:sldId id="317"/>
            <p14:sldId id="318"/>
            <p14:sldId id="319"/>
            <p14:sldId id="320"/>
            <p14:sldId id="321"/>
            <p14:sldId id="322"/>
            <p14:sldId id="339"/>
            <p14:sldId id="331"/>
            <p14:sldId id="332"/>
            <p14:sldId id="333"/>
            <p14:sldId id="334"/>
            <p14:sldId id="335"/>
            <p14:sldId id="336"/>
            <p14:sldId id="337"/>
            <p14:sldId id="338"/>
            <p14:sldId id="341"/>
            <p14:sldId id="340"/>
            <p14:sldId id="342"/>
            <p14:sldId id="343"/>
            <p14:sldId id="344"/>
            <p14:sldId id="345"/>
            <p14:sldId id="346"/>
            <p14:sldId id="348"/>
            <p14:sldId id="347"/>
            <p14:sldId id="349"/>
            <p14:sldId id="350"/>
            <p14:sldId id="35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97C7E6"/>
    <a:srgbClr val="529FD1"/>
    <a:srgbClr val="7F7F7F"/>
    <a:srgbClr val="202123"/>
    <a:srgbClr val="9A071B"/>
    <a:srgbClr val="FFFFFF"/>
    <a:srgbClr val="D9D9D9"/>
    <a:srgbClr val="DADAE0"/>
    <a:srgbClr val="F1F1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8FFA4F-EF2B-48A1-B33A-6C24C0C0A475}" v="806" dt="2023-06-27T14:23:24.05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83986" autoAdjust="0"/>
  </p:normalViewPr>
  <p:slideViewPr>
    <p:cSldViewPr snapToGrid="0">
      <p:cViewPr varScale="1">
        <p:scale>
          <a:sx n="95" d="100"/>
          <a:sy n="95" d="100"/>
        </p:scale>
        <p:origin x="1158"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EB58BC-5A7D-4B74-9223-FA3CF7CAED2F}" type="datetimeFigureOut">
              <a:rPr kumimoji="1" lang="ja-JP" altLang="en-US" smtClean="0"/>
              <a:t>2023/11/10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198ECC-104E-4690-B1EF-87C2A3ACB3B1}" type="slidenum">
              <a:rPr kumimoji="1" lang="ja-JP" altLang="en-US" smtClean="0"/>
              <a:t>‹#›</a:t>
            </a:fld>
            <a:endParaRPr kumimoji="1" lang="ja-JP" altLang="en-US"/>
          </a:p>
        </p:txBody>
      </p:sp>
    </p:spTree>
    <p:extLst>
      <p:ext uri="{BB962C8B-B14F-4D97-AF65-F5344CB8AC3E}">
        <p14:creationId xmlns:p14="http://schemas.microsoft.com/office/powerpoint/2010/main" val="918079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今回、私達は二つの文章に関する類似度スコア計算プログラムの比較検討について発表させていただきます。発表者は私、岩村と岡田になります。</a:t>
            </a:r>
            <a:r>
              <a:rPr lang="ja-JP" altLang="ja-JP" sz="1800" dirty="0">
                <a:effectLst/>
                <a:ea typeface="游明朝" panose="02020400000000000000" pitchFamily="18" charset="-128"/>
                <a:cs typeface="Times New Roman" panose="02020603050405020304" pitchFamily="18" charset="0"/>
              </a:rPr>
              <a:t>よろしくお願いします。</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a:t>
            </a:fld>
            <a:endParaRPr kumimoji="1" lang="ja-JP" altLang="en-US"/>
          </a:p>
        </p:txBody>
      </p:sp>
    </p:spTree>
    <p:extLst>
      <p:ext uri="{BB962C8B-B14F-4D97-AF65-F5344CB8AC3E}">
        <p14:creationId xmlns:p14="http://schemas.microsoft.com/office/powerpoint/2010/main" val="2586656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はじめに、発表の目次ですが、最初に背景、目的、調査内容、用語説明、そして実験結果として６つの実験の結果を示し、最後にその結論を述べます。</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2</a:t>
            </a:fld>
            <a:endParaRPr kumimoji="1" lang="ja-JP" altLang="en-US"/>
          </a:p>
        </p:txBody>
      </p:sp>
    </p:spTree>
    <p:extLst>
      <p:ext uri="{BB962C8B-B14F-4D97-AF65-F5344CB8AC3E}">
        <p14:creationId xmlns:p14="http://schemas.microsoft.com/office/powerpoint/2010/main" val="955365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近年、世界中の様々な分野において</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の活用が進んでいます。アメリカではチャットボットの研究が急激に進められており、</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OPEN 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社が対話型チャットボットである</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Chat GPT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を開発し、</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SNS</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上で話題となりました。内部処理についても、</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Google</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社が自然言語処理ライブラリである</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BERT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開発し、精度の向上が見込まれています。日本では、このようなサービスの日本語対応版を用いることが多いです。しかし、日本でのチャットボットの開発は海外に比べ発展途上です。なぜなら、日本語と英語の文構造が大きく異なるためです。</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4</a:t>
            </a:fld>
            <a:endParaRPr kumimoji="1" lang="ja-JP" altLang="en-US"/>
          </a:p>
        </p:txBody>
      </p:sp>
    </p:spTree>
    <p:extLst>
      <p:ext uri="{BB962C8B-B14F-4D97-AF65-F5344CB8AC3E}">
        <p14:creationId xmlns:p14="http://schemas.microsoft.com/office/powerpoint/2010/main" val="1817696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型チャットボットについて調査する中で、高校生として授業を受けている視点から、学校外でも質問に答えてくれるチャットボットサービスがあれば便利だと考えました。実際に、教育業界でも</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の活用は進んでいます。たとえば、チャットボットを用いて、学習進度管理、演習授業支援をおこなう研究がおこなわれています。教育において、</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型チャットボットの活用は、より良い学習環境を提供することができます。そこで、私たちは学校教育向けチャットボットの開発を目的に調査をおこないました。</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5</a:t>
            </a:fld>
            <a:endParaRPr kumimoji="1" lang="ja-JP" altLang="en-US"/>
          </a:p>
        </p:txBody>
      </p:sp>
    </p:spTree>
    <p:extLst>
      <p:ext uri="{BB962C8B-B14F-4D97-AF65-F5344CB8AC3E}">
        <p14:creationId xmlns:p14="http://schemas.microsoft.com/office/powerpoint/2010/main" val="1688581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6</a:t>
            </a:fld>
            <a:endParaRPr kumimoji="1" lang="ja-JP" altLang="en-US"/>
          </a:p>
        </p:txBody>
      </p:sp>
    </p:spTree>
    <p:extLst>
      <p:ext uri="{BB962C8B-B14F-4D97-AF65-F5344CB8AC3E}">
        <p14:creationId xmlns:p14="http://schemas.microsoft.com/office/powerpoint/2010/main" val="3641618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次にベクトル比較についてです。ベクトルの類似度は、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つのベクトルのなす角の</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cos</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を求めることで算出できます。文章の類似度も同様に、</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cos</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を求めて算出します。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7</a:t>
            </a:fld>
            <a:endParaRPr kumimoji="1" lang="ja-JP" altLang="en-US"/>
          </a:p>
        </p:txBody>
      </p:sp>
    </p:spTree>
    <p:extLst>
      <p:ext uri="{BB962C8B-B14F-4D97-AF65-F5344CB8AC3E}">
        <p14:creationId xmlns:p14="http://schemas.microsoft.com/office/powerpoint/2010/main" val="2436570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本発表にでてくる用語について説明します。今回の研究では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TF-IDF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を用いて類似度を算出しました。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とは，索引語頻度と呼ばれる一つの要素に対する重み付けであり，文書</a:t>
            </a:r>
            <a:r>
              <a:rPr lang="en-US" altLang="ja-JP" sz="1800" kern="100" dirty="0">
                <a:effectLst/>
                <a:latin typeface="Cambria Math" panose="02040503050406030204" pitchFamily="18" charset="0"/>
                <a:ea typeface="游明朝" panose="02020400000000000000" pitchFamily="18" charset="-128"/>
                <a:cs typeface="Cambria Math" panose="02040503050406030204" pitchFamily="18" charset="0"/>
              </a:rPr>
              <a:t>𝑫</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_</a:t>
            </a:r>
            <a:r>
              <a:rPr lang="en-US" altLang="ja-JP" sz="1800" kern="100" dirty="0">
                <a:effectLst/>
                <a:latin typeface="Cambria Math" panose="02040503050406030204" pitchFamily="18" charset="0"/>
                <a:ea typeface="游明朝" panose="02020400000000000000" pitchFamily="18" charset="-128"/>
                <a:cs typeface="Cambria Math" panose="02040503050406030204" pitchFamily="18" charset="0"/>
              </a:rPr>
              <a:t>𝒋</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の中の単語</a:t>
            </a:r>
            <a:r>
              <a:rPr lang="en-US" altLang="ja-JP" sz="1800" kern="100" dirty="0">
                <a:effectLst/>
                <a:latin typeface="Cambria Math" panose="02040503050406030204" pitchFamily="18" charset="0"/>
                <a:ea typeface="游明朝" panose="02020400000000000000" pitchFamily="18" charset="-128"/>
                <a:cs typeface="Cambria Math" panose="02040503050406030204" pitchFamily="18" charset="0"/>
              </a:rPr>
              <a:t>𝝎</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_</a:t>
            </a:r>
            <a:r>
              <a:rPr lang="en-US" altLang="ja-JP" sz="1800" kern="100" dirty="0">
                <a:effectLst/>
                <a:latin typeface="Cambria Math" panose="02040503050406030204" pitchFamily="18" charset="0"/>
                <a:ea typeface="游明朝" panose="02020400000000000000" pitchFamily="18" charset="-128"/>
                <a:cs typeface="Cambria Math" panose="02040503050406030204" pitchFamily="18" charset="0"/>
              </a:rPr>
              <a:t>𝒊</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の出現頻度です。類似度比較の際に</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を用いると，同じ単語を含んでいる文書同士の類似度スコアが高くなります。</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IDF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とは，文書頻度の逆数と呼ばれる文章全体への重み付けです。式はスライドに示した通りになります。</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IDF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を用いることで，他の文書にも多く含まれている単語の重みが下がるため、文書の特徴語を抽出することができます。</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TF-IDF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IDF</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の積のことであり，</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scikit-learn</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ではこれを正規化した数値が用いられます。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8</a:t>
            </a:fld>
            <a:endParaRPr kumimoji="1" lang="ja-JP" altLang="en-US"/>
          </a:p>
        </p:txBody>
      </p:sp>
    </p:spTree>
    <p:extLst>
      <p:ext uri="{BB962C8B-B14F-4D97-AF65-F5344CB8AC3E}">
        <p14:creationId xmlns:p14="http://schemas.microsoft.com/office/powerpoint/2010/main" val="2229611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9</a:t>
            </a:fld>
            <a:endParaRPr kumimoji="1" lang="ja-JP" altLang="en-US"/>
          </a:p>
        </p:txBody>
      </p:sp>
    </p:spTree>
    <p:extLst>
      <p:ext uri="{BB962C8B-B14F-4D97-AF65-F5344CB8AC3E}">
        <p14:creationId xmlns:p14="http://schemas.microsoft.com/office/powerpoint/2010/main" val="3524524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10</a:t>
            </a:fld>
            <a:endParaRPr kumimoji="1" lang="ja-JP" altLang="en-US"/>
          </a:p>
        </p:txBody>
      </p:sp>
    </p:spTree>
    <p:extLst>
      <p:ext uri="{BB962C8B-B14F-4D97-AF65-F5344CB8AC3E}">
        <p14:creationId xmlns:p14="http://schemas.microsoft.com/office/powerpoint/2010/main" val="25499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11</a:t>
            </a:fld>
            <a:endParaRPr kumimoji="1" lang="ja-JP" altLang="en-US"/>
          </a:p>
        </p:txBody>
      </p:sp>
    </p:spTree>
    <p:extLst>
      <p:ext uri="{BB962C8B-B14F-4D97-AF65-F5344CB8AC3E}">
        <p14:creationId xmlns:p14="http://schemas.microsoft.com/office/powerpoint/2010/main" val="3639638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12</a:t>
            </a:fld>
            <a:endParaRPr kumimoji="1" lang="ja-JP" altLang="en-US"/>
          </a:p>
        </p:txBody>
      </p:sp>
    </p:spTree>
    <p:extLst>
      <p:ext uri="{BB962C8B-B14F-4D97-AF65-F5344CB8AC3E}">
        <p14:creationId xmlns:p14="http://schemas.microsoft.com/office/powerpoint/2010/main" val="1833843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調査内容についてです。私達は、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Watson </a:t>
            </a:r>
            <a:r>
              <a:rPr lang="en-US" altLang="ja-JP" sz="1800" kern="100" dirty="0" err="1">
                <a:effectLst/>
                <a:latin typeface="游明朝" panose="02020400000000000000" pitchFamily="18" charset="-128"/>
                <a:ea typeface="游明朝" panose="02020400000000000000" pitchFamily="18" charset="-128"/>
                <a:cs typeface="Times New Roman" panose="02020603050405020304" pitchFamily="18" charset="0"/>
              </a:rPr>
              <a:t>QnA</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 Bot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内部処理が、文章をベクトル化し、，そのベクトルの比較をすることで、スコアを算出していると推測しました。そこで、今回の調査では、文章のベクトル化とベクトル比較をおこなうプログラムを作成し、二つの文章の類似度を算出して、</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Watson</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と比較しました。</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14</a:t>
            </a:fld>
            <a:endParaRPr kumimoji="1" lang="ja-JP" altLang="en-US"/>
          </a:p>
        </p:txBody>
      </p:sp>
    </p:spTree>
    <p:extLst>
      <p:ext uri="{BB962C8B-B14F-4D97-AF65-F5344CB8AC3E}">
        <p14:creationId xmlns:p14="http://schemas.microsoft.com/office/powerpoint/2010/main" val="320188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型チャットボットの内部処理の再現について説明します。まず、質問をカテゴリー化し、カテゴリー内のすべての文と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ユーザーが入力した</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質間文との類似度を算出します。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これを</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、すべてのカテゴリーについて算出し、類似度の最も高い質問カテゴリー</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がユーザーの</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質問であると判定します。その流れの中で、</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つの文章を比較する術を今回検討しています。</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15</a:t>
            </a:fld>
            <a:endParaRPr kumimoji="1" lang="ja-JP" altLang="en-US"/>
          </a:p>
        </p:txBody>
      </p:sp>
    </p:spTree>
    <p:extLst>
      <p:ext uri="{BB962C8B-B14F-4D97-AF65-F5344CB8AC3E}">
        <p14:creationId xmlns:p14="http://schemas.microsoft.com/office/powerpoint/2010/main" val="2783495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型チャットボットの内部処理の再現について説明します。まず、質問をカテゴリー化し、カテゴリー内のすべての文と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ユーザーが入力した</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質間文との類似度を算出します。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これを</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、すべてのカテゴリーについて算出し、類似度の最も高い質問カテゴリー</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がユーザーの</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質問であると判定します。その流れの中で、</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つの文章を比較する術を今回検討しています。</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16</a:t>
            </a:fld>
            <a:endParaRPr kumimoji="1" lang="ja-JP" altLang="en-US"/>
          </a:p>
        </p:txBody>
      </p:sp>
    </p:spTree>
    <p:extLst>
      <p:ext uri="{BB962C8B-B14F-4D97-AF65-F5344CB8AC3E}">
        <p14:creationId xmlns:p14="http://schemas.microsoft.com/office/powerpoint/2010/main" val="406257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内部処理についての実験結果を説明します。まず、ベクトル化の手順についてです。はじめに、スライドのように文章を文節ごとに区切ります。これを分かち書きといいます。次に、２つの文章の要素をリストにします。リスト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Unicode</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の順、つまり、数字、ローマ字、ひらがな、カタカナ、漢字の順に並び替えられます。そして、文章の要素がリストにあるかないかで</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01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ベクトルに変換します。</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17</a:t>
            </a:fld>
            <a:endParaRPr kumimoji="1" lang="ja-JP" altLang="en-US"/>
          </a:p>
        </p:txBody>
      </p:sp>
    </p:spTree>
    <p:extLst>
      <p:ext uri="{BB962C8B-B14F-4D97-AF65-F5344CB8AC3E}">
        <p14:creationId xmlns:p14="http://schemas.microsoft.com/office/powerpoint/2010/main" val="4081489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最後に</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01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ベクトルを単位ベクトルに変換します。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18</a:t>
            </a:fld>
            <a:endParaRPr kumimoji="1" lang="ja-JP" altLang="en-US"/>
          </a:p>
        </p:txBody>
      </p:sp>
    </p:spTree>
    <p:extLst>
      <p:ext uri="{BB962C8B-B14F-4D97-AF65-F5344CB8AC3E}">
        <p14:creationId xmlns:p14="http://schemas.microsoft.com/office/powerpoint/2010/main" val="4183225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次に類似度スコア計算プログラムの開発環境についてです。開発は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Python</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のライブラリである</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scikit-learn</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TF-IDF Vectorizer</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でおこないました。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scikit-learn</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とは機械学習をおこなう際に使用される主要なライブラリであり、</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Janome</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は形態素解析ツールです。また、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Python</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のバージョンは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 3.11.1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です。</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21</a:t>
            </a:fld>
            <a:endParaRPr kumimoji="1" lang="ja-JP" altLang="en-US"/>
          </a:p>
        </p:txBody>
      </p:sp>
    </p:spTree>
    <p:extLst>
      <p:ext uri="{BB962C8B-B14F-4D97-AF65-F5344CB8AC3E}">
        <p14:creationId xmlns:p14="http://schemas.microsoft.com/office/powerpoint/2010/main" val="3272525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型チャットボットの内部処理の再現について説明します。まず、質問をカテゴリー化し、カテゴリー内のすべての文と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ユーザーが入力した</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質間文との類似度を算出します。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これを</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、すべてのカテゴリーについて算出し、類似度の最も高い質問カテゴリー</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がユーザーの</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質問であると判定します。その流れの中で、</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つの文章を比較する術を今回検討しています。</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22</a:t>
            </a:fld>
            <a:endParaRPr kumimoji="1" lang="ja-JP" altLang="en-US"/>
          </a:p>
        </p:txBody>
      </p:sp>
    </p:spTree>
    <p:extLst>
      <p:ext uri="{BB962C8B-B14F-4D97-AF65-F5344CB8AC3E}">
        <p14:creationId xmlns:p14="http://schemas.microsoft.com/office/powerpoint/2010/main" val="306949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lgn="just">
              <a:buFont typeface="+mj-lt"/>
              <a:buNone/>
            </a:pP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型チャットボットの内部処理の再現について説明します。まず、質問をカテゴリー化し、カテゴリー内のすべての文と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ユーザーが入力した</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質間文との類似度を算出します。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これを</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、すべてのカテゴリーについて算出し、類似度の最も高い質問カテゴリー</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がユーザーの</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質問であると判定します。その流れの中で、</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つの文章を比較する術を今回検討しています。</a:t>
            </a:r>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23</a:t>
            </a:fld>
            <a:endParaRPr kumimoji="1" lang="ja-JP" altLang="en-US"/>
          </a:p>
        </p:txBody>
      </p:sp>
    </p:spTree>
    <p:extLst>
      <p:ext uri="{BB962C8B-B14F-4D97-AF65-F5344CB8AC3E}">
        <p14:creationId xmlns:p14="http://schemas.microsoft.com/office/powerpoint/2010/main" val="2827793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参考文献はこちらになります。ご清聴ありがとうございました。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56</a:t>
            </a:fld>
            <a:endParaRPr kumimoji="1" lang="ja-JP" altLang="en-US"/>
          </a:p>
        </p:txBody>
      </p:sp>
    </p:spTree>
    <p:extLst>
      <p:ext uri="{BB962C8B-B14F-4D97-AF65-F5344CB8AC3E}">
        <p14:creationId xmlns:p14="http://schemas.microsoft.com/office/powerpoint/2010/main" val="3151507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参考文献はこちらになります。ご清聴ありがとうございました。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57</a:t>
            </a:fld>
            <a:endParaRPr kumimoji="1" lang="ja-JP" altLang="en-US"/>
          </a:p>
        </p:txBody>
      </p:sp>
    </p:spTree>
    <p:extLst>
      <p:ext uri="{BB962C8B-B14F-4D97-AF65-F5344CB8AC3E}">
        <p14:creationId xmlns:p14="http://schemas.microsoft.com/office/powerpoint/2010/main" val="13702966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参考文献はこちらになります。ご清聴ありがとうございました。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67198ECC-104E-4690-B1EF-87C2A3ACB3B1}" type="slidenum">
              <a:rPr kumimoji="1" lang="ja-JP" altLang="en-US" smtClean="0"/>
              <a:t>58</a:t>
            </a:fld>
            <a:endParaRPr kumimoji="1" lang="ja-JP" altLang="en-US"/>
          </a:p>
        </p:txBody>
      </p:sp>
    </p:spTree>
    <p:extLst>
      <p:ext uri="{BB962C8B-B14F-4D97-AF65-F5344CB8AC3E}">
        <p14:creationId xmlns:p14="http://schemas.microsoft.com/office/powerpoint/2010/main" val="2226545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440AB8-444B-C8DB-1F10-0B060465F7D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F44BC26-9929-80FD-AAEB-0A119E004E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684FB7F-4672-97EF-572B-232539AA6428}"/>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5" name="フッター プレースホルダー 4">
            <a:extLst>
              <a:ext uri="{FF2B5EF4-FFF2-40B4-BE49-F238E27FC236}">
                <a16:creationId xmlns:a16="http://schemas.microsoft.com/office/drawing/2014/main" id="{A6712B1E-DBA7-C2B5-53D8-B9B2C70C2E9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C79A792-2A86-2E57-7F19-CC0A4D6FFF80}"/>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1027964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EA7E2C-20A8-4243-B578-3F4CDCAA8F0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ED6700-0DF0-F1C8-90F8-E2CF55DA5C9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3C7EAE0-454A-BFAB-3516-B3179952C675}"/>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5" name="フッター プレースホルダー 4">
            <a:extLst>
              <a:ext uri="{FF2B5EF4-FFF2-40B4-BE49-F238E27FC236}">
                <a16:creationId xmlns:a16="http://schemas.microsoft.com/office/drawing/2014/main" id="{A15C492D-762D-F472-E262-DC34AA6FB91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03CD1A3-6CA7-9BC7-1D2E-80ABDBC2FA3E}"/>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3962190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D46B49-CA63-A173-5AEC-285C576CA47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F891A7-5C07-D904-07EF-E623185266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026632A-9C46-E7AE-C71C-0EA330D36563}"/>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5" name="フッター プレースホルダー 4">
            <a:extLst>
              <a:ext uri="{FF2B5EF4-FFF2-40B4-BE49-F238E27FC236}">
                <a16:creationId xmlns:a16="http://schemas.microsoft.com/office/drawing/2014/main" id="{A39EC85E-49D6-D1AE-57D5-5B4D1A189C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83C464A-1B69-623C-E7BF-F81F20CE8D5D}"/>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485354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BFB0B7-2B4D-77A6-C3B7-13D080B1405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791F16-E2B0-3BD8-5529-2BCFA6AC981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C6076B1-7495-DBAA-A409-37EEC31D3E3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71E90DA-1269-D9C7-453F-81223CA2A8F5}"/>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6" name="フッター プレースホルダー 5">
            <a:extLst>
              <a:ext uri="{FF2B5EF4-FFF2-40B4-BE49-F238E27FC236}">
                <a16:creationId xmlns:a16="http://schemas.microsoft.com/office/drawing/2014/main" id="{4FBD866A-5E19-77C0-DE0A-F7AC3FB33F1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BE57D16-7946-F211-5873-A415316DA84F}"/>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1302129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BAE950-30DB-91B9-A057-10F19215377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12985BF-70F5-DCFF-8DB7-266C7C655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AE1E6C7-E158-931D-673A-B956945511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D6EA45E-B309-A385-1E9B-45285F012F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1D249B8-1343-9D08-136A-01BCA15EFA9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B52FFE4-B45F-B607-3089-3F0BBA554717}"/>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8" name="フッター プレースホルダー 7">
            <a:extLst>
              <a:ext uri="{FF2B5EF4-FFF2-40B4-BE49-F238E27FC236}">
                <a16:creationId xmlns:a16="http://schemas.microsoft.com/office/drawing/2014/main" id="{90C58F50-23B2-2178-191D-98327681059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D285329-E276-7EEA-9CEC-3A83368A2DC4}"/>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1003934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09791-40B9-7821-95A4-52FEFBDE091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2725ACD-A673-8564-947B-28F53C75E084}"/>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4" name="フッター プレースホルダー 3">
            <a:extLst>
              <a:ext uri="{FF2B5EF4-FFF2-40B4-BE49-F238E27FC236}">
                <a16:creationId xmlns:a16="http://schemas.microsoft.com/office/drawing/2014/main" id="{77A77587-3017-8423-5994-7F84ABEC54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25CAF7E-5B67-A76E-D420-03DC450CAB49}"/>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1008501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55DE68A-0388-36DB-C7C5-E3B8819125BA}"/>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3" name="フッター プレースホルダー 2">
            <a:extLst>
              <a:ext uri="{FF2B5EF4-FFF2-40B4-BE49-F238E27FC236}">
                <a16:creationId xmlns:a16="http://schemas.microsoft.com/office/drawing/2014/main" id="{FD2B3B52-FFA5-5B44-CBB3-D952EA988A7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15B6B85-D3BE-D8C3-651D-1DC9693ED6D4}"/>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3507499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3A239C-646B-C264-C9A1-2372C7BDEB3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58954F6-15C6-5FB2-D9C0-59EA4697F3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6ABCE04-FD4F-CEEC-3332-BED7512C56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CFC0F39-1700-98B9-C4C2-BE09D3E7A77E}"/>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6" name="フッター プレースホルダー 5">
            <a:extLst>
              <a:ext uri="{FF2B5EF4-FFF2-40B4-BE49-F238E27FC236}">
                <a16:creationId xmlns:a16="http://schemas.microsoft.com/office/drawing/2014/main" id="{08C5ADD8-0316-D88F-DF7F-7FB578F3355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6020CF-6718-FA0E-621F-8956ECD57858}"/>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1329010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477CE5-6FC4-1A9B-8B29-E6DAEE2A8DF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F7156A1-D24F-1638-E8D5-BD65C211DA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CA7DFBC-0E6A-B00E-18C8-A1CDB3588B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0AB8D40-F692-F976-D841-0F08E24967DC}"/>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6" name="フッター プレースホルダー 5">
            <a:extLst>
              <a:ext uri="{FF2B5EF4-FFF2-40B4-BE49-F238E27FC236}">
                <a16:creationId xmlns:a16="http://schemas.microsoft.com/office/drawing/2014/main" id="{7F5AFD82-25E7-7D92-88E1-45FC50F8DD2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EBFCC2-E93F-7571-F406-B3FB587E6E71}"/>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2059669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6A7CD1-BBEE-DEF0-753C-AE3907AAF20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2412F9D-ED8C-71DA-2736-62D15360B8C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CEAE30-16CF-F230-685D-9106ABE2F8F9}"/>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5" name="フッター プレースホルダー 4">
            <a:extLst>
              <a:ext uri="{FF2B5EF4-FFF2-40B4-BE49-F238E27FC236}">
                <a16:creationId xmlns:a16="http://schemas.microsoft.com/office/drawing/2014/main" id="{C5BB11FE-645F-BD7E-ECC8-2E8E7B50DB5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C75752B-5C18-EEE1-661F-5246BC6E095A}"/>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3024912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94E7663-D2B9-98A6-25FC-8E7E4A60D9B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1843B0-9484-D39B-2143-2D059CBDE00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DDC5BA-A829-D05A-EDBC-C384BB4789BA}"/>
              </a:ext>
            </a:extLst>
          </p:cNvPr>
          <p:cNvSpPr>
            <a:spLocks noGrp="1"/>
          </p:cNvSpPr>
          <p:nvPr>
            <p:ph type="dt" sz="half" idx="10"/>
          </p:nvPr>
        </p:nvSpPr>
        <p:spPr/>
        <p:txBody>
          <a:bodyPr/>
          <a:lstStyle/>
          <a:p>
            <a:fld id="{C67B9FD5-211B-46B5-8275-482003CB5E85}" type="datetimeFigureOut">
              <a:rPr kumimoji="1" lang="ja-JP" altLang="en-US" smtClean="0"/>
              <a:t>2023/11/10</a:t>
            </a:fld>
            <a:endParaRPr kumimoji="1" lang="ja-JP" altLang="en-US"/>
          </a:p>
        </p:txBody>
      </p:sp>
      <p:sp>
        <p:nvSpPr>
          <p:cNvPr id="5" name="フッター プレースホルダー 4">
            <a:extLst>
              <a:ext uri="{FF2B5EF4-FFF2-40B4-BE49-F238E27FC236}">
                <a16:creationId xmlns:a16="http://schemas.microsoft.com/office/drawing/2014/main" id="{2A30EC79-140C-EACB-D69B-94C457B43FF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1392C26-4B3D-372E-A830-E44DC5405373}"/>
              </a:ext>
            </a:extLst>
          </p:cNvPr>
          <p:cNvSpPr>
            <a:spLocks noGrp="1"/>
          </p:cNvSpPr>
          <p:nvPr>
            <p:ph type="sldNum" sz="quarter" idx="12"/>
          </p:nvPr>
        </p:nvSpPr>
        <p:spPr/>
        <p:txBody>
          <a:body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221913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BEA17A3-0BD4-3B0F-724D-9A7E676499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7B6AD61-3005-697B-816E-2E9522E5C0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5D23F19-5EB2-00EE-5D66-63E9083DF2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7B9FD5-211B-46B5-8275-482003CB5E85}" type="datetimeFigureOut">
              <a:rPr kumimoji="1" lang="ja-JP" altLang="en-US" smtClean="0"/>
              <a:t>2023/11/10</a:t>
            </a:fld>
            <a:endParaRPr kumimoji="1" lang="ja-JP" altLang="en-US"/>
          </a:p>
        </p:txBody>
      </p:sp>
      <p:sp>
        <p:nvSpPr>
          <p:cNvPr id="5" name="フッター プレースホルダー 4">
            <a:extLst>
              <a:ext uri="{FF2B5EF4-FFF2-40B4-BE49-F238E27FC236}">
                <a16:creationId xmlns:a16="http://schemas.microsoft.com/office/drawing/2014/main" id="{BB2695CB-C2D6-92E8-BB2C-24C2675B8B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63D8AB5-9ACE-0F46-A8D6-90D42F1782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AE31CA-D72B-488B-86DC-4F2CD1B2A2F7}" type="slidenum">
              <a:rPr kumimoji="1" lang="ja-JP" altLang="en-US" smtClean="0"/>
              <a:t>‹#›</a:t>
            </a:fld>
            <a:endParaRPr kumimoji="1" lang="ja-JP" altLang="en-US"/>
          </a:p>
        </p:txBody>
      </p:sp>
    </p:spTree>
    <p:extLst>
      <p:ext uri="{BB962C8B-B14F-4D97-AF65-F5344CB8AC3E}">
        <p14:creationId xmlns:p14="http://schemas.microsoft.com/office/powerpoint/2010/main" val="1700281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A9BC5E2D-C7CA-726D-6776-0B5D0070FB89}"/>
              </a:ext>
            </a:extLst>
          </p:cNvPr>
          <p:cNvSpPr/>
          <p:nvPr/>
        </p:nvSpPr>
        <p:spPr>
          <a:xfrm>
            <a:off x="0" y="0"/>
            <a:ext cx="12192000" cy="5325979"/>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7F7F7F"/>
              </a:solidFill>
            </a:endParaRPr>
          </a:p>
        </p:txBody>
      </p:sp>
      <p:sp>
        <p:nvSpPr>
          <p:cNvPr id="2" name="タイトル 1">
            <a:extLst>
              <a:ext uri="{FF2B5EF4-FFF2-40B4-BE49-F238E27FC236}">
                <a16:creationId xmlns:a16="http://schemas.microsoft.com/office/drawing/2014/main" id="{0706D49B-4C0B-B48C-24B4-ED0405FC8CF5}"/>
              </a:ext>
            </a:extLst>
          </p:cNvPr>
          <p:cNvSpPr>
            <a:spLocks noGrp="1"/>
          </p:cNvSpPr>
          <p:nvPr>
            <p:ph type="ctrTitle"/>
          </p:nvPr>
        </p:nvSpPr>
        <p:spPr>
          <a:xfrm>
            <a:off x="1" y="898358"/>
            <a:ext cx="12057528" cy="3224464"/>
          </a:xfrm>
        </p:spPr>
        <p:txBody>
          <a:bodyPr>
            <a:normAutofit/>
          </a:bodyPr>
          <a:lstStyle/>
          <a:p>
            <a:pPr algn="l"/>
            <a:r>
              <a:rPr lang="ja-JP" altLang="en-US" sz="3600" dirty="0">
                <a:solidFill>
                  <a:schemeClr val="bg1"/>
                </a:solidFill>
                <a:latin typeface="UD デジタル 教科書体 NK-B" panose="02020700000000000000" pitchFamily="18" charset="-128"/>
                <a:ea typeface="UD デジタル 教科書体 NK-B" panose="02020700000000000000" pitchFamily="18" charset="-128"/>
              </a:rPr>
              <a:t>卒論発表</a:t>
            </a:r>
            <a:br>
              <a:rPr lang="en-US" altLang="ja-JP" sz="2800" dirty="0">
                <a:solidFill>
                  <a:schemeClr val="bg1"/>
                </a:solidFill>
                <a:latin typeface="UD デジタル 教科書体 NK-B" panose="02020700000000000000" pitchFamily="18" charset="-128"/>
                <a:ea typeface="UD デジタル 教科書体 NK-B" panose="02020700000000000000" pitchFamily="18" charset="-128"/>
              </a:rPr>
            </a:br>
            <a:br>
              <a:rPr lang="en-US" altLang="ja-JP" sz="2800" dirty="0">
                <a:solidFill>
                  <a:schemeClr val="bg1"/>
                </a:solidFill>
                <a:latin typeface="UD デジタル 教科書体 NK-B" panose="02020700000000000000" pitchFamily="18" charset="-128"/>
                <a:ea typeface="UD デジタル 教科書体 NK-B" panose="02020700000000000000" pitchFamily="18" charset="-128"/>
              </a:rPr>
            </a:br>
            <a:r>
              <a:rPr lang="ja-JP" altLang="en-US" sz="4400" dirty="0">
                <a:solidFill>
                  <a:schemeClr val="bg1"/>
                </a:solidFill>
                <a:latin typeface="UD デジタル 教科書体 NK-B" panose="02020700000000000000" pitchFamily="18" charset="-128"/>
                <a:ea typeface="UD デジタル 教科書体 NK-B" panose="02020700000000000000" pitchFamily="18" charset="-128"/>
              </a:rPr>
              <a:t>数学に関する質問文分類プログラムの比較検証</a:t>
            </a:r>
            <a:br>
              <a:rPr lang="en-US" altLang="ja-JP" sz="5400" dirty="0">
                <a:solidFill>
                  <a:schemeClr val="bg1"/>
                </a:solidFill>
                <a:latin typeface="UD デジタル 教科書体 NK-B" panose="02020700000000000000" pitchFamily="18" charset="-128"/>
                <a:ea typeface="UD デジタル 教科書体 NK-B" panose="02020700000000000000" pitchFamily="18" charset="-128"/>
              </a:rPr>
            </a:br>
            <a:r>
              <a:rPr lang="ja-JP" altLang="ja-JP" sz="3600" dirty="0">
                <a:solidFill>
                  <a:schemeClr val="bg1"/>
                </a:solidFill>
                <a:latin typeface="UD デジタル 教科書体 NK-B" panose="02020700000000000000" pitchFamily="18" charset="-128"/>
                <a:ea typeface="UD デジタル 教科書体 NK-B" panose="02020700000000000000" pitchFamily="18" charset="-128"/>
              </a:rPr>
              <a:t>‐</a:t>
            </a:r>
            <a:r>
              <a:rPr lang="en-US" altLang="ja-JP" sz="3600" dirty="0">
                <a:solidFill>
                  <a:schemeClr val="bg1"/>
                </a:solidFill>
                <a:latin typeface="UD デジタル 教科書体 NK-B" panose="02020700000000000000" pitchFamily="18" charset="-128"/>
                <a:ea typeface="UD デジタル 教科書体 NK-B" panose="02020700000000000000" pitchFamily="18" charset="-128"/>
              </a:rPr>
              <a:t>TF-IDF</a:t>
            </a:r>
            <a:r>
              <a:rPr lang="ja-JP" altLang="en-US" sz="3600" dirty="0">
                <a:solidFill>
                  <a:schemeClr val="bg1"/>
                </a:solidFill>
                <a:latin typeface="UD デジタル 教科書体 NK-B" panose="02020700000000000000" pitchFamily="18" charset="-128"/>
                <a:ea typeface="UD デジタル 教科書体 NK-B" panose="02020700000000000000" pitchFamily="18" charset="-128"/>
              </a:rPr>
              <a:t>を用いた文章のベクトル化と機械学習の実装</a:t>
            </a:r>
            <a:r>
              <a:rPr lang="ja-JP" altLang="ja-JP" sz="3600" dirty="0">
                <a:solidFill>
                  <a:schemeClr val="bg1"/>
                </a:solidFill>
                <a:latin typeface="UD デジタル 教科書体 NK-B" panose="02020700000000000000" pitchFamily="18" charset="-128"/>
                <a:ea typeface="UD デジタル 教科書体 NK-B" panose="02020700000000000000" pitchFamily="18" charset="-128"/>
              </a:rPr>
              <a:t>‐</a:t>
            </a:r>
            <a:endParaRPr kumimoji="1" lang="ja-JP" altLang="en-US" sz="4800" dirty="0">
              <a:solidFill>
                <a:schemeClr val="bg1"/>
              </a:solidFill>
            </a:endParaRPr>
          </a:p>
        </p:txBody>
      </p:sp>
      <p:sp>
        <p:nvSpPr>
          <p:cNvPr id="3" name="字幕 2">
            <a:extLst>
              <a:ext uri="{FF2B5EF4-FFF2-40B4-BE49-F238E27FC236}">
                <a16:creationId xmlns:a16="http://schemas.microsoft.com/office/drawing/2014/main" id="{D9C3D6A3-791C-76F5-FD36-90AA97A9ADFC}"/>
              </a:ext>
            </a:extLst>
          </p:cNvPr>
          <p:cNvSpPr>
            <a:spLocks noGrp="1"/>
          </p:cNvSpPr>
          <p:nvPr>
            <p:ph type="subTitle" idx="1"/>
          </p:nvPr>
        </p:nvSpPr>
        <p:spPr>
          <a:xfrm>
            <a:off x="321212" y="5586981"/>
            <a:ext cx="3881820" cy="958197"/>
          </a:xfrm>
        </p:spPr>
        <p:txBody>
          <a:bodyPr>
            <a:normAutofit lnSpcReduction="10000"/>
          </a:bodyPr>
          <a:lstStyle/>
          <a:p>
            <a:pPr algn="l"/>
            <a:r>
              <a:rPr lang="ja-JP" altLang="en-US" sz="2800" b="1" dirty="0">
                <a:solidFill>
                  <a:schemeClr val="tx1"/>
                </a:solidFill>
                <a:latin typeface="UD デジタル 教科書体 N-R" panose="02020400000000000000" pitchFamily="17" charset="-128"/>
                <a:ea typeface="UD デジタル 教科書体 N-R" panose="02020400000000000000" pitchFamily="17" charset="-128"/>
              </a:rPr>
              <a:t>早稲田大学高等学院</a:t>
            </a:r>
            <a:endParaRPr lang="en-US" altLang="ja-JP" sz="2800" b="1" dirty="0">
              <a:latin typeface="UD デジタル 教科書体 N-R" panose="02020400000000000000" pitchFamily="17" charset="-128"/>
              <a:ea typeface="UD デジタル 教科書体 N-R" panose="02020400000000000000" pitchFamily="17" charset="-128"/>
            </a:endParaRPr>
          </a:p>
          <a:p>
            <a:pPr algn="l"/>
            <a:r>
              <a:rPr lang="en-US" altLang="ja-JP" sz="2800" b="1" dirty="0">
                <a:solidFill>
                  <a:schemeClr val="tx1"/>
                </a:solidFill>
                <a:latin typeface="UD デジタル 教科書体 N-R" panose="02020400000000000000" pitchFamily="17" charset="-128"/>
                <a:ea typeface="UD デジタル 教科書体 N-R" panose="02020400000000000000" pitchFamily="17" charset="-128"/>
              </a:rPr>
              <a:t>3-F-23 </a:t>
            </a:r>
            <a:r>
              <a:rPr lang="ja-JP" altLang="ja-JP" sz="2800" b="1" dirty="0">
                <a:solidFill>
                  <a:schemeClr val="tx1"/>
                </a:solidFill>
                <a:latin typeface="UD デジタル 教科書体 N-R" panose="02020400000000000000" pitchFamily="17" charset="-128"/>
                <a:ea typeface="UD デジタル 教科書体 N-R" panose="02020400000000000000" pitchFamily="17" charset="-128"/>
              </a:rPr>
              <a:t>岡田浩毅</a:t>
            </a:r>
            <a:endParaRPr lang="ja-JP" altLang="ja-JP" sz="3600" b="1" dirty="0">
              <a:solidFill>
                <a:schemeClr val="tx1"/>
              </a:solidFill>
              <a:latin typeface="UD デジタル 教科書体 N-R" panose="02020400000000000000" pitchFamily="17" charset="-128"/>
              <a:ea typeface="UD デジタル 教科書体 N-R" panose="02020400000000000000" pitchFamily="17" charset="-128"/>
            </a:endParaRPr>
          </a:p>
        </p:txBody>
      </p:sp>
    </p:spTree>
    <p:extLst>
      <p:ext uri="{BB962C8B-B14F-4D97-AF65-F5344CB8AC3E}">
        <p14:creationId xmlns:p14="http://schemas.microsoft.com/office/powerpoint/2010/main" val="1131683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AA0EADFB-4C72-8C12-5285-6509BC5BBFAB}"/>
              </a:ext>
            </a:extLst>
          </p:cNvPr>
          <p:cNvSpPr/>
          <p:nvPr/>
        </p:nvSpPr>
        <p:spPr>
          <a:xfrm>
            <a:off x="0" y="0"/>
            <a:ext cx="439553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7F7F7F"/>
              </a:solidFill>
            </a:endParaRPr>
          </a:p>
        </p:txBody>
      </p:sp>
      <p:sp>
        <p:nvSpPr>
          <p:cNvPr id="2" name="タイトル 1">
            <a:extLst>
              <a:ext uri="{FF2B5EF4-FFF2-40B4-BE49-F238E27FC236}">
                <a16:creationId xmlns:a16="http://schemas.microsoft.com/office/drawing/2014/main" id="{7EDD0818-6057-E774-B078-DF15A0812343}"/>
              </a:ext>
            </a:extLst>
          </p:cNvPr>
          <p:cNvSpPr>
            <a:spLocks noGrp="1"/>
          </p:cNvSpPr>
          <p:nvPr>
            <p:ph type="title"/>
          </p:nvPr>
        </p:nvSpPr>
        <p:spPr>
          <a:xfrm>
            <a:off x="310075" y="2955173"/>
            <a:ext cx="2461260" cy="947653"/>
          </a:xfrm>
        </p:spPr>
        <p:txBody>
          <a:bodyPr>
            <a:normAutofit fontScale="90000"/>
          </a:bodyPr>
          <a:lstStyle/>
          <a:p>
            <a:r>
              <a:rPr kumimoji="1" lang="ja-JP" altLang="en-US" sz="8000" b="1" dirty="0">
                <a:solidFill>
                  <a:schemeClr val="bg1"/>
                </a:solidFill>
                <a:latin typeface="UD デジタル 教科書体 NK-B" panose="02020700000000000000" pitchFamily="18" charset="-128"/>
                <a:ea typeface="UD デジタル 教科書体 NK-B" panose="02020700000000000000" pitchFamily="18" charset="-128"/>
              </a:rPr>
              <a:t>目次</a:t>
            </a:r>
            <a:endParaRPr kumimoji="1" lang="ja-JP" altLang="en-US"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3" name="コンテンツ プレースホルダー 2">
            <a:extLst>
              <a:ext uri="{FF2B5EF4-FFF2-40B4-BE49-F238E27FC236}">
                <a16:creationId xmlns:a16="http://schemas.microsoft.com/office/drawing/2014/main" id="{03FEEF56-3D86-321E-00DC-5917D1ACC2E9}"/>
              </a:ext>
            </a:extLst>
          </p:cNvPr>
          <p:cNvSpPr>
            <a:spLocks noGrp="1"/>
          </p:cNvSpPr>
          <p:nvPr>
            <p:ph idx="1"/>
          </p:nvPr>
        </p:nvSpPr>
        <p:spPr>
          <a:xfrm>
            <a:off x="4705612" y="1079239"/>
            <a:ext cx="7315176" cy="6189785"/>
          </a:xfrm>
        </p:spPr>
        <p:txBody>
          <a:bodyPr>
            <a:noAutofit/>
          </a:bodyPr>
          <a:lstStyle/>
          <a:p>
            <a:pPr>
              <a:buFont typeface="Wingdings" panose="05000000000000000000" pitchFamily="2" charset="2"/>
              <a:buChar char="n"/>
            </a:pPr>
            <a:r>
              <a:rPr kumimoji="1" lang="en-US" altLang="ja-JP" sz="4000" u="sng" dirty="0">
                <a:latin typeface="UD デジタル 教科書体 NK-B" panose="02020700000000000000" pitchFamily="18" charset="-128"/>
                <a:ea typeface="UD デジタル 教科書体 NK-B" panose="02020700000000000000" pitchFamily="18" charset="-128"/>
              </a:rPr>
              <a:t>Wa</a:t>
            </a:r>
            <a:r>
              <a:rPr lang="en-US" altLang="ja-JP" sz="4000" u="sng" dirty="0">
                <a:latin typeface="UD デジタル 教科書体 NK-B" panose="02020700000000000000" pitchFamily="18" charset="-128"/>
                <a:ea typeface="UD デジタル 教科書体 NK-B" panose="02020700000000000000" pitchFamily="18" charset="-128"/>
              </a:rPr>
              <a:t>tson</a:t>
            </a:r>
            <a:r>
              <a:rPr lang="ja-JP" altLang="en-US" sz="4000" u="sng" dirty="0">
                <a:latin typeface="UD デジタル 教科書体 NK-B" panose="02020700000000000000" pitchFamily="18" charset="-128"/>
                <a:ea typeface="UD デジタル 教科書体 NK-B" panose="02020700000000000000" pitchFamily="18" charset="-128"/>
              </a:rPr>
              <a:t>について</a:t>
            </a:r>
            <a:endParaRPr lang="en-US" altLang="ja-JP" sz="4000" u="sng" dirty="0">
              <a:latin typeface="UD デジタル 教科書体 NK-B" panose="02020700000000000000" pitchFamily="18" charset="-128"/>
              <a:ea typeface="UD デジタル 教科書体 NK-B" panose="02020700000000000000" pitchFamily="18" charset="-128"/>
            </a:endParaRPr>
          </a:p>
          <a:p>
            <a:pPr>
              <a:buFont typeface="Wingdings" panose="05000000000000000000" pitchFamily="2" charset="2"/>
              <a:buChar char="n"/>
            </a:pPr>
            <a:r>
              <a:rPr kumimoji="1" lang="ja-JP" altLang="en-US" sz="4000" u="sng" dirty="0">
                <a:latin typeface="UD デジタル 教科書体 NK-B" panose="02020700000000000000" pitchFamily="18" charset="-128"/>
                <a:ea typeface="UD デジタル 教科書体 NK-B" panose="02020700000000000000" pitchFamily="18" charset="-128"/>
              </a:rPr>
              <a:t>背景・目的</a:t>
            </a:r>
            <a:endParaRPr kumimoji="1" lang="en-US" altLang="ja-JP" sz="4000" u="sng" dirty="0">
              <a:latin typeface="UD デジタル 教科書体 NK-B" panose="02020700000000000000" pitchFamily="18" charset="-128"/>
              <a:ea typeface="UD デジタル 教科書体 NK-B" panose="02020700000000000000" pitchFamily="18" charset="-128"/>
            </a:endParaRPr>
          </a:p>
          <a:p>
            <a:pPr>
              <a:buFont typeface="Wingdings" panose="05000000000000000000" pitchFamily="2" charset="2"/>
              <a:buChar char="n"/>
            </a:pPr>
            <a:r>
              <a:rPr lang="ja-JP" altLang="en-US" sz="4000" u="sng" dirty="0">
                <a:latin typeface="UD デジタル 教科書体 NK-B" panose="02020700000000000000" pitchFamily="18" charset="-128"/>
                <a:ea typeface="UD デジタル 教科書体 NK-B" panose="02020700000000000000" pitchFamily="18" charset="-128"/>
                <a:hlinkClick r:id="" action="ppaction://noaction">
                  <a:extLst>
                    <a:ext uri="{A12FA001-AC4F-418D-AE19-62706E023703}">
                      <ahyp:hlinkClr xmlns:ahyp="http://schemas.microsoft.com/office/drawing/2018/hyperlinkcolor" val="tx"/>
                    </a:ext>
                  </a:extLst>
                </a:hlinkClick>
              </a:rPr>
              <a:t>用語説明</a:t>
            </a:r>
            <a:endParaRPr lang="en-US" altLang="ja-JP" sz="4000" u="sng" dirty="0">
              <a:latin typeface="UD デジタル 教科書体 NK-B" panose="02020700000000000000" pitchFamily="18" charset="-128"/>
              <a:ea typeface="UD デジタル 教科書体 NK-B" panose="02020700000000000000" pitchFamily="18" charset="-128"/>
            </a:endParaRPr>
          </a:p>
          <a:p>
            <a:pPr>
              <a:buFont typeface="Wingdings" panose="05000000000000000000" pitchFamily="2" charset="2"/>
              <a:buChar char="n"/>
            </a:pPr>
            <a:r>
              <a:rPr lang="ja-JP" altLang="en-US" sz="4000" u="sng" dirty="0">
                <a:latin typeface="UD デジタル 教科書体 NK-B" panose="02020700000000000000" pitchFamily="18" charset="-128"/>
                <a:ea typeface="UD デジタル 教科書体 NK-B" panose="02020700000000000000" pitchFamily="18" charset="-128"/>
              </a:rPr>
              <a:t>仮説設定</a:t>
            </a:r>
            <a:endParaRPr lang="en-US" altLang="ja-JP" sz="4000" u="sng" dirty="0">
              <a:latin typeface="UD デジタル 教科書体 NK-B" panose="02020700000000000000" pitchFamily="18" charset="-128"/>
              <a:ea typeface="UD デジタル 教科書体 NK-B" panose="02020700000000000000" pitchFamily="18" charset="-128"/>
            </a:endParaRPr>
          </a:p>
          <a:p>
            <a:pPr>
              <a:buFont typeface="Wingdings" panose="05000000000000000000" pitchFamily="2" charset="2"/>
              <a:buChar char="n"/>
            </a:pPr>
            <a:r>
              <a:rPr lang="ja-JP" altLang="en-US" sz="4000" u="sng" dirty="0">
                <a:latin typeface="UD デジタル 教科書体 NK-B" panose="02020700000000000000" pitchFamily="18" charset="-128"/>
                <a:ea typeface="UD デジタル 教科書体 NK-B" panose="02020700000000000000" pitchFamily="18" charset="-128"/>
                <a:cs typeface="Arial" panose="020B0604020202020204" pitchFamily="34" charset="0"/>
              </a:rPr>
              <a:t>実験結果</a:t>
            </a:r>
            <a:endParaRPr lang="en-US" altLang="ja-JP" sz="4000" u="sng" dirty="0">
              <a:latin typeface="UD デジタル 教科書体 NK-B" panose="02020700000000000000" pitchFamily="18" charset="-128"/>
              <a:ea typeface="UD デジタル 教科書体 NK-B" panose="02020700000000000000" pitchFamily="18" charset="-128"/>
              <a:cs typeface="Arial" panose="020B0604020202020204" pitchFamily="34" charset="0"/>
            </a:endParaRPr>
          </a:p>
          <a:p>
            <a:pPr>
              <a:buFont typeface="Wingdings" panose="05000000000000000000" pitchFamily="2" charset="2"/>
              <a:buChar char="n"/>
            </a:pPr>
            <a:r>
              <a:rPr lang="ja-JP" altLang="en-US" sz="4000" u="sng" dirty="0">
                <a:latin typeface="UD デジタル 教科書体 NK-B" panose="02020700000000000000" pitchFamily="18" charset="-128"/>
                <a:ea typeface="UD デジタル 教科書体 NK-B" panose="02020700000000000000" pitchFamily="18" charset="-128"/>
                <a:cs typeface="Arial" panose="020B0604020202020204" pitchFamily="34" charset="0"/>
              </a:rPr>
              <a:t>結論</a:t>
            </a:r>
            <a:endParaRPr lang="en-US" altLang="ja-JP" sz="4000" u="sng" dirty="0">
              <a:latin typeface="UD デジタル 教科書体 NK-B" panose="02020700000000000000" pitchFamily="18" charset="-128"/>
              <a:ea typeface="UD デジタル 教科書体 NK-B" panose="02020700000000000000" pitchFamily="18" charset="-128"/>
              <a:cs typeface="Arial" panose="020B0604020202020204" pitchFamily="34" charset="0"/>
            </a:endParaRPr>
          </a:p>
          <a:p>
            <a:pPr>
              <a:buFont typeface="Wingdings" panose="05000000000000000000" pitchFamily="2" charset="2"/>
              <a:buChar char="n"/>
            </a:pPr>
            <a:r>
              <a:rPr lang="ja-JP" altLang="en-US" sz="4000" u="sng" dirty="0">
                <a:latin typeface="UD デジタル 教科書体 NK-B" panose="02020700000000000000" pitchFamily="18" charset="-128"/>
                <a:ea typeface="UD デジタル 教科書体 NK-B" panose="02020700000000000000" pitchFamily="18" charset="-128"/>
                <a:cs typeface="Arial" panose="020B0604020202020204" pitchFamily="34" charset="0"/>
              </a:rPr>
              <a:t>展望</a:t>
            </a:r>
            <a:endParaRPr lang="en-US" altLang="ja-JP" sz="4000" u="sng" dirty="0">
              <a:latin typeface="UD デジタル 教科書体 NK-B" panose="02020700000000000000" pitchFamily="18" charset="-128"/>
              <a:ea typeface="UD デジタル 教科書体 NK-B" panose="02020700000000000000" pitchFamily="18" charset="-128"/>
              <a:cs typeface="Arial" panose="020B0604020202020204" pitchFamily="34" charset="0"/>
            </a:endParaRPr>
          </a:p>
        </p:txBody>
      </p:sp>
    </p:spTree>
    <p:extLst>
      <p:ext uri="{BB962C8B-B14F-4D97-AF65-F5344CB8AC3E}">
        <p14:creationId xmlns:p14="http://schemas.microsoft.com/office/powerpoint/2010/main" val="30445405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7A4D1C27-5385-69AA-9E5A-A720BE114206}"/>
              </a:ext>
            </a:extLst>
          </p:cNvPr>
          <p:cNvSpPr/>
          <p:nvPr/>
        </p:nvSpPr>
        <p:spPr>
          <a:xfrm>
            <a:off x="0" y="0"/>
            <a:ext cx="12192000" cy="149720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7200" b="1" dirty="0">
                <a:solidFill>
                  <a:schemeClr val="bg1"/>
                </a:solidFill>
                <a:latin typeface="UD デジタル 教科書体 NK-B" panose="02020700000000000000" pitchFamily="18" charset="-128"/>
                <a:ea typeface="UD デジタル 教科書体 NK-B" panose="02020700000000000000" pitchFamily="18" charset="-128"/>
              </a:rPr>
              <a:t>Watson</a:t>
            </a:r>
            <a:r>
              <a:rPr lang="ja-JP" altLang="en-US" sz="4400" b="1" dirty="0">
                <a:solidFill>
                  <a:schemeClr val="bg1"/>
                </a:solidFill>
                <a:latin typeface="UD デジタル 教科書体 NK-B" panose="02020700000000000000" pitchFamily="18" charset="-128"/>
                <a:ea typeface="UD デジタル 教科書体 NK-B" panose="02020700000000000000" pitchFamily="18" charset="-128"/>
              </a:rPr>
              <a:t>の活用事例</a:t>
            </a:r>
            <a:endParaRPr lang="ja-JP" altLang="en-US" sz="2400" b="1" dirty="0">
              <a:solidFill>
                <a:schemeClr val="bg1"/>
              </a:solidFill>
              <a:latin typeface="UD デジタル 教科書体 NK-B" panose="02020700000000000000" pitchFamily="18" charset="-128"/>
              <a:ea typeface="UD デジタル 教科書体 NK-B" panose="02020700000000000000" pitchFamily="18" charset="-128"/>
            </a:endParaRPr>
          </a:p>
          <a:p>
            <a:pPr algn="ctr"/>
            <a:endParaRPr kumimoji="1" lang="ja-JP" altLang="en-US" dirty="0"/>
          </a:p>
        </p:txBody>
      </p:sp>
      <p:pic>
        <p:nvPicPr>
          <p:cNvPr id="1028" name="Picture 4" descr="みずほ銀行が次世代為替プラットフォームのコア・テクノロジー提供会社としてスマート・トレードを選択 | Business Wire">
            <a:extLst>
              <a:ext uri="{FF2B5EF4-FFF2-40B4-BE49-F238E27FC236}">
                <a16:creationId xmlns:a16="http://schemas.microsoft.com/office/drawing/2014/main" id="{6C72A103-FBDA-198D-7509-F83380161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787" y="3018551"/>
            <a:ext cx="5341030" cy="218578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東日本旅客鉄道 - Wikipedia">
            <a:extLst>
              <a:ext uri="{FF2B5EF4-FFF2-40B4-BE49-F238E27FC236}">
                <a16:creationId xmlns:a16="http://schemas.microsoft.com/office/drawing/2014/main" id="{D9FF30EA-CBD4-C4E3-483E-E3C89DB21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6818" y="2868578"/>
            <a:ext cx="3974280" cy="2545802"/>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313D14FD-EA7E-C77E-97FB-6EE46FC01F0C}"/>
              </a:ext>
            </a:extLst>
          </p:cNvPr>
          <p:cNvSpPr txBox="1"/>
          <p:nvPr/>
        </p:nvSpPr>
        <p:spPr>
          <a:xfrm>
            <a:off x="2052650" y="5183548"/>
            <a:ext cx="4868593" cy="230832"/>
          </a:xfrm>
          <a:prstGeom prst="rect">
            <a:avLst/>
          </a:prstGeom>
          <a:noFill/>
        </p:spPr>
        <p:txBody>
          <a:bodyPr wrap="square">
            <a:spAutoFit/>
          </a:bodyPr>
          <a:lstStyle/>
          <a:p>
            <a:r>
              <a:rPr lang="ja-JP" altLang="en-US" sz="900" dirty="0"/>
              <a:t>https://www.businesswire.com/news/home/20190328005065/ja/</a:t>
            </a:r>
          </a:p>
        </p:txBody>
      </p:sp>
      <p:sp>
        <p:nvSpPr>
          <p:cNvPr id="15" name="テキスト ボックス 14">
            <a:extLst>
              <a:ext uri="{FF2B5EF4-FFF2-40B4-BE49-F238E27FC236}">
                <a16:creationId xmlns:a16="http://schemas.microsoft.com/office/drawing/2014/main" id="{DBD333E2-9750-4B93-C72D-F6DA3601D115}"/>
              </a:ext>
            </a:extLst>
          </p:cNvPr>
          <p:cNvSpPr txBox="1"/>
          <p:nvPr/>
        </p:nvSpPr>
        <p:spPr>
          <a:xfrm>
            <a:off x="1635788" y="2141388"/>
            <a:ext cx="8920424" cy="877163"/>
          </a:xfrm>
          <a:prstGeom prst="rect">
            <a:avLst/>
          </a:prstGeom>
          <a:noFill/>
        </p:spPr>
        <p:txBody>
          <a:bodyPr wrap="square">
            <a:spAutoFit/>
          </a:bodyPr>
          <a:lstStyle/>
          <a:p>
            <a:r>
              <a:rPr lang="ja-JP" altLang="en-US" sz="5100" b="1" dirty="0">
                <a:latin typeface="UD デジタル 教科書体 NK-B" panose="02020700000000000000" pitchFamily="18" charset="-128"/>
                <a:ea typeface="UD デジタル 教科書体 NK-B" panose="02020700000000000000" pitchFamily="18" charset="-128"/>
                <a:cs typeface="+mj-cs"/>
              </a:rPr>
              <a:t>お問い合わせセンター業務支援</a:t>
            </a:r>
          </a:p>
        </p:txBody>
      </p:sp>
      <p:sp>
        <p:nvSpPr>
          <p:cNvPr id="17" name="テキスト ボックス 16">
            <a:extLst>
              <a:ext uri="{FF2B5EF4-FFF2-40B4-BE49-F238E27FC236}">
                <a16:creationId xmlns:a16="http://schemas.microsoft.com/office/drawing/2014/main" id="{76DFCCA8-7603-C3F0-94A4-423D78A56E9D}"/>
              </a:ext>
            </a:extLst>
          </p:cNvPr>
          <p:cNvSpPr txBox="1"/>
          <p:nvPr/>
        </p:nvSpPr>
        <p:spPr>
          <a:xfrm>
            <a:off x="7970856" y="5114298"/>
            <a:ext cx="3484265" cy="369332"/>
          </a:xfrm>
          <a:prstGeom prst="rect">
            <a:avLst/>
          </a:prstGeom>
          <a:noFill/>
        </p:spPr>
        <p:txBody>
          <a:bodyPr wrap="square">
            <a:spAutoFit/>
          </a:bodyPr>
          <a:lstStyle/>
          <a:p>
            <a:r>
              <a:rPr lang="ja-JP" altLang="en-US" sz="900" dirty="0"/>
              <a:t>https://ja.wikipedia.org/wiki/%E6%9D%B1%E6%97%A5%E6%9C%AC%E6%97%85%E5%AE%A2%E9%89%84%E9%81%93</a:t>
            </a:r>
          </a:p>
        </p:txBody>
      </p:sp>
      <p:pic>
        <p:nvPicPr>
          <p:cNvPr id="18" name="Picture 4" descr="第2回 IBM Watson 日本語版ハッカソン">
            <a:extLst>
              <a:ext uri="{FF2B5EF4-FFF2-40B4-BE49-F238E27FC236}">
                <a16:creationId xmlns:a16="http://schemas.microsoft.com/office/drawing/2014/main" id="{142794CE-64CC-92A7-C0B0-24DE2E66AB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9568" y="5599"/>
            <a:ext cx="1394214" cy="1375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265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20A3359-56D9-80EC-59E8-0F45E2B0E1A3}"/>
              </a:ext>
            </a:extLst>
          </p:cNvPr>
          <p:cNvSpPr/>
          <p:nvPr/>
        </p:nvSpPr>
        <p:spPr>
          <a:xfrm>
            <a:off x="-12291" y="4242136"/>
            <a:ext cx="12216580" cy="261586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12291" y="4507833"/>
            <a:ext cx="12192001" cy="170045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spcAft>
                <a:spcPts val="600"/>
              </a:spcAft>
            </a:pPr>
            <a:r>
              <a:rPr lang="ja-JP" altLang="en-US" sz="5100" b="1" kern="1200" dirty="0">
                <a:solidFill>
                  <a:schemeClr val="tx1"/>
                </a:solidFill>
                <a:latin typeface="UD デジタル 教科書体 NK-B" panose="02020700000000000000" pitchFamily="18" charset="-128"/>
                <a:ea typeface="UD デジタル 教科書体 NK-B" panose="02020700000000000000" pitchFamily="18" charset="-128"/>
              </a:rPr>
              <a:t>背景：近年の</a:t>
            </a:r>
            <a:r>
              <a:rPr lang="en-US" altLang="ja-JP" sz="5100" b="1" kern="1200" dirty="0">
                <a:solidFill>
                  <a:schemeClr val="tx1"/>
                </a:solidFill>
                <a:latin typeface="UD デジタル 教科書体 NK-B" panose="02020700000000000000" pitchFamily="18" charset="-128"/>
                <a:ea typeface="UD デジタル 教科書体 NK-B" panose="02020700000000000000" pitchFamily="18" charset="-128"/>
              </a:rPr>
              <a:t>AI</a:t>
            </a:r>
            <a:r>
              <a:rPr lang="ja-JP" altLang="en-US" sz="5100" b="1" kern="1200" dirty="0">
                <a:solidFill>
                  <a:schemeClr val="tx1"/>
                </a:solidFill>
                <a:latin typeface="UD デジタル 教科書体 NK-B" panose="02020700000000000000" pitchFamily="18" charset="-128"/>
                <a:ea typeface="UD デジタル 教科書体 NK-B" panose="02020700000000000000" pitchFamily="18" charset="-128"/>
              </a:rPr>
              <a:t>型チャットボット技術の発展</a:t>
            </a:r>
          </a:p>
        </p:txBody>
      </p:sp>
      <p:pic>
        <p:nvPicPr>
          <p:cNvPr id="2" name="Picture 20">
            <a:extLst>
              <a:ext uri="{FF2B5EF4-FFF2-40B4-BE49-F238E27FC236}">
                <a16:creationId xmlns:a16="http://schemas.microsoft.com/office/drawing/2014/main" id="{C6E32CC6-9756-D141-4FB1-2FEA5C9AE3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9" r="2151" b="-1"/>
          <a:stretch/>
        </p:blipFill>
        <p:spPr bwMode="auto">
          <a:xfrm>
            <a:off x="20" y="10"/>
            <a:ext cx="4059916" cy="42428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第７回]IoT市場における、Googleロゴの変更が指す意味 | IoT NEWS">
            <a:extLst>
              <a:ext uri="{FF2B5EF4-FFF2-40B4-BE49-F238E27FC236}">
                <a16:creationId xmlns:a16="http://schemas.microsoft.com/office/drawing/2014/main" id="{D0BE5065-318A-6DC9-639E-D33C9A0ECB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484" r="14698" b="2"/>
          <a:stretch/>
        </p:blipFill>
        <p:spPr bwMode="auto">
          <a:xfrm>
            <a:off x="4090482" y="-1"/>
            <a:ext cx="4062918" cy="4242816"/>
          </a:xfrm>
          <a:prstGeom prst="rect">
            <a:avLst/>
          </a:prstGeom>
          <a:noFill/>
          <a:extLst>
            <a:ext uri="{909E8E84-426E-40DD-AFC4-6F175D3DCCD1}">
              <a14:hiddenFill xmlns:a14="http://schemas.microsoft.com/office/drawing/2010/main">
                <a:solidFill>
                  <a:srgbClr val="FFFFFF"/>
                </a:solidFill>
              </a14:hiddenFill>
            </a:ext>
          </a:extLst>
        </p:spPr>
      </p:pic>
      <p:cxnSp>
        <p:nvCxnSpPr>
          <p:cNvPr id="4323" name="Straight Connector 4137">
            <a:extLst>
              <a:ext uri="{FF2B5EF4-FFF2-40B4-BE49-F238E27FC236}">
                <a16:creationId xmlns:a16="http://schemas.microsoft.com/office/drawing/2014/main" id="{C800968E-0A99-46C4-A9B2-6A63AC66F4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 y="4242136"/>
            <a:ext cx="12192002" cy="0"/>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24" name="Straight Connector 4139">
            <a:extLst>
              <a:ext uri="{FF2B5EF4-FFF2-40B4-BE49-F238E27FC236}">
                <a16:creationId xmlns:a16="http://schemas.microsoft.com/office/drawing/2014/main" id="{0627B73E-D784-4780-AA33-DCDFE7DA16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919" y="-680"/>
            <a:ext cx="0" cy="4242816"/>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16EF4E56-256D-09A8-6DA2-DBE7693A1C1D}"/>
              </a:ext>
            </a:extLst>
          </p:cNvPr>
          <p:cNvSpPr/>
          <p:nvPr/>
        </p:nvSpPr>
        <p:spPr>
          <a:xfrm>
            <a:off x="8153400" y="0"/>
            <a:ext cx="4038600" cy="42414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325" name="Straight Connector 4141">
            <a:extLst>
              <a:ext uri="{FF2B5EF4-FFF2-40B4-BE49-F238E27FC236}">
                <a16:creationId xmlns:a16="http://schemas.microsoft.com/office/drawing/2014/main" id="{EBAD6A72-88E8-42F7-88B9-CAF744536B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5838" y="-680"/>
            <a:ext cx="0" cy="4242816"/>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pic>
        <p:nvPicPr>
          <p:cNvPr id="4100" name="Picture 4" descr="Microsoft Azure - Wikipedia">
            <a:extLst>
              <a:ext uri="{FF2B5EF4-FFF2-40B4-BE49-F238E27FC236}">
                <a16:creationId xmlns:a16="http://schemas.microsoft.com/office/drawing/2014/main" id="{63B60B47-CC81-E79D-9EDD-887D048C9C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76486" y="161428"/>
            <a:ext cx="3592427" cy="3592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871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46440B4C-9C9E-CD17-A664-52A7C3FCECE4}"/>
              </a:ext>
            </a:extLst>
          </p:cNvPr>
          <p:cNvSpPr/>
          <p:nvPr/>
        </p:nvSpPr>
        <p:spPr>
          <a:xfrm>
            <a:off x="0" y="0"/>
            <a:ext cx="12192000" cy="6858000"/>
          </a:xfrm>
          <a:prstGeom prst="rect">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フリーフォーム: 図形 6">
            <a:extLst>
              <a:ext uri="{FF2B5EF4-FFF2-40B4-BE49-F238E27FC236}">
                <a16:creationId xmlns:a16="http://schemas.microsoft.com/office/drawing/2014/main" id="{BD8FCA27-3833-D891-D32B-EFDDA619E46C}"/>
              </a:ext>
            </a:extLst>
          </p:cNvPr>
          <p:cNvSpPr/>
          <p:nvPr/>
        </p:nvSpPr>
        <p:spPr>
          <a:xfrm>
            <a:off x="8127411" y="0"/>
            <a:ext cx="4064589" cy="3657840"/>
          </a:xfrm>
          <a:custGeom>
            <a:avLst/>
            <a:gdLst>
              <a:gd name="connsiteX0" fmla="*/ 231607 w 4064589"/>
              <a:gd name="connsiteY0" fmla="*/ 0 h 3657840"/>
              <a:gd name="connsiteX1" fmla="*/ 4064589 w 4064589"/>
              <a:gd name="connsiteY1" fmla="*/ 0 h 3657840"/>
              <a:gd name="connsiteX2" fmla="*/ 4064589 w 4064589"/>
              <a:gd name="connsiteY2" fmla="*/ 3196850 h 3657840"/>
              <a:gd name="connsiteX3" fmla="*/ 4039902 w 4064589"/>
              <a:gd name="connsiteY3" fmla="*/ 3215311 h 3657840"/>
              <a:gd name="connsiteX4" fmla="*/ 2591160 w 4064589"/>
              <a:gd name="connsiteY4" fmla="*/ 3657840 h 3657840"/>
              <a:gd name="connsiteX5" fmla="*/ 0 w 4064589"/>
              <a:gd name="connsiteY5" fmla="*/ 1066680 h 3657840"/>
              <a:gd name="connsiteX6" fmla="*/ 203627 w 4064589"/>
              <a:gd name="connsiteY6" fmla="*/ 58084 h 365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4589" h="3657840">
                <a:moveTo>
                  <a:pt x="231607" y="0"/>
                </a:moveTo>
                <a:lnTo>
                  <a:pt x="4064589" y="0"/>
                </a:lnTo>
                <a:lnTo>
                  <a:pt x="4064589" y="3196850"/>
                </a:lnTo>
                <a:lnTo>
                  <a:pt x="4039902" y="3215311"/>
                </a:lnTo>
                <a:cubicBezTo>
                  <a:pt x="3626350" y="3494701"/>
                  <a:pt x="3127807" y="3657840"/>
                  <a:pt x="2591160" y="3657840"/>
                </a:cubicBezTo>
                <a:cubicBezTo>
                  <a:pt x="1160102" y="3657840"/>
                  <a:pt x="0" y="2497738"/>
                  <a:pt x="0" y="1066680"/>
                </a:cubicBezTo>
                <a:cubicBezTo>
                  <a:pt x="0" y="708916"/>
                  <a:pt x="72507" y="368086"/>
                  <a:pt x="203627" y="58084"/>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9" name="楕円 8">
            <a:extLst>
              <a:ext uri="{FF2B5EF4-FFF2-40B4-BE49-F238E27FC236}">
                <a16:creationId xmlns:a16="http://schemas.microsoft.com/office/drawing/2014/main" id="{047DC6CF-D120-FE2B-3782-E417FFE0B510}"/>
              </a:ext>
            </a:extLst>
          </p:cNvPr>
          <p:cNvSpPr/>
          <p:nvPr/>
        </p:nvSpPr>
        <p:spPr>
          <a:xfrm>
            <a:off x="5812286" y="2573867"/>
            <a:ext cx="3149600" cy="3149600"/>
          </a:xfrm>
          <a:prstGeom prst="ellips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フリーフォーム: 図形 11">
            <a:extLst>
              <a:ext uri="{FF2B5EF4-FFF2-40B4-BE49-F238E27FC236}">
                <a16:creationId xmlns:a16="http://schemas.microsoft.com/office/drawing/2014/main" id="{7DF5C175-D57A-0882-4E9B-59837CCE2763}"/>
              </a:ext>
            </a:extLst>
          </p:cNvPr>
          <p:cNvSpPr/>
          <p:nvPr/>
        </p:nvSpPr>
        <p:spPr>
          <a:xfrm>
            <a:off x="8873067" y="3923002"/>
            <a:ext cx="3318933" cy="2934999"/>
          </a:xfrm>
          <a:custGeom>
            <a:avLst/>
            <a:gdLst>
              <a:gd name="connsiteX0" fmla="*/ 1902630 w 3318933"/>
              <a:gd name="connsiteY0" fmla="*/ 0 h 2934999"/>
              <a:gd name="connsiteX1" fmla="*/ 3247993 w 3318933"/>
              <a:gd name="connsiteY1" fmla="*/ 575941 h 2934999"/>
              <a:gd name="connsiteX2" fmla="*/ 3318933 w 3318933"/>
              <a:gd name="connsiteY2" fmla="*/ 656610 h 2934999"/>
              <a:gd name="connsiteX3" fmla="*/ 3318933 w 3318933"/>
              <a:gd name="connsiteY3" fmla="*/ 2934999 h 2934999"/>
              <a:gd name="connsiteX4" fmla="*/ 248047 w 3318933"/>
              <a:gd name="connsiteY4" fmla="*/ 2934999 h 2934999"/>
              <a:gd name="connsiteX5" fmla="*/ 229637 w 3318933"/>
              <a:gd name="connsiteY5" fmla="*/ 2903680 h 2934999"/>
              <a:gd name="connsiteX6" fmla="*/ 0 w 3318933"/>
              <a:gd name="connsiteY6" fmla="*/ 1966384 h 2934999"/>
              <a:gd name="connsiteX7" fmla="*/ 1902630 w 3318933"/>
              <a:gd name="connsiteY7" fmla="*/ 0 h 293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18933" h="2934999">
                <a:moveTo>
                  <a:pt x="1902630" y="0"/>
                </a:moveTo>
                <a:cubicBezTo>
                  <a:pt x="2428027" y="0"/>
                  <a:pt x="2903684" y="220095"/>
                  <a:pt x="3247993" y="575941"/>
                </a:cubicBezTo>
                <a:lnTo>
                  <a:pt x="3318933" y="656610"/>
                </a:lnTo>
                <a:lnTo>
                  <a:pt x="3318933" y="2934999"/>
                </a:lnTo>
                <a:lnTo>
                  <a:pt x="248047" y="2934999"/>
                </a:lnTo>
                <a:lnTo>
                  <a:pt x="229637" y="2903680"/>
                </a:lnTo>
                <a:cubicBezTo>
                  <a:pt x="83187" y="2625056"/>
                  <a:pt x="0" y="2305761"/>
                  <a:pt x="0" y="1966384"/>
                </a:cubicBezTo>
                <a:cubicBezTo>
                  <a:pt x="0" y="880380"/>
                  <a:pt x="851836" y="0"/>
                  <a:pt x="1902630" y="0"/>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3" name="テキスト ボックス 12">
            <a:extLst>
              <a:ext uri="{FF2B5EF4-FFF2-40B4-BE49-F238E27FC236}">
                <a16:creationId xmlns:a16="http://schemas.microsoft.com/office/drawing/2014/main" id="{850107E5-9875-F77D-35E4-7C22DB4EEA5A}"/>
              </a:ext>
            </a:extLst>
          </p:cNvPr>
          <p:cNvSpPr txBox="1"/>
          <p:nvPr/>
        </p:nvSpPr>
        <p:spPr>
          <a:xfrm>
            <a:off x="0" y="6028266"/>
            <a:ext cx="4608992" cy="913615"/>
          </a:xfrm>
          <a:prstGeom prst="rect">
            <a:avLst/>
          </a:prstGeom>
        </p:spPr>
        <p:txBody>
          <a:bodyPr vert="horz" lIns="91440" tIns="45720" rIns="91440" bIns="45720" rtlCol="0" anchor="t">
            <a:normAutofit lnSpcReduction="10000"/>
          </a:bodyPr>
          <a:lstStyle/>
          <a:p>
            <a:pPr indent="-228600">
              <a:lnSpc>
                <a:spcPct val="90000"/>
              </a:lnSpc>
              <a:spcAft>
                <a:spcPts val="600"/>
              </a:spcAft>
              <a:buFont typeface="Arial" panose="020B0604020202020204" pitchFamily="34" charset="0"/>
              <a:buChar char="•"/>
            </a:pPr>
            <a:r>
              <a:rPr lang="en-US" altLang="ja-JP" sz="1600" dirty="0">
                <a:solidFill>
                  <a:schemeClr val="bg2"/>
                </a:solidFill>
              </a:rPr>
              <a:t>https://www.tryeting.jp/column/2452/</a:t>
            </a:r>
          </a:p>
          <a:p>
            <a:pPr indent="-228600">
              <a:lnSpc>
                <a:spcPct val="90000"/>
              </a:lnSpc>
              <a:spcAft>
                <a:spcPts val="600"/>
              </a:spcAft>
              <a:buFont typeface="Arial" panose="020B0604020202020204" pitchFamily="34" charset="0"/>
              <a:buChar char="•"/>
            </a:pPr>
            <a:r>
              <a:rPr lang="en-US" altLang="ja-JP" sz="1600" dirty="0">
                <a:solidFill>
                  <a:schemeClr val="bg2"/>
                </a:solidFill>
              </a:rPr>
              <a:t>https://www.sozailibrary.com/sozai/8853</a:t>
            </a:r>
          </a:p>
          <a:p>
            <a:pPr indent="-228600">
              <a:lnSpc>
                <a:spcPct val="90000"/>
              </a:lnSpc>
              <a:spcAft>
                <a:spcPts val="600"/>
              </a:spcAft>
              <a:buFont typeface="Arial" panose="020B0604020202020204" pitchFamily="34" charset="0"/>
              <a:buChar char="•"/>
            </a:pPr>
            <a:r>
              <a:rPr lang="en-US" altLang="ja-JP" sz="1600" dirty="0">
                <a:solidFill>
                  <a:schemeClr val="bg2"/>
                </a:solidFill>
              </a:rPr>
              <a:t>https://illustkun.com/note-3/</a:t>
            </a:r>
          </a:p>
          <a:p>
            <a:pPr>
              <a:lnSpc>
                <a:spcPct val="90000"/>
              </a:lnSpc>
              <a:spcAft>
                <a:spcPts val="600"/>
              </a:spcAft>
            </a:pPr>
            <a:endParaRPr lang="en-US" altLang="ja-JP" sz="1600" dirty="0">
              <a:solidFill>
                <a:schemeClr val="bg2"/>
              </a:solidFill>
            </a:endParaRPr>
          </a:p>
        </p:txBody>
      </p:sp>
      <p:sp>
        <p:nvSpPr>
          <p:cNvPr id="14" name="テキスト ボックス 13">
            <a:extLst>
              <a:ext uri="{FF2B5EF4-FFF2-40B4-BE49-F238E27FC236}">
                <a16:creationId xmlns:a16="http://schemas.microsoft.com/office/drawing/2014/main" id="{A5552485-ADDE-752D-183B-CF72269DCE5F}"/>
              </a:ext>
            </a:extLst>
          </p:cNvPr>
          <p:cNvSpPr txBox="1"/>
          <p:nvPr/>
        </p:nvSpPr>
        <p:spPr>
          <a:xfrm>
            <a:off x="85426" y="2701625"/>
            <a:ext cx="5817189" cy="1569660"/>
          </a:xfrm>
          <a:prstGeom prst="rect">
            <a:avLst/>
          </a:prstGeom>
          <a:noFill/>
        </p:spPr>
        <p:txBody>
          <a:bodyPr wrap="square" rtlCol="0">
            <a:spAutoFit/>
          </a:bodyPr>
          <a:lstStyle/>
          <a:p>
            <a:r>
              <a:rPr kumimoji="1" lang="ja-JP" altLang="en-US" sz="4800" b="1" dirty="0">
                <a:solidFill>
                  <a:schemeClr val="bg2"/>
                </a:solidFill>
                <a:latin typeface="UD デジタル 教科書体 NK-B" panose="02020700000000000000" pitchFamily="18" charset="-128"/>
                <a:ea typeface="UD デジタル 教科書体 NK-B" panose="02020700000000000000" pitchFamily="18" charset="-128"/>
                <a:cs typeface="Arial" panose="020B0604020202020204" pitchFamily="34" charset="0"/>
              </a:rPr>
              <a:t>学校教育向け</a:t>
            </a:r>
            <a:endParaRPr kumimoji="1" lang="en-US" altLang="ja-JP" sz="4800" b="1" dirty="0">
              <a:solidFill>
                <a:schemeClr val="bg2"/>
              </a:solidFill>
              <a:latin typeface="UD デジタル 教科書体 NK-B" panose="02020700000000000000" pitchFamily="18" charset="-128"/>
              <a:ea typeface="UD デジタル 教科書体 NK-B" panose="02020700000000000000" pitchFamily="18" charset="-128"/>
              <a:cs typeface="Arial" panose="020B0604020202020204" pitchFamily="34" charset="0"/>
            </a:endParaRPr>
          </a:p>
          <a:p>
            <a:r>
              <a:rPr kumimoji="1" lang="ja-JP" altLang="en-US" sz="4800" b="1" dirty="0">
                <a:solidFill>
                  <a:schemeClr val="bg2"/>
                </a:solidFill>
                <a:latin typeface="UD デジタル 教科書体 NK-B" panose="02020700000000000000" pitchFamily="18" charset="-128"/>
                <a:ea typeface="UD デジタル 教科書体 NK-B" panose="02020700000000000000" pitchFamily="18" charset="-128"/>
                <a:cs typeface="Arial" panose="020B0604020202020204" pitchFamily="34" charset="0"/>
              </a:rPr>
              <a:t>チャットボットの開発</a:t>
            </a:r>
          </a:p>
        </p:txBody>
      </p:sp>
      <p:pic>
        <p:nvPicPr>
          <p:cNvPr id="15" name="図 14">
            <a:extLst>
              <a:ext uri="{FF2B5EF4-FFF2-40B4-BE49-F238E27FC236}">
                <a16:creationId xmlns:a16="http://schemas.microsoft.com/office/drawing/2014/main" id="{D37FF7D4-51EB-9986-B2DA-0EDBC7DFD419}"/>
              </a:ext>
            </a:extLst>
          </p:cNvPr>
          <p:cNvPicPr>
            <a:picLocks noChangeAspect="1"/>
          </p:cNvPicPr>
          <p:nvPr/>
        </p:nvPicPr>
        <p:blipFill rotWithShape="1">
          <a:blip r:embed="rId3"/>
          <a:srcRect l="16886" r="18024" b="-2"/>
          <a:stretch/>
        </p:blipFill>
        <p:spPr>
          <a:xfrm>
            <a:off x="8338343" y="0"/>
            <a:ext cx="4034316" cy="3486455"/>
          </a:xfrm>
          <a:custGeom>
            <a:avLst/>
            <a:gdLst/>
            <a:ahLst/>
            <a:cxnLst/>
            <a:rect l="l" t="t" r="r" b="b"/>
            <a:pathLst>
              <a:path w="4034316" h="3486455">
                <a:moveTo>
                  <a:pt x="280681" y="0"/>
                </a:moveTo>
                <a:lnTo>
                  <a:pt x="4034316" y="0"/>
                </a:lnTo>
                <a:lnTo>
                  <a:pt x="4034316" y="2800630"/>
                </a:lnTo>
                <a:lnTo>
                  <a:pt x="3874752" y="2945652"/>
                </a:lnTo>
                <a:cubicBezTo>
                  <a:pt x="3465371" y="3283503"/>
                  <a:pt x="2940535" y="3486455"/>
                  <a:pt x="2368296" y="3486455"/>
                </a:cubicBezTo>
                <a:cubicBezTo>
                  <a:pt x="1060322" y="3486455"/>
                  <a:pt x="0" y="2426133"/>
                  <a:pt x="0" y="1118159"/>
                </a:cubicBezTo>
                <a:cubicBezTo>
                  <a:pt x="0" y="791166"/>
                  <a:pt x="66270" y="479650"/>
                  <a:pt x="186113" y="196311"/>
                </a:cubicBezTo>
                <a:close/>
              </a:path>
            </a:pathLst>
          </a:custGeom>
        </p:spPr>
      </p:pic>
      <p:pic>
        <p:nvPicPr>
          <p:cNvPr id="16" name="図 15">
            <a:extLst>
              <a:ext uri="{FF2B5EF4-FFF2-40B4-BE49-F238E27FC236}">
                <a16:creationId xmlns:a16="http://schemas.microsoft.com/office/drawing/2014/main" id="{D04DE290-2C65-0DFC-A276-240972C447E2}"/>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953" b="98047" l="3125" r="95313">
                        <a14:foregroundMark x1="41016" y1="11328" x2="44531" y2="25391"/>
                        <a14:foregroundMark x1="44531" y1="25391" x2="56641" y2="46094"/>
                        <a14:foregroundMark x1="71875" y1="22266" x2="85547" y2="39453"/>
                        <a14:foregroundMark x1="85547" y1="39453" x2="82813" y2="57422"/>
                        <a14:foregroundMark x1="82813" y1="57422" x2="74609" y2="58594"/>
                        <a14:foregroundMark x1="63281" y1="77344" x2="30859" y2="58594"/>
                        <a14:foregroundMark x1="30859" y1="58594" x2="31641" y2="44922"/>
                        <a14:foregroundMark x1="47656" y1="80469" x2="33984" y2="64063"/>
                        <a14:foregroundMark x1="33984" y1="64063" x2="57422" y2="53125"/>
                        <a14:foregroundMark x1="57422" y1="53125" x2="33984" y2="47656"/>
                        <a14:foregroundMark x1="33984" y1="47656" x2="44531" y2="65234"/>
                        <a14:foregroundMark x1="44531" y1="65234" x2="53516" y2="44531"/>
                        <a14:foregroundMark x1="53516" y1="44531" x2="34375" y2="51953"/>
                        <a14:foregroundMark x1="34375" y1="51953" x2="50781" y2="31250"/>
                        <a14:foregroundMark x1="50781" y1="31250" x2="25000" y2="48438"/>
                        <a14:foregroundMark x1="25000" y1="48438" x2="51953" y2="30859"/>
                        <a14:foregroundMark x1="51953" y1="30859" x2="35156" y2="49219"/>
                        <a14:foregroundMark x1="35156" y1="49219" x2="41406" y2="16016"/>
                        <a14:foregroundMark x1="41406" y1="16016" x2="64453" y2="47266"/>
                        <a14:foregroundMark x1="64453" y1="47266" x2="28125" y2="55078"/>
                        <a14:foregroundMark x1="28125" y1="55078" x2="65625" y2="36719"/>
                        <a14:foregroundMark x1="65625" y1="36719" x2="63281" y2="73828"/>
                        <a14:foregroundMark x1="63281" y1="73828" x2="53906" y2="49219"/>
                        <a14:foregroundMark x1="53906" y1="49219" x2="76953" y2="64453"/>
                        <a14:foregroundMark x1="76953" y1="64453" x2="44922" y2="69531"/>
                        <a14:foregroundMark x1="44922" y1="69531" x2="63672" y2="53125"/>
                        <a14:foregroundMark x1="63672" y1="53125" x2="45703" y2="81641"/>
                        <a14:foregroundMark x1="45703" y1="81641" x2="45313" y2="51172"/>
                        <a14:foregroundMark x1="45313" y1="51172" x2="75000" y2="68359"/>
                        <a14:foregroundMark x1="75000" y1="68359" x2="41016" y2="64453"/>
                        <a14:foregroundMark x1="41016" y1="64453" x2="60547" y2="46875"/>
                        <a14:foregroundMark x1="60547" y1="46875" x2="56641" y2="68750"/>
                        <a14:foregroundMark x1="56641" y1="68750" x2="53906" y2="70313"/>
                        <a14:foregroundMark x1="55859" y1="91406" x2="41406" y2="83594"/>
                        <a14:foregroundMark x1="41406" y1="83594" x2="30469" y2="37500"/>
                        <a14:foregroundMark x1="30469" y1="37500" x2="71875" y2="30469"/>
                        <a14:foregroundMark x1="71875" y1="30469" x2="81250" y2="70703"/>
                        <a14:foregroundMark x1="81250" y1="70703" x2="63672" y2="85156"/>
                        <a14:foregroundMark x1="63672" y1="85156" x2="59766" y2="85547"/>
                        <a14:foregroundMark x1="31250" y1="90234" x2="22656" y2="73828"/>
                        <a14:foregroundMark x1="22656" y1="73828" x2="29688" y2="22656"/>
                        <a14:foregroundMark x1="29688" y1="22656" x2="70313" y2="25781"/>
                        <a14:foregroundMark x1="70313" y1="25781" x2="87891" y2="53125"/>
                        <a14:foregroundMark x1="87891" y1="53125" x2="82031" y2="77734"/>
                        <a14:foregroundMark x1="82031" y1="77734" x2="40625" y2="89453"/>
                        <a14:foregroundMark x1="40625" y1="89453" x2="40234" y2="89453"/>
                        <a14:foregroundMark x1="23828" y1="78906" x2="16797" y2="67578"/>
                        <a14:foregroundMark x1="16797" y1="67578" x2="21484" y2="32813"/>
                        <a14:foregroundMark x1="21484" y1="32813" x2="57813" y2="22656"/>
                        <a14:foregroundMark x1="57813" y1="22656" x2="83594" y2="45703"/>
                        <a14:foregroundMark x1="83594" y1="45703" x2="78125" y2="74609"/>
                        <a14:foregroundMark x1="78125" y1="74609" x2="55859" y2="89844"/>
                        <a14:foregroundMark x1="55859" y1="89844" x2="48047" y2="91797"/>
                        <a14:foregroundMark x1="15234" y1="74609" x2="14063" y2="33203"/>
                        <a14:foregroundMark x1="14063" y1="33203" x2="37891" y2="16797"/>
                        <a14:foregroundMark x1="37891" y1="16797" x2="60156" y2="14453"/>
                        <a14:foregroundMark x1="60156" y1="14453" x2="78906" y2="26172"/>
                        <a14:foregroundMark x1="78906" y1="26172" x2="90234" y2="42969"/>
                        <a14:foregroundMark x1="90234" y1="42969" x2="87109" y2="66016"/>
                        <a14:foregroundMark x1="87109" y1="66016" x2="56641" y2="92969"/>
                        <a14:foregroundMark x1="56641" y1="92969" x2="51563" y2="94922"/>
                        <a14:foregroundMark x1="34766" y1="89844" x2="33594" y2="77734"/>
                        <a14:foregroundMark x1="33594" y1="77734" x2="34375" y2="84375"/>
                        <a14:foregroundMark x1="44922" y1="98828" x2="16406" y2="71484"/>
                        <a14:foregroundMark x1="16406" y1="71484" x2="10547" y2="58984"/>
                        <a14:foregroundMark x1="10547" y1="58984" x2="7813" y2="43750"/>
                        <a14:foregroundMark x1="7813" y1="43750" x2="9375" y2="31250"/>
                        <a14:foregroundMark x1="9375" y1="31250" x2="15234" y2="21484"/>
                        <a14:foregroundMark x1="15234" y1="21484" x2="45313" y2="8203"/>
                        <a14:foregroundMark x1="45313" y1="8203" x2="64844" y2="7813"/>
                        <a14:foregroundMark x1="64844" y1="7813" x2="77734" y2="18750"/>
                        <a14:foregroundMark x1="77734" y1="18750" x2="87891" y2="33203"/>
                        <a14:foregroundMark x1="87891" y1="33203" x2="92578" y2="50391"/>
                        <a14:foregroundMark x1="92578" y1="50391" x2="90625" y2="60547"/>
                        <a14:foregroundMark x1="90625" y1="60547" x2="74609" y2="83594"/>
                        <a14:foregroundMark x1="74609" y1="83594" x2="62891" y2="92188"/>
                        <a14:foregroundMark x1="62891" y1="92188" x2="45703" y2="98047"/>
                        <a14:foregroundMark x1="23828" y1="88281" x2="16406" y2="78516"/>
                        <a14:foregroundMark x1="16406" y1="78516" x2="9375" y2="49219"/>
                        <a14:foregroundMark x1="14844" y1="82422" x2="7031" y2="54297"/>
                        <a14:foregroundMark x1="7031" y1="54297" x2="7031" y2="50781"/>
                        <a14:foregroundMark x1="3125" y1="43750" x2="7031" y2="55078"/>
                        <a14:foregroundMark x1="7031" y1="55078" x2="8203" y2="53125"/>
                        <a14:foregroundMark x1="22656" y1="16016" x2="39844" y2="10156"/>
                        <a14:foregroundMark x1="39844" y1="10156" x2="40234" y2="10156"/>
                        <a14:foregroundMark x1="32422" y1="7813" x2="16797" y2="13672"/>
                        <a14:foregroundMark x1="16797" y1="13672" x2="16797" y2="13672"/>
                        <a14:foregroundMark x1="42969" y1="7422" x2="64453" y2="9766"/>
                        <a14:foregroundMark x1="64453" y1="9766" x2="64844" y2="10156"/>
                        <a14:foregroundMark x1="83594" y1="24219" x2="93359" y2="48828"/>
                        <a14:foregroundMark x1="89453" y1="68359" x2="77734" y2="82813"/>
                        <a14:foregroundMark x1="77734" y1="82813" x2="75391" y2="84375"/>
                        <a14:foregroundMark x1="93359" y1="60156" x2="89453" y2="75000"/>
                        <a14:foregroundMark x1="91016" y1="33594" x2="95313" y2="48438"/>
                        <a14:foregroundMark x1="95313" y1="48438" x2="95313" y2="48438"/>
                        <a14:foregroundMark x1="46094" y1="1953" x2="52734" y2="2344"/>
                      </a14:backgroundRemoval>
                    </a14:imgEffect>
                  </a14:imgLayer>
                </a14:imgProps>
              </a:ext>
            </a:extLst>
          </a:blip>
          <a:srcRect r="-2" b="-2"/>
          <a:stretch/>
        </p:blipFill>
        <p:spPr>
          <a:xfrm>
            <a:off x="5992945" y="2738694"/>
            <a:ext cx="2788920" cy="2788920"/>
          </a:xfrm>
          <a:custGeom>
            <a:avLst/>
            <a:gdLst/>
            <a:ahLst/>
            <a:cxnLst/>
            <a:rect l="l" t="t" r="r" b="b"/>
            <a:pathLst>
              <a:path w="2880360" h="2880360">
                <a:moveTo>
                  <a:pt x="1440180" y="0"/>
                </a:moveTo>
                <a:cubicBezTo>
                  <a:pt x="2235569" y="0"/>
                  <a:pt x="2880360" y="644791"/>
                  <a:pt x="2880360" y="1440180"/>
                </a:cubicBezTo>
                <a:cubicBezTo>
                  <a:pt x="2880360" y="2235569"/>
                  <a:pt x="2235569" y="2880360"/>
                  <a:pt x="1440180" y="2880360"/>
                </a:cubicBezTo>
                <a:cubicBezTo>
                  <a:pt x="644791" y="2880360"/>
                  <a:pt x="0" y="2235569"/>
                  <a:pt x="0" y="1440180"/>
                </a:cubicBezTo>
                <a:cubicBezTo>
                  <a:pt x="0" y="644791"/>
                  <a:pt x="644791" y="0"/>
                  <a:pt x="1440180" y="0"/>
                </a:cubicBezTo>
                <a:close/>
              </a:path>
            </a:pathLst>
          </a:custGeom>
        </p:spPr>
      </p:pic>
      <p:pic>
        <p:nvPicPr>
          <p:cNvPr id="17" name="Picture 8" descr="ノートや教科書と鉛筆のイラスト | イラスト無料・かわいいテンプレート">
            <a:extLst>
              <a:ext uri="{FF2B5EF4-FFF2-40B4-BE49-F238E27FC236}">
                <a16:creationId xmlns:a16="http://schemas.microsoft.com/office/drawing/2014/main" id="{BF8EF8B1-7AA7-6193-A2CB-C2019EA6BF9E}"/>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9167" b="90000" l="5875" r="95500">
                        <a14:foregroundMark x1="5875" y1="34167" x2="12500" y2="35500"/>
                        <a14:foregroundMark x1="40125" y1="9667" x2="40875" y2="9833"/>
                        <a14:foregroundMark x1="33125" y1="9333" x2="33875" y2="10167"/>
                        <a14:foregroundMark x1="40625" y1="9167" x2="41375" y2="9500"/>
                        <a14:foregroundMark x1="49500" y1="25667" x2="62250" y2="45000"/>
                        <a14:foregroundMark x1="43375" y1="26167" x2="58000" y2="55000"/>
                        <a14:foregroundMark x1="58000" y1="55000" x2="58125" y2="54667"/>
                        <a14:foregroundMark x1="59250" y1="22500" x2="68125" y2="53167"/>
                        <a14:foregroundMark x1="41875" y1="20000" x2="61625" y2="28833"/>
                        <a14:foregroundMark x1="71000" y1="58667" x2="75750" y2="62833"/>
                        <a14:foregroundMark x1="94000" y1="69000" x2="95500" y2="71667"/>
                        <a14:foregroundMark x1="59875" y1="14667" x2="66750" y2="40000"/>
                        <a14:foregroundMark x1="66750" y1="40000" x2="66750" y2="40167"/>
                        <a14:foregroundMark x1="42250" y1="15000" x2="60250" y2="23667"/>
                        <a14:foregroundMark x1="65625" y1="18833" x2="70625" y2="30500"/>
                        <a14:foregroundMark x1="47375" y1="13167" x2="51500" y2="16667"/>
                        <a14:foregroundMark x1="67125" y1="15833" x2="71249" y2="22334"/>
                        <a14:foregroundMark x1="69625" y1="37500" x2="70125" y2="48833"/>
                        <a14:foregroundMark x1="50625" y1="56000" x2="57625" y2="60000"/>
                        <a14:foregroundMark x1="42875" y1="37500" x2="50500" y2="48000"/>
                        <a14:foregroundMark x1="42875" y1="33333" x2="45875" y2="59000"/>
                        <a14:foregroundMark x1="45875" y1="59000" x2="46250" y2="59500"/>
                        <a14:foregroundMark x1="60375" y1="66000" x2="68125" y2="66167"/>
                        <a14:foregroundMark x1="65625" y1="58667" x2="68500" y2="60833"/>
                        <a14:foregroundMark x1="74125" y1="78667" x2="78125" y2="81333"/>
                        <a14:foregroundMark x1="73000" y1="74833" x2="75125" y2="74833"/>
                        <a14:foregroundMark x1="71500" y1="75500" x2="74875" y2="73500"/>
                        <a14:foregroundMark x1="74625" y1="72833" x2="75500" y2="71667"/>
                        <a14:foregroundMark x1="75500" y1="69333" x2="75750" y2="69500"/>
                        <a14:backgroundMark x1="72375" y1="24167" x2="72750" y2="27000"/>
                        <a14:backgroundMark x1="71750" y1="23667" x2="72500" y2="25333"/>
                        <a14:backgroundMark x1="71875" y1="23500" x2="71500" y2="22667"/>
                        <a14:backgroundMark x1="72250" y1="23333" x2="71625" y2="22000"/>
                        <a14:backgroundMark x1="71625" y1="23167" x2="71500" y2="22000"/>
                        <a14:backgroundMark x1="71500" y1="22333" x2="71250" y2="22000"/>
                        <a14:backgroundMark x1="71500" y1="22833" x2="71500" y2="23167"/>
                        <a14:backgroundMark x1="71500" y1="22667" x2="71500" y2="23167"/>
                        <a14:backgroundMark x1="71250" y1="22667" x2="71500" y2="23167"/>
                        <a14:backgroundMark x1="71250" y1="22333" x2="71875" y2="23167"/>
                      </a14:backgroundRemoval>
                    </a14:imgEffect>
                  </a14:imgLayer>
                </a14:imgProps>
              </a:ext>
              <a:ext uri="{28A0092B-C50C-407E-A947-70E740481C1C}">
                <a14:useLocalDpi xmlns:a14="http://schemas.microsoft.com/office/drawing/2010/main" val="0"/>
              </a:ext>
            </a:extLst>
          </a:blip>
          <a:srcRect l="997" r="10523" b="-4"/>
          <a:stretch/>
        </p:blipFill>
        <p:spPr bwMode="auto">
          <a:xfrm>
            <a:off x="9053088" y="4197217"/>
            <a:ext cx="3138912" cy="2660795"/>
          </a:xfrm>
          <a:custGeom>
            <a:avLst/>
            <a:gdLst/>
            <a:ahLst/>
            <a:cxnLst/>
            <a:rect l="l" t="t" r="r" b="b"/>
            <a:pathLst>
              <a:path w="3138912" h="2660795">
                <a:moveTo>
                  <a:pt x="1723644" y="0"/>
                </a:moveTo>
                <a:cubicBezTo>
                  <a:pt x="2259111" y="0"/>
                  <a:pt x="2737550" y="244172"/>
                  <a:pt x="3053691" y="627247"/>
                </a:cubicBezTo>
                <a:lnTo>
                  <a:pt x="3138912" y="741211"/>
                </a:lnTo>
                <a:lnTo>
                  <a:pt x="3138912" y="2660795"/>
                </a:lnTo>
                <a:lnTo>
                  <a:pt x="278239" y="2660795"/>
                </a:lnTo>
                <a:lnTo>
                  <a:pt x="208035" y="2545235"/>
                </a:lnTo>
                <a:cubicBezTo>
                  <a:pt x="75362" y="2301006"/>
                  <a:pt x="0" y="2021126"/>
                  <a:pt x="0" y="1723644"/>
                </a:cubicBezTo>
                <a:cubicBezTo>
                  <a:pt x="0" y="771702"/>
                  <a:pt x="771702" y="0"/>
                  <a:pt x="1723644" y="0"/>
                </a:cubicBezTo>
                <a:close/>
              </a:path>
            </a:pathLst>
          </a:custGeom>
          <a:noFill/>
          <a:extLst>
            <a:ext uri="{909E8E84-426E-40DD-AFC4-6F175D3DCCD1}">
              <a14:hiddenFill xmlns:a14="http://schemas.microsoft.com/office/drawing/2010/main">
                <a:solidFill>
                  <a:srgbClr val="FFFFFF"/>
                </a:solidFill>
              </a14:hiddenFill>
            </a:ext>
          </a:extLst>
        </p:spPr>
      </p:pic>
      <p:sp>
        <p:nvSpPr>
          <p:cNvPr id="18" name="テキスト ボックス 17">
            <a:extLst>
              <a:ext uri="{FF2B5EF4-FFF2-40B4-BE49-F238E27FC236}">
                <a16:creationId xmlns:a16="http://schemas.microsoft.com/office/drawing/2014/main" id="{C209B8CC-895D-BBBD-6937-9B3CD5092720}"/>
              </a:ext>
            </a:extLst>
          </p:cNvPr>
          <p:cNvSpPr txBox="1"/>
          <p:nvPr/>
        </p:nvSpPr>
        <p:spPr>
          <a:xfrm>
            <a:off x="0" y="303536"/>
            <a:ext cx="6300222" cy="1015663"/>
          </a:xfrm>
          <a:prstGeom prst="rect">
            <a:avLst/>
          </a:prstGeom>
          <a:solidFill>
            <a:schemeClr val="tx1">
              <a:lumMod val="65000"/>
              <a:lumOff val="35000"/>
            </a:schemeClr>
          </a:solidFill>
        </p:spPr>
        <p:txBody>
          <a:bodyPr wrap="square" rtlCol="0">
            <a:spAutoFit/>
          </a:bodyPr>
          <a:lstStyle/>
          <a:p>
            <a:r>
              <a:rPr kumimoji="1" lang="ja-JP" altLang="en-US" sz="6000" b="1" dirty="0">
                <a:solidFill>
                  <a:schemeClr val="bg2"/>
                </a:solidFill>
                <a:latin typeface="UD デジタル 教科書体 NK-B" panose="02020700000000000000" pitchFamily="18" charset="-128"/>
                <a:ea typeface="UD デジタル 教科書体 NK-B" panose="02020700000000000000" pitchFamily="18" charset="-128"/>
                <a:cs typeface="Arial" panose="020B0604020202020204" pitchFamily="34" charset="0"/>
              </a:rPr>
              <a:t>目的</a:t>
            </a:r>
          </a:p>
        </p:txBody>
      </p:sp>
    </p:spTree>
    <p:extLst>
      <p:ext uri="{BB962C8B-B14F-4D97-AF65-F5344CB8AC3E}">
        <p14:creationId xmlns:p14="http://schemas.microsoft.com/office/powerpoint/2010/main" val="3789865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用語説明：信頼度スコア</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2" name="図 1">
            <a:extLst>
              <a:ext uri="{FF2B5EF4-FFF2-40B4-BE49-F238E27FC236}">
                <a16:creationId xmlns:a16="http://schemas.microsoft.com/office/drawing/2014/main" id="{B5D2863B-318B-C051-AD1D-017E5C68CF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02" y="1988942"/>
            <a:ext cx="11956190" cy="3115621"/>
          </a:xfrm>
          <a:prstGeom prst="rect">
            <a:avLst/>
          </a:prstGeom>
        </p:spPr>
      </p:pic>
      <p:sp>
        <p:nvSpPr>
          <p:cNvPr id="3" name="テキスト ボックス 2">
            <a:extLst>
              <a:ext uri="{FF2B5EF4-FFF2-40B4-BE49-F238E27FC236}">
                <a16:creationId xmlns:a16="http://schemas.microsoft.com/office/drawing/2014/main" id="{63D257FB-46EA-CA45-6A8D-D331B74D8F83}"/>
              </a:ext>
            </a:extLst>
          </p:cNvPr>
          <p:cNvSpPr txBox="1"/>
          <p:nvPr/>
        </p:nvSpPr>
        <p:spPr>
          <a:xfrm>
            <a:off x="577145" y="5605364"/>
            <a:ext cx="10952703" cy="646331"/>
          </a:xfrm>
          <a:prstGeom prst="rect">
            <a:avLst/>
          </a:prstGeom>
          <a:noFill/>
        </p:spPr>
        <p:txBody>
          <a:bodyPr wrap="square" rtlCol="0">
            <a:spAutoFit/>
          </a:bodyPr>
          <a:lstStyle/>
          <a:p>
            <a:pPr algn="ctr"/>
            <a:r>
              <a:rPr kumimoji="1" lang="en-US" altLang="ja-JP" sz="3600" dirty="0">
                <a:latin typeface="UD デジタル 教科書体 NK-B" panose="02020700000000000000" pitchFamily="18" charset="-128"/>
                <a:ea typeface="UD デジタル 教科書体 NK-B" panose="02020700000000000000" pitchFamily="18" charset="-128"/>
              </a:rPr>
              <a:t>Watson Assistant</a:t>
            </a:r>
            <a:r>
              <a:rPr kumimoji="1" lang="ja-JP" altLang="en-US" sz="3600" dirty="0">
                <a:latin typeface="UD デジタル 教科書体 NK-B" panose="02020700000000000000" pitchFamily="18" charset="-128"/>
                <a:ea typeface="UD デジタル 教科書体 NK-B" panose="02020700000000000000" pitchFamily="18" charset="-128"/>
              </a:rPr>
              <a:t>が質問を判別する際に用いる指標</a:t>
            </a:r>
          </a:p>
        </p:txBody>
      </p:sp>
    </p:spTree>
    <p:extLst>
      <p:ext uri="{BB962C8B-B14F-4D97-AF65-F5344CB8AC3E}">
        <p14:creationId xmlns:p14="http://schemas.microsoft.com/office/powerpoint/2010/main" val="1948626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2" name="矢印: 右 1">
                <a:extLst>
                  <a:ext uri="{FF2B5EF4-FFF2-40B4-BE49-F238E27FC236}">
                    <a16:creationId xmlns:a16="http://schemas.microsoft.com/office/drawing/2014/main" id="{80867FB0-C84E-52A6-537C-2F654B7A5D6B}"/>
                  </a:ext>
                </a:extLst>
              </p:cNvPr>
              <p:cNvSpPr/>
              <p:nvPr/>
            </p:nvSpPr>
            <p:spPr>
              <a:xfrm>
                <a:off x="609599" y="4465808"/>
                <a:ext cx="5325533" cy="2235548"/>
              </a:xfrm>
              <a:prstGeom prst="rightArrow">
                <a:avLst/>
              </a:prstGeom>
              <a:solidFill>
                <a:srgbClr val="97C7E6"/>
              </a:solidFill>
              <a:ln w="381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rPr>
                  <a:t>2</a:t>
                </a:r>
                <a:r>
                  <a:rPr kumimoji="1" lang="ja-JP" altLang="en-US" sz="2400" b="1" dirty="0">
                    <a:solidFill>
                      <a:schemeClr val="tx1"/>
                    </a:solidFill>
                  </a:rPr>
                  <a:t>次関数の標準形は何ですか</a:t>
                </a:r>
                <a:endParaRPr kumimoji="1" lang="en-US" altLang="ja-JP" sz="2400" b="1" dirty="0">
                  <a:solidFill>
                    <a:schemeClr val="tx1"/>
                  </a:solidFill>
                </a:endParaRPr>
              </a:p>
              <a:p>
                <a:pPr algn="ctr"/>
                <a14:m>
                  <m:oMath xmlns:m="http://schemas.openxmlformats.org/officeDocument/2006/math">
                    <m:acc>
                      <m:accPr>
                        <m:chr m:val="⃗"/>
                        <m:ctrlPr>
                          <a:rPr lang="ja-JP" altLang="en-US" sz="2400" i="1" smtClean="0">
                            <a:solidFill>
                              <a:schemeClr val="tx1"/>
                            </a:solidFill>
                            <a:latin typeface="Cambria Math" panose="02040503050406030204" pitchFamily="18" charset="0"/>
                          </a:rPr>
                        </m:ctrlPr>
                      </m:accPr>
                      <m:e>
                        <m:sSub>
                          <m:sSubPr>
                            <m:ctrlPr>
                              <a:rPr lang="ja-JP" altLang="en-US" sz="2400" i="1">
                                <a:solidFill>
                                  <a:schemeClr val="tx1"/>
                                </a:solidFill>
                                <a:latin typeface="Cambria Math" panose="02040503050406030204" pitchFamily="18" charset="0"/>
                              </a:rPr>
                            </m:ctrlPr>
                          </m:sSubPr>
                          <m:e>
                            <m:r>
                              <a:rPr lang="ja-JP" altLang="en-US" sz="2400" i="1">
                                <a:solidFill>
                                  <a:schemeClr val="tx1"/>
                                </a:solidFill>
                                <a:latin typeface="Cambria Math" panose="02040503050406030204" pitchFamily="18" charset="0"/>
                              </a:rPr>
                              <m:t>𝑒</m:t>
                            </m:r>
                          </m:e>
                          <m:sub>
                            <m:r>
                              <a:rPr lang="ja-JP" altLang="en-US" sz="2400" i="1">
                                <a:solidFill>
                                  <a:schemeClr val="tx1"/>
                                </a:solidFill>
                                <a:latin typeface="Cambria Math" panose="02040503050406030204" pitchFamily="18" charset="0"/>
                              </a:rPr>
                              <m:t>𝑥</m:t>
                            </m:r>
                          </m:sub>
                        </m:sSub>
                      </m:e>
                    </m:acc>
                  </m:oMath>
                </a14:m>
                <a:r>
                  <a:rPr kumimoji="1" lang="en-US" altLang="ja-JP" sz="2400" b="1" dirty="0">
                    <a:solidFill>
                      <a:schemeClr val="tx1"/>
                    </a:solidFill>
                    <a:latin typeface="UD デジタル 教科書体 NK-B" panose="02020700000000000000" pitchFamily="18" charset="-128"/>
                    <a:ea typeface="UD デジタル 教科書体 NK-B" panose="02020700000000000000" pitchFamily="18" charset="-128"/>
                  </a:rPr>
                  <a:t>=</a:t>
                </a:r>
                <a:r>
                  <a:rPr kumimoji="1" lang="en-US" altLang="ja-JP" sz="2400" b="1" dirty="0">
                    <a:solidFill>
                      <a:schemeClr val="tx1"/>
                    </a:solidFill>
                  </a:rPr>
                  <a:t>[0.32, 0.32, 0.32, 0.32, 0.32, 0.32, 0.32, 0.32, 0.32, 0.32,]</a:t>
                </a:r>
                <a:endParaRPr kumimoji="1" lang="ja-JP" altLang="en-US" sz="2400" b="1" dirty="0">
                  <a:solidFill>
                    <a:schemeClr val="tx1"/>
                  </a:solidFill>
                </a:endParaRPr>
              </a:p>
            </p:txBody>
          </p:sp>
        </mc:Choice>
        <mc:Fallback xmlns="">
          <p:sp>
            <p:nvSpPr>
              <p:cNvPr id="2" name="矢印: 右 1">
                <a:extLst>
                  <a:ext uri="{FF2B5EF4-FFF2-40B4-BE49-F238E27FC236}">
                    <a16:creationId xmlns:a16="http://schemas.microsoft.com/office/drawing/2014/main" id="{80867FB0-C84E-52A6-537C-2F654B7A5D6B}"/>
                  </a:ext>
                </a:extLst>
              </p:cNvPr>
              <p:cNvSpPr>
                <a:spLocks noRot="1" noChangeAspect="1" noMove="1" noResize="1" noEditPoints="1" noAdjustHandles="1" noChangeArrowheads="1" noChangeShapeType="1" noTextEdit="1"/>
              </p:cNvSpPr>
              <p:nvPr/>
            </p:nvSpPr>
            <p:spPr>
              <a:xfrm>
                <a:off x="609599" y="4465808"/>
                <a:ext cx="5325533" cy="2235548"/>
              </a:xfrm>
              <a:prstGeom prst="rightArrow">
                <a:avLst/>
              </a:prstGeom>
              <a:blipFill>
                <a:blip r:embed="rId3"/>
                <a:stretch>
                  <a:fillRect/>
                </a:stretch>
              </a:blipFill>
              <a:ln w="38100">
                <a:solidFill>
                  <a:srgbClr val="7F7F7F"/>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矢印: 右 2">
                <a:extLst>
                  <a:ext uri="{FF2B5EF4-FFF2-40B4-BE49-F238E27FC236}">
                    <a16:creationId xmlns:a16="http://schemas.microsoft.com/office/drawing/2014/main" id="{02775AF9-59AE-A160-1650-60C8D4BD1936}"/>
                  </a:ext>
                </a:extLst>
              </p:cNvPr>
              <p:cNvSpPr/>
              <p:nvPr/>
            </p:nvSpPr>
            <p:spPr>
              <a:xfrm rot="19764497">
                <a:off x="3778" y="2242224"/>
                <a:ext cx="4908733" cy="2140629"/>
              </a:xfrm>
              <a:prstGeom prst="rightArrow">
                <a:avLst/>
              </a:prstGeom>
              <a:solidFill>
                <a:srgbClr val="97C7E6"/>
              </a:solidFill>
              <a:ln w="381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rPr>
                  <a:t>2</a:t>
                </a:r>
                <a:r>
                  <a:rPr kumimoji="1" lang="ja-JP" altLang="en-US" sz="2400" b="1" dirty="0">
                    <a:solidFill>
                      <a:schemeClr val="tx1"/>
                    </a:solidFill>
                  </a:rPr>
                  <a:t>次関数　標準形</a:t>
                </a:r>
                <a:endParaRPr kumimoji="1" lang="en-US" altLang="ja-JP" sz="2400" b="1" dirty="0">
                  <a:solidFill>
                    <a:schemeClr val="tx1"/>
                  </a:solidFill>
                </a:endParaRPr>
              </a:p>
              <a:p>
                <a:pPr algn="ctr"/>
                <a14:m>
                  <m:oMath xmlns:m="http://schemas.openxmlformats.org/officeDocument/2006/math">
                    <m:acc>
                      <m:accPr>
                        <m:chr m:val="⃗"/>
                        <m:ctrlPr>
                          <a:rPr lang="ja-JP" altLang="en-US" sz="2400" i="1" smtClean="0">
                            <a:solidFill>
                              <a:schemeClr val="tx1"/>
                            </a:solidFill>
                            <a:latin typeface="Cambria Math" panose="02040503050406030204" pitchFamily="18" charset="0"/>
                          </a:rPr>
                        </m:ctrlPr>
                      </m:accPr>
                      <m:e>
                        <m:sSub>
                          <m:sSubPr>
                            <m:ctrlPr>
                              <a:rPr lang="ja-JP" altLang="en-US" sz="2400" i="1">
                                <a:solidFill>
                                  <a:schemeClr val="tx1"/>
                                </a:solidFill>
                                <a:latin typeface="Cambria Math" panose="02040503050406030204" pitchFamily="18" charset="0"/>
                              </a:rPr>
                            </m:ctrlPr>
                          </m:sSubPr>
                          <m:e>
                            <m:r>
                              <a:rPr lang="ja-JP" altLang="en-US" sz="2400" i="1">
                                <a:solidFill>
                                  <a:schemeClr val="tx1"/>
                                </a:solidFill>
                                <a:latin typeface="Cambria Math" panose="02040503050406030204" pitchFamily="18" charset="0"/>
                              </a:rPr>
                              <m:t>𝑒</m:t>
                            </m:r>
                          </m:e>
                          <m:sub>
                            <m:r>
                              <a:rPr lang="en-US" altLang="ja-JP" sz="2400" b="0" i="1" smtClean="0">
                                <a:solidFill>
                                  <a:schemeClr val="tx1"/>
                                </a:solidFill>
                                <a:latin typeface="Cambria Math" panose="02040503050406030204" pitchFamily="18" charset="0"/>
                              </a:rPr>
                              <m:t>𝑦</m:t>
                            </m:r>
                          </m:sub>
                        </m:sSub>
                      </m:e>
                    </m:acc>
                  </m:oMath>
                </a14:m>
                <a:r>
                  <a:rPr lang="en-US" altLang="ja-JP" sz="2400" b="1" dirty="0">
                    <a:solidFill>
                      <a:schemeClr val="tx1"/>
                    </a:solidFill>
                  </a:rPr>
                  <a:t>=[0,0,0,0,0,0,0.71,0.71,0,0]</a:t>
                </a:r>
                <a:endParaRPr kumimoji="1" lang="ja-JP" altLang="en-US" sz="2400" b="1" dirty="0">
                  <a:solidFill>
                    <a:schemeClr val="tx1"/>
                  </a:solidFill>
                </a:endParaRPr>
              </a:p>
            </p:txBody>
          </p:sp>
        </mc:Choice>
        <mc:Fallback xmlns="">
          <p:sp>
            <p:nvSpPr>
              <p:cNvPr id="3" name="矢印: 右 2">
                <a:extLst>
                  <a:ext uri="{FF2B5EF4-FFF2-40B4-BE49-F238E27FC236}">
                    <a16:creationId xmlns:a16="http://schemas.microsoft.com/office/drawing/2014/main" id="{02775AF9-59AE-A160-1650-60C8D4BD1936}"/>
                  </a:ext>
                </a:extLst>
              </p:cNvPr>
              <p:cNvSpPr>
                <a:spLocks noRot="1" noChangeAspect="1" noMove="1" noResize="1" noEditPoints="1" noAdjustHandles="1" noChangeArrowheads="1" noChangeShapeType="1" noTextEdit="1"/>
              </p:cNvSpPr>
              <p:nvPr/>
            </p:nvSpPr>
            <p:spPr>
              <a:xfrm rot="19764497">
                <a:off x="3778" y="2242224"/>
                <a:ext cx="4908733" cy="2140629"/>
              </a:xfrm>
              <a:prstGeom prst="rightArrow">
                <a:avLst/>
              </a:prstGeom>
              <a:blipFill>
                <a:blip r:embed="rId4"/>
                <a:stretch>
                  <a:fillRect/>
                </a:stretch>
              </a:blipFill>
              <a:ln w="38100">
                <a:solidFill>
                  <a:srgbClr val="7F7F7F"/>
                </a:solidFill>
              </a:ln>
            </p:spPr>
            <p:txBody>
              <a:bodyPr/>
              <a:lstStyle/>
              <a:p>
                <a:r>
                  <a:rPr lang="ja-JP" altLang="en-US">
                    <a:noFill/>
                  </a:rPr>
                  <a:t> </a:t>
                </a:r>
              </a:p>
            </p:txBody>
          </p:sp>
        </mc:Fallback>
      </mc:AlternateContent>
      <p:sp>
        <p:nvSpPr>
          <p:cNvPr id="5" name="円弧 4">
            <a:extLst>
              <a:ext uri="{FF2B5EF4-FFF2-40B4-BE49-F238E27FC236}">
                <a16:creationId xmlns:a16="http://schemas.microsoft.com/office/drawing/2014/main" id="{C77E143B-7C33-AA6F-B793-C87C2CA500C0}"/>
              </a:ext>
            </a:extLst>
          </p:cNvPr>
          <p:cNvSpPr/>
          <p:nvPr/>
        </p:nvSpPr>
        <p:spPr>
          <a:xfrm rot="387586">
            <a:off x="193901" y="4008603"/>
            <a:ext cx="1766047" cy="1766047"/>
          </a:xfrm>
          <a:prstGeom prst="arc">
            <a:avLst>
              <a:gd name="adj1" fmla="val 18983432"/>
              <a:gd name="adj2" fmla="val 0"/>
            </a:avLst>
          </a:prstGeom>
          <a:ln w="76200">
            <a:solidFill>
              <a:srgbClr val="7F7F7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C4EE8092-A30F-B544-3FFC-F0A3ED748F9F}"/>
              </a:ext>
            </a:extLst>
          </p:cNvPr>
          <p:cNvSpPr txBox="1"/>
          <p:nvPr/>
        </p:nvSpPr>
        <p:spPr>
          <a:xfrm>
            <a:off x="2458144" y="4142642"/>
            <a:ext cx="855046" cy="646331"/>
          </a:xfrm>
          <a:prstGeom prst="rect">
            <a:avLst/>
          </a:prstGeom>
          <a:noFill/>
        </p:spPr>
        <p:txBody>
          <a:bodyPr wrap="square" rtlCol="0">
            <a:spAutoFit/>
          </a:bodyPr>
          <a:lstStyle/>
          <a:p>
            <a:pPr algn="ctr"/>
            <a:r>
              <a:rPr kumimoji="1" lang="en-US" altLang="ja-JP" sz="3600" dirty="0">
                <a:latin typeface="UD デジタル 教科書体 NK-B" panose="02020700000000000000" pitchFamily="18" charset="-128"/>
                <a:ea typeface="UD デジタル 教科書体 NK-B" panose="02020700000000000000" pitchFamily="18" charset="-128"/>
              </a:rPr>
              <a:t>θ</a:t>
            </a:r>
            <a:endParaRPr kumimoji="1" lang="ja-JP" altLang="en-US" sz="3600" dirty="0">
              <a:latin typeface="UD デジタル 教科書体 NK-B" panose="02020700000000000000" pitchFamily="18" charset="-128"/>
              <a:ea typeface="UD デジタル 教科書体 NK-B" panose="02020700000000000000" pitchFamily="18" charset="-128"/>
            </a:endParaRP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F96ABAF1-7268-3905-F1FF-6F1E68D9C141}"/>
                  </a:ext>
                </a:extLst>
              </p:cNvPr>
              <p:cNvSpPr txBox="1"/>
              <p:nvPr/>
            </p:nvSpPr>
            <p:spPr>
              <a:xfrm>
                <a:off x="5650009" y="2500926"/>
                <a:ext cx="6163234" cy="12798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ja-JP" altLang="en-US" sz="3600" i="1" smtClean="0">
                          <a:latin typeface="Cambria Math" panose="02040503050406030204" pitchFamily="18" charset="0"/>
                        </a:rPr>
                        <m:t>𝑐𝑜𝑠</m:t>
                      </m:r>
                      <m:r>
                        <a:rPr lang="ja-JP" altLang="en-US" sz="3600" i="1" smtClean="0">
                          <a:latin typeface="Cambria Math" panose="02040503050406030204" pitchFamily="18" charset="0"/>
                        </a:rPr>
                        <m:t>𝜃</m:t>
                      </m:r>
                      <m:r>
                        <a:rPr lang="ja-JP" altLang="en-US" sz="3600" i="0">
                          <a:latin typeface="Cambria Math" panose="02040503050406030204" pitchFamily="18" charset="0"/>
                        </a:rPr>
                        <m:t>=</m:t>
                      </m:r>
                      <m:f>
                        <m:fPr>
                          <m:ctrlPr>
                            <a:rPr lang="ja-JP" altLang="en-US" sz="3600" i="1">
                              <a:solidFill>
                                <a:srgbClr val="836967"/>
                              </a:solidFill>
                              <a:latin typeface="Cambria Math" panose="02040503050406030204" pitchFamily="18" charset="0"/>
                            </a:rPr>
                          </m:ctrlPr>
                        </m:fPr>
                        <m:num>
                          <m:acc>
                            <m:accPr>
                              <m:chr m:val="⃗"/>
                              <m:ctrlPr>
                                <a:rPr lang="ja-JP" altLang="en-US" sz="3600" i="1">
                                  <a:solidFill>
                                    <a:srgbClr val="836967"/>
                                  </a:solidFill>
                                  <a:latin typeface="Cambria Math" panose="02040503050406030204" pitchFamily="18" charset="0"/>
                                </a:rPr>
                              </m:ctrlPr>
                            </m:accPr>
                            <m:e>
                              <m:r>
                                <a:rPr lang="ja-JP" altLang="en-US" sz="3600" i="1">
                                  <a:latin typeface="Cambria Math" panose="02040503050406030204" pitchFamily="18" charset="0"/>
                                </a:rPr>
                                <m:t>𝑥</m:t>
                              </m:r>
                            </m:e>
                          </m:acc>
                          <m:r>
                            <a:rPr lang="ja-JP" altLang="en-US" sz="3600" i="0">
                              <a:latin typeface="Cambria Math" panose="02040503050406030204" pitchFamily="18" charset="0"/>
                            </a:rPr>
                            <m:t>∙</m:t>
                          </m:r>
                          <m:acc>
                            <m:accPr>
                              <m:chr m:val="⃗"/>
                              <m:ctrlPr>
                                <a:rPr lang="ja-JP" altLang="en-US" sz="3600" i="1">
                                  <a:solidFill>
                                    <a:srgbClr val="836967"/>
                                  </a:solidFill>
                                  <a:latin typeface="Cambria Math" panose="02040503050406030204" pitchFamily="18" charset="0"/>
                                </a:rPr>
                              </m:ctrlPr>
                            </m:accPr>
                            <m:e>
                              <m:r>
                                <a:rPr lang="ja-JP" altLang="en-US" sz="3600" i="1">
                                  <a:latin typeface="Cambria Math" panose="02040503050406030204" pitchFamily="18" charset="0"/>
                                </a:rPr>
                                <m:t>𝑦</m:t>
                              </m:r>
                            </m:e>
                          </m:acc>
                        </m:num>
                        <m:den>
                          <m:d>
                            <m:dPr>
                              <m:begChr m:val="‖"/>
                              <m:endChr m:val="‖"/>
                              <m:ctrlPr>
                                <a:rPr lang="ja-JP" altLang="en-US" sz="3600" i="1">
                                  <a:solidFill>
                                    <a:srgbClr val="836967"/>
                                  </a:solidFill>
                                  <a:latin typeface="Cambria Math" panose="02040503050406030204" pitchFamily="18" charset="0"/>
                                </a:rPr>
                              </m:ctrlPr>
                            </m:dPr>
                            <m:e>
                              <m:acc>
                                <m:accPr>
                                  <m:chr m:val="⃗"/>
                                  <m:ctrlPr>
                                    <a:rPr lang="ja-JP" altLang="en-US" sz="3600" i="1">
                                      <a:solidFill>
                                        <a:srgbClr val="836967"/>
                                      </a:solidFill>
                                      <a:latin typeface="Cambria Math" panose="02040503050406030204" pitchFamily="18" charset="0"/>
                                    </a:rPr>
                                  </m:ctrlPr>
                                </m:accPr>
                                <m:e>
                                  <m:r>
                                    <a:rPr lang="ja-JP" altLang="en-US" sz="3600" i="1">
                                      <a:latin typeface="Cambria Math" panose="02040503050406030204" pitchFamily="18" charset="0"/>
                                    </a:rPr>
                                    <m:t>𝑥</m:t>
                                  </m:r>
                                </m:e>
                              </m:acc>
                            </m:e>
                          </m:d>
                          <m:d>
                            <m:dPr>
                              <m:begChr m:val="‖"/>
                              <m:endChr m:val="‖"/>
                              <m:ctrlPr>
                                <a:rPr lang="ja-JP" altLang="en-US" sz="3600" i="1">
                                  <a:solidFill>
                                    <a:srgbClr val="836967"/>
                                  </a:solidFill>
                                  <a:latin typeface="Cambria Math" panose="02040503050406030204" pitchFamily="18" charset="0"/>
                                </a:rPr>
                              </m:ctrlPr>
                            </m:dPr>
                            <m:e>
                              <m:acc>
                                <m:accPr>
                                  <m:chr m:val="⃗"/>
                                  <m:ctrlPr>
                                    <a:rPr lang="ja-JP" altLang="en-US" sz="3600" i="1">
                                      <a:solidFill>
                                        <a:srgbClr val="836967"/>
                                      </a:solidFill>
                                      <a:latin typeface="Cambria Math" panose="02040503050406030204" pitchFamily="18" charset="0"/>
                                    </a:rPr>
                                  </m:ctrlPr>
                                </m:accPr>
                                <m:e>
                                  <m:r>
                                    <a:rPr lang="ja-JP" altLang="en-US" sz="3600" i="1">
                                      <a:latin typeface="Cambria Math" panose="02040503050406030204" pitchFamily="18" charset="0"/>
                                    </a:rPr>
                                    <m:t>𝑦</m:t>
                                  </m:r>
                                </m:e>
                              </m:acc>
                            </m:e>
                          </m:d>
                        </m:den>
                      </m:f>
                      <m:r>
                        <a:rPr lang="ja-JP" altLang="en-US" sz="3600" i="0">
                          <a:latin typeface="Cambria Math" panose="02040503050406030204" pitchFamily="18" charset="0"/>
                        </a:rPr>
                        <m:t>=</m:t>
                      </m:r>
                      <m:acc>
                        <m:accPr>
                          <m:chr m:val="⃗"/>
                          <m:ctrlPr>
                            <a:rPr lang="ja-JP" altLang="en-US" sz="3600" i="1">
                              <a:solidFill>
                                <a:srgbClr val="836967"/>
                              </a:solidFill>
                              <a:latin typeface="Cambria Math" panose="02040503050406030204" pitchFamily="18" charset="0"/>
                            </a:rPr>
                          </m:ctrlPr>
                        </m:accPr>
                        <m:e>
                          <m:sSub>
                            <m:sSubPr>
                              <m:ctrlPr>
                                <a:rPr lang="ja-JP" altLang="en-US" sz="3600" i="1">
                                  <a:solidFill>
                                    <a:srgbClr val="836967"/>
                                  </a:solidFill>
                                  <a:latin typeface="Cambria Math" panose="02040503050406030204" pitchFamily="18" charset="0"/>
                                </a:rPr>
                              </m:ctrlPr>
                            </m:sSubPr>
                            <m:e>
                              <m:r>
                                <a:rPr lang="ja-JP" altLang="en-US" sz="3600" i="1">
                                  <a:latin typeface="Cambria Math" panose="02040503050406030204" pitchFamily="18" charset="0"/>
                                </a:rPr>
                                <m:t>𝑒</m:t>
                              </m:r>
                            </m:e>
                            <m:sub>
                              <m:r>
                                <a:rPr lang="ja-JP" altLang="en-US" sz="3600" i="1">
                                  <a:latin typeface="Cambria Math" panose="02040503050406030204" pitchFamily="18" charset="0"/>
                                </a:rPr>
                                <m:t>𝑥</m:t>
                              </m:r>
                            </m:sub>
                          </m:sSub>
                        </m:e>
                      </m:acc>
                      <m:r>
                        <a:rPr lang="ja-JP" altLang="en-US" sz="3600" i="0">
                          <a:latin typeface="Cambria Math" panose="02040503050406030204" pitchFamily="18" charset="0"/>
                        </a:rPr>
                        <m:t>∙</m:t>
                      </m:r>
                      <m:acc>
                        <m:accPr>
                          <m:chr m:val="⃗"/>
                          <m:ctrlPr>
                            <a:rPr lang="ja-JP" altLang="en-US" sz="3600" i="1">
                              <a:solidFill>
                                <a:srgbClr val="836967"/>
                              </a:solidFill>
                              <a:latin typeface="Cambria Math" panose="02040503050406030204" pitchFamily="18" charset="0"/>
                            </a:rPr>
                          </m:ctrlPr>
                        </m:accPr>
                        <m:e>
                          <m:sSub>
                            <m:sSubPr>
                              <m:ctrlPr>
                                <a:rPr lang="ja-JP" altLang="en-US" sz="3600" i="1">
                                  <a:solidFill>
                                    <a:srgbClr val="836967"/>
                                  </a:solidFill>
                                  <a:latin typeface="Cambria Math" panose="02040503050406030204" pitchFamily="18" charset="0"/>
                                </a:rPr>
                              </m:ctrlPr>
                            </m:sSubPr>
                            <m:e>
                              <m:r>
                                <a:rPr lang="ja-JP" altLang="en-US" sz="3600" i="1">
                                  <a:latin typeface="Cambria Math" panose="02040503050406030204" pitchFamily="18" charset="0"/>
                                </a:rPr>
                                <m:t>𝑒</m:t>
                              </m:r>
                            </m:e>
                            <m:sub>
                              <m:r>
                                <a:rPr lang="en-US" altLang="ja-JP" sz="3600" b="0" i="1" smtClean="0">
                                  <a:latin typeface="Cambria Math" panose="02040503050406030204" pitchFamily="18" charset="0"/>
                                </a:rPr>
                                <m:t>𝑦</m:t>
                              </m:r>
                            </m:sub>
                          </m:sSub>
                        </m:e>
                      </m:acc>
                    </m:oMath>
                  </m:oMathPara>
                </a14:m>
                <a:endParaRPr lang="ja-JP" altLang="en-US" sz="3600" dirty="0"/>
              </a:p>
            </p:txBody>
          </p:sp>
        </mc:Choice>
        <mc:Fallback xmlns="">
          <p:sp>
            <p:nvSpPr>
              <p:cNvPr id="8" name="テキスト ボックス 7">
                <a:extLst>
                  <a:ext uri="{FF2B5EF4-FFF2-40B4-BE49-F238E27FC236}">
                    <a16:creationId xmlns:a16="http://schemas.microsoft.com/office/drawing/2014/main" id="{F96ABAF1-7268-3905-F1FF-6F1E68D9C141}"/>
                  </a:ext>
                </a:extLst>
              </p:cNvPr>
              <p:cNvSpPr txBox="1">
                <a:spLocks noRot="1" noChangeAspect="1" noMove="1" noResize="1" noEditPoints="1" noAdjustHandles="1" noChangeArrowheads="1" noChangeShapeType="1" noTextEdit="1"/>
              </p:cNvSpPr>
              <p:nvPr/>
            </p:nvSpPr>
            <p:spPr>
              <a:xfrm>
                <a:off x="5650009" y="2500926"/>
                <a:ext cx="6163234" cy="1279838"/>
              </a:xfrm>
              <a:prstGeom prst="rect">
                <a:avLst/>
              </a:prstGeom>
              <a:blipFill>
                <a:blip r:embed="rId5"/>
                <a:stretch>
                  <a:fillRect/>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5DCB26F6-3CEC-5ED9-B237-FBCA87858ACF}"/>
              </a:ext>
            </a:extLst>
          </p:cNvPr>
          <p:cNvSpPr txBox="1"/>
          <p:nvPr/>
        </p:nvSpPr>
        <p:spPr>
          <a:xfrm>
            <a:off x="5650009" y="4538308"/>
            <a:ext cx="6163234" cy="1200329"/>
          </a:xfrm>
          <a:prstGeom prst="rect">
            <a:avLst/>
          </a:prstGeom>
          <a:noFill/>
        </p:spPr>
        <p:txBody>
          <a:bodyPr wrap="square" rtlCol="0">
            <a:spAutoFit/>
          </a:bodyPr>
          <a:lstStyle/>
          <a:p>
            <a:pPr algn="ctr"/>
            <a:r>
              <a:rPr kumimoji="1" lang="ja-JP" altLang="en-US" sz="3600" dirty="0">
                <a:latin typeface="UD デジタル 教科書体 NK-B" panose="02020700000000000000" pitchFamily="18" charset="-128"/>
                <a:ea typeface="UD デジタル 教科書体 NK-B" panose="02020700000000000000" pitchFamily="18" charset="-128"/>
              </a:rPr>
              <a:t>２つの文章ベクトルが成す角の</a:t>
            </a:r>
            <a:r>
              <a:rPr lang="en-US" altLang="ja-JP" sz="3600" dirty="0">
                <a:latin typeface="UD デジタル 教科書体 NK-B" panose="02020700000000000000" pitchFamily="18" charset="-128"/>
                <a:ea typeface="UD デジタル 教科書体 NK-B" panose="02020700000000000000" pitchFamily="18" charset="-128"/>
              </a:rPr>
              <a:t>cos</a:t>
            </a:r>
            <a:r>
              <a:rPr lang="ja-JP" altLang="en-US" sz="3600" dirty="0">
                <a:latin typeface="UD デジタル 教科書体 NK-B" panose="02020700000000000000" pitchFamily="18" charset="-128"/>
                <a:ea typeface="UD デジタル 教科書体 NK-B" panose="02020700000000000000" pitchFamily="18" charset="-128"/>
              </a:rPr>
              <a:t>を求める</a:t>
            </a:r>
            <a:endParaRPr kumimoji="1" lang="ja-JP" altLang="en-US" sz="3600" dirty="0">
              <a:latin typeface="UD デジタル 教科書体 NK-B" panose="02020700000000000000" pitchFamily="18" charset="-128"/>
              <a:ea typeface="UD デジタル 教科書体 NK-B" panose="02020700000000000000" pitchFamily="18" charset="-128"/>
            </a:endParaRPr>
          </a:p>
        </p:txBody>
      </p:sp>
      <p:sp>
        <p:nvSpPr>
          <p:cNvPr id="7" name="タイトル 1">
            <a:extLst>
              <a:ext uri="{FF2B5EF4-FFF2-40B4-BE49-F238E27FC236}">
                <a16:creationId xmlns:a16="http://schemas.microsoft.com/office/drawing/2014/main" id="{DE38429E-7CF4-27B4-19EF-739EA4F791F0}"/>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用語説明：</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cos</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類似度</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3446653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18853"/>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用語説明：</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TF-IDF</a:t>
            </a:r>
            <a:r>
              <a:rPr lang="ja-JP" altLang="en-US" sz="2100" b="1" dirty="0">
                <a:solidFill>
                  <a:schemeClr val="bg1"/>
                </a:solidFill>
                <a:latin typeface="UD デジタル 教科書体 NK-B" panose="02020700000000000000" pitchFamily="18" charset="-128"/>
                <a:ea typeface="UD デジタル 教科書体 NK-B" panose="02020700000000000000" pitchFamily="18" charset="-128"/>
              </a:rPr>
              <a:t>（</a:t>
            </a:r>
            <a:r>
              <a:rPr lang="en-US" altLang="ja-JP" sz="2100" b="1" dirty="0">
                <a:solidFill>
                  <a:schemeClr val="bg1"/>
                </a:solidFill>
                <a:latin typeface="UD デジタル 教科書体 NK-B" panose="02020700000000000000" pitchFamily="18" charset="-128"/>
                <a:ea typeface="UD デジタル 教科書体 NK-B" panose="02020700000000000000" pitchFamily="18" charset="-128"/>
              </a:rPr>
              <a:t>Term Frequency - Inverse Document Frequency</a:t>
            </a:r>
            <a:r>
              <a:rPr lang="ja-JP" altLang="en-US" sz="2100" b="1" dirty="0">
                <a:solidFill>
                  <a:schemeClr val="bg1"/>
                </a:solidFill>
                <a:latin typeface="UD デジタル 教科書体 NK-B" panose="02020700000000000000" pitchFamily="18" charset="-128"/>
                <a:ea typeface="UD デジタル 教科書体 NK-B" panose="02020700000000000000" pitchFamily="18" charset="-128"/>
              </a:rPr>
              <a:t>）</a:t>
            </a:r>
            <a:endParaRPr lang="en-US" altLang="ja-JP" sz="2100" b="1" dirty="0">
              <a:solidFill>
                <a:schemeClr val="bg1"/>
              </a:solidFill>
              <a:latin typeface="UD デジタル 教科書体 NK-B" panose="02020700000000000000" pitchFamily="18" charset="-128"/>
              <a:ea typeface="UD デジタル 教科書体 NK-B" panose="02020700000000000000" pitchFamily="18" charset="-128"/>
            </a:endParaRPr>
          </a:p>
          <a:p>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305BB2E5-225F-96E7-7338-392F1BEC6FAC}"/>
                  </a:ext>
                </a:extLst>
              </p:cNvPr>
              <p:cNvSpPr txBox="1"/>
              <p:nvPr/>
            </p:nvSpPr>
            <p:spPr>
              <a:xfrm>
                <a:off x="659877" y="5047030"/>
                <a:ext cx="10649146" cy="833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ja-JP" altLang="en-US" sz="4400" b="1" i="1" smtClean="0">
                          <a:latin typeface="Cambria Math" panose="02040503050406030204" pitchFamily="18" charset="0"/>
                        </a:rPr>
                        <m:t>𝑻𝑭</m:t>
                      </m:r>
                      <m:r>
                        <a:rPr lang="en-US" altLang="ja-JP" sz="4400" b="1" i="1">
                          <a:latin typeface="Cambria Math" panose="02040503050406030204" pitchFamily="18" charset="0"/>
                        </a:rPr>
                        <m:t>−</m:t>
                      </m:r>
                      <m:r>
                        <a:rPr lang="en-US" altLang="ja-JP" sz="4400" b="1" i="1" smtClean="0">
                          <a:latin typeface="Cambria Math" panose="02040503050406030204" pitchFamily="18" charset="0"/>
                        </a:rPr>
                        <m:t>𝑰𝑫𝑭</m:t>
                      </m:r>
                      <m:r>
                        <a:rPr lang="en-US" altLang="ja-JP" sz="4400" b="1" i="1">
                          <a:latin typeface="Cambria Math" panose="02040503050406030204" pitchFamily="18" charset="0"/>
                        </a:rPr>
                        <m:t>(</m:t>
                      </m:r>
                      <m:sSub>
                        <m:sSubPr>
                          <m:ctrlPr>
                            <a:rPr lang="ja-JP" altLang="ja-JP" sz="4400" b="1" i="1">
                              <a:latin typeface="Cambria Math" panose="02040503050406030204" pitchFamily="18" charset="0"/>
                            </a:rPr>
                          </m:ctrlPr>
                        </m:sSubPr>
                        <m:e>
                          <m:r>
                            <a:rPr lang="en-US" altLang="ja-JP" sz="4400" b="1" i="1">
                              <a:latin typeface="Cambria Math" panose="02040503050406030204" pitchFamily="18" charset="0"/>
                            </a:rPr>
                            <m:t>𝝎</m:t>
                          </m:r>
                        </m:e>
                        <m:sub>
                          <m:r>
                            <a:rPr lang="en-US" altLang="ja-JP" sz="4400" b="1" i="1">
                              <a:latin typeface="Cambria Math" panose="02040503050406030204" pitchFamily="18" charset="0"/>
                            </a:rPr>
                            <m:t>𝒊</m:t>
                          </m:r>
                        </m:sub>
                      </m:sSub>
                      <m:r>
                        <a:rPr lang="en-US" altLang="ja-JP" sz="4400" b="1" i="1">
                          <a:latin typeface="Cambria Math" panose="02040503050406030204" pitchFamily="18" charset="0"/>
                        </a:rPr>
                        <m:t>,</m:t>
                      </m:r>
                      <m:sSub>
                        <m:sSubPr>
                          <m:ctrlPr>
                            <a:rPr lang="ja-JP" altLang="ja-JP" sz="4400" b="1" i="1">
                              <a:latin typeface="Cambria Math" panose="02040503050406030204" pitchFamily="18" charset="0"/>
                            </a:rPr>
                          </m:ctrlPr>
                        </m:sSubPr>
                        <m:e>
                          <m:r>
                            <a:rPr lang="en-US" altLang="ja-JP" sz="4400" b="1" i="1">
                              <a:latin typeface="Cambria Math" panose="02040503050406030204" pitchFamily="18" charset="0"/>
                            </a:rPr>
                            <m:t>𝑫</m:t>
                          </m:r>
                        </m:e>
                        <m:sub>
                          <m:r>
                            <a:rPr lang="en-US" altLang="ja-JP" sz="4400" b="1" i="1">
                              <a:latin typeface="Cambria Math" panose="02040503050406030204" pitchFamily="18" charset="0"/>
                            </a:rPr>
                            <m:t>𝒋</m:t>
                          </m:r>
                        </m:sub>
                      </m:sSub>
                      <m:r>
                        <a:rPr lang="en-US" altLang="ja-JP" sz="4400" b="1" i="1">
                          <a:latin typeface="Cambria Math" panose="02040503050406030204" pitchFamily="18" charset="0"/>
                        </a:rPr>
                        <m:t>)</m:t>
                      </m:r>
                      <m:r>
                        <a:rPr lang="ja-JP" altLang="en-US" sz="4400" b="1" i="0">
                          <a:latin typeface="Cambria Math" panose="02040503050406030204" pitchFamily="18" charset="0"/>
                        </a:rPr>
                        <m:t>=</m:t>
                      </m:r>
                      <m:r>
                        <a:rPr lang="en-US" altLang="ja-JP" sz="4400" b="1" i="1">
                          <a:latin typeface="Cambria Math" panose="02040503050406030204" pitchFamily="18" charset="0"/>
                        </a:rPr>
                        <m:t>𝑻𝑭</m:t>
                      </m:r>
                      <m:r>
                        <a:rPr lang="en-US" altLang="ja-JP" sz="4400" b="1" i="1">
                          <a:latin typeface="Cambria Math" panose="02040503050406030204" pitchFamily="18" charset="0"/>
                        </a:rPr>
                        <m:t>(</m:t>
                      </m:r>
                      <m:sSub>
                        <m:sSubPr>
                          <m:ctrlPr>
                            <a:rPr lang="ja-JP" altLang="ja-JP" sz="4400" b="1" i="1">
                              <a:latin typeface="Cambria Math" panose="02040503050406030204" pitchFamily="18" charset="0"/>
                            </a:rPr>
                          </m:ctrlPr>
                        </m:sSubPr>
                        <m:e>
                          <m:r>
                            <a:rPr lang="en-US" altLang="ja-JP" sz="4400" b="1" i="1">
                              <a:latin typeface="Cambria Math" panose="02040503050406030204" pitchFamily="18" charset="0"/>
                            </a:rPr>
                            <m:t>𝝎</m:t>
                          </m:r>
                        </m:e>
                        <m:sub>
                          <m:r>
                            <a:rPr lang="en-US" altLang="ja-JP" sz="4400" b="1" i="1">
                              <a:latin typeface="Cambria Math" panose="02040503050406030204" pitchFamily="18" charset="0"/>
                            </a:rPr>
                            <m:t>𝒊</m:t>
                          </m:r>
                        </m:sub>
                      </m:sSub>
                      <m:r>
                        <a:rPr lang="en-US" altLang="ja-JP" sz="4400" b="1" i="1">
                          <a:latin typeface="Cambria Math" panose="02040503050406030204" pitchFamily="18" charset="0"/>
                        </a:rPr>
                        <m:t>,</m:t>
                      </m:r>
                      <m:sSub>
                        <m:sSubPr>
                          <m:ctrlPr>
                            <a:rPr lang="ja-JP" altLang="ja-JP" sz="4400" b="1" i="1">
                              <a:latin typeface="Cambria Math" panose="02040503050406030204" pitchFamily="18" charset="0"/>
                            </a:rPr>
                          </m:ctrlPr>
                        </m:sSubPr>
                        <m:e>
                          <m:r>
                            <a:rPr lang="en-US" altLang="ja-JP" sz="4400" b="1" i="1">
                              <a:latin typeface="Cambria Math" panose="02040503050406030204" pitchFamily="18" charset="0"/>
                            </a:rPr>
                            <m:t>𝑫</m:t>
                          </m:r>
                        </m:e>
                        <m:sub>
                          <m:r>
                            <a:rPr lang="en-US" altLang="ja-JP" sz="4400" b="1" i="1">
                              <a:latin typeface="Cambria Math" panose="02040503050406030204" pitchFamily="18" charset="0"/>
                            </a:rPr>
                            <m:t>𝒋</m:t>
                          </m:r>
                        </m:sub>
                      </m:sSub>
                      <m:r>
                        <a:rPr lang="en-US" altLang="ja-JP" sz="4400" b="1" i="1">
                          <a:latin typeface="Cambria Math" panose="02040503050406030204" pitchFamily="18" charset="0"/>
                        </a:rPr>
                        <m:t>)×</m:t>
                      </m:r>
                      <m:r>
                        <a:rPr lang="en-US" altLang="ja-JP" sz="4400" b="1" i="1">
                          <a:latin typeface="Cambria Math" panose="02040503050406030204" pitchFamily="18" charset="0"/>
                        </a:rPr>
                        <m:t>𝑰𝑫𝑭</m:t>
                      </m:r>
                      <m:r>
                        <a:rPr lang="en-US" altLang="ja-JP" sz="4400" b="1" i="1">
                          <a:latin typeface="Cambria Math" panose="02040503050406030204" pitchFamily="18" charset="0"/>
                        </a:rPr>
                        <m:t>(</m:t>
                      </m:r>
                      <m:sSub>
                        <m:sSubPr>
                          <m:ctrlPr>
                            <a:rPr lang="ja-JP" altLang="ja-JP" sz="4400" b="1" i="1">
                              <a:latin typeface="Cambria Math" panose="02040503050406030204" pitchFamily="18" charset="0"/>
                            </a:rPr>
                          </m:ctrlPr>
                        </m:sSubPr>
                        <m:e>
                          <m:r>
                            <a:rPr lang="en-US" altLang="ja-JP" sz="4400" b="1" i="1">
                              <a:latin typeface="Cambria Math" panose="02040503050406030204" pitchFamily="18" charset="0"/>
                            </a:rPr>
                            <m:t>𝝎</m:t>
                          </m:r>
                        </m:e>
                        <m:sub>
                          <m:r>
                            <a:rPr lang="en-US" altLang="ja-JP" sz="4400" b="1" i="1">
                              <a:latin typeface="Cambria Math" panose="02040503050406030204" pitchFamily="18" charset="0"/>
                            </a:rPr>
                            <m:t>𝒊</m:t>
                          </m:r>
                        </m:sub>
                      </m:sSub>
                      <m:r>
                        <a:rPr lang="en-US" altLang="ja-JP" sz="4400" b="1" i="1">
                          <a:latin typeface="Cambria Math" panose="02040503050406030204" pitchFamily="18" charset="0"/>
                        </a:rPr>
                        <m:t>)</m:t>
                      </m:r>
                    </m:oMath>
                  </m:oMathPara>
                </a14:m>
                <a:endParaRPr lang="en-US" altLang="ja-JP" sz="4400" b="1" dirty="0"/>
              </a:p>
            </p:txBody>
          </p:sp>
        </mc:Choice>
        <mc:Fallback xmlns="">
          <p:sp>
            <p:nvSpPr>
              <p:cNvPr id="3" name="テキスト ボックス 2">
                <a:extLst>
                  <a:ext uri="{FF2B5EF4-FFF2-40B4-BE49-F238E27FC236}">
                    <a16:creationId xmlns:a16="http://schemas.microsoft.com/office/drawing/2014/main" id="{305BB2E5-225F-96E7-7338-392F1BEC6FAC}"/>
                  </a:ext>
                </a:extLst>
              </p:cNvPr>
              <p:cNvSpPr txBox="1">
                <a:spLocks noRot="1" noChangeAspect="1" noMove="1" noResize="1" noEditPoints="1" noAdjustHandles="1" noChangeArrowheads="1" noChangeShapeType="1" noTextEdit="1"/>
              </p:cNvSpPr>
              <p:nvPr/>
            </p:nvSpPr>
            <p:spPr>
              <a:xfrm>
                <a:off x="659877" y="5047030"/>
                <a:ext cx="10649146" cy="83356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2994F8CA-2215-0061-ED14-0AAE2C03B5A8}"/>
                  </a:ext>
                </a:extLst>
              </p:cNvPr>
              <p:cNvSpPr txBox="1"/>
              <p:nvPr/>
            </p:nvSpPr>
            <p:spPr>
              <a:xfrm>
                <a:off x="659876" y="2133091"/>
                <a:ext cx="10426045" cy="701218"/>
              </a:xfrm>
              <a:prstGeom prst="rect">
                <a:avLst/>
              </a:prstGeom>
              <a:noFill/>
            </p:spPr>
            <p:txBody>
              <a:bodyPr wrap="square">
                <a:spAutoFit/>
              </a:bodyPr>
              <a:lstStyle/>
              <a:p>
                <a:pPr indent="114935"/>
                <a14:m>
                  <m:oMathPara xmlns:m="http://schemas.openxmlformats.org/officeDocument/2006/math">
                    <m:oMathParaPr>
                      <m:jc m:val="centerGroup"/>
                    </m:oMathParaPr>
                    <m:oMath xmlns:m="http://schemas.openxmlformats.org/officeDocument/2006/math">
                      <m:r>
                        <a:rPr lang="en-US" altLang="ja-JP" sz="3500" b="1" i="1" kern="100" smtClean="0">
                          <a:solidFill>
                            <a:srgbClr val="000000"/>
                          </a:solidFill>
                          <a:effectLst/>
                          <a:latin typeface="Cambria Math" panose="02040503050406030204" pitchFamily="18" charset="0"/>
                          <a:ea typeface="ＭＳ 明朝" panose="02020609040205080304" pitchFamily="17" charset="-128"/>
                        </a:rPr>
                        <m:t>𝑻𝑭</m:t>
                      </m:r>
                      <m:r>
                        <a:rPr lang="en-US" altLang="ja-JP" sz="3500" b="1" i="1" kern="100" smtClean="0">
                          <a:solidFill>
                            <a:srgbClr val="000000"/>
                          </a:solidFill>
                          <a:effectLst/>
                          <a:latin typeface="Cambria Math" panose="02040503050406030204" pitchFamily="18" charset="0"/>
                          <a:ea typeface="ＭＳ 明朝" panose="02020609040205080304" pitchFamily="17" charset="-128"/>
                        </a:rPr>
                        <m:t>(</m:t>
                      </m:r>
                      <m:sSub>
                        <m:sSubPr>
                          <m:ctrlPr>
                            <a:rPr lang="ja-JP" altLang="ja-JP" sz="3500" b="1" i="1" kern="100">
                              <a:solidFill>
                                <a:srgbClr val="000000"/>
                              </a:solidFill>
                              <a:effectLst/>
                              <a:latin typeface="Cambria Math" panose="02040503050406030204" pitchFamily="18" charset="0"/>
                              <a:ea typeface="Cambria Math" panose="02040503050406030204" pitchFamily="18" charset="0"/>
                            </a:rPr>
                          </m:ctrlPr>
                        </m:sSubPr>
                        <m:e>
                          <m:r>
                            <a:rPr lang="en-US" altLang="ja-JP" sz="3500" b="1" i="1" kern="100">
                              <a:solidFill>
                                <a:srgbClr val="000000"/>
                              </a:solidFill>
                              <a:effectLst/>
                              <a:latin typeface="Cambria Math" panose="02040503050406030204" pitchFamily="18" charset="0"/>
                              <a:ea typeface="ＭＳ 明朝" panose="02020609040205080304" pitchFamily="17" charset="-128"/>
                            </a:rPr>
                            <m:t>𝝎</m:t>
                          </m:r>
                        </m:e>
                        <m:sub>
                          <m:r>
                            <a:rPr lang="en-US" altLang="ja-JP" sz="3500" b="1" i="1" kern="100">
                              <a:solidFill>
                                <a:srgbClr val="000000"/>
                              </a:solidFill>
                              <a:effectLst/>
                              <a:latin typeface="Cambria Math" panose="02040503050406030204" pitchFamily="18" charset="0"/>
                              <a:ea typeface="ＭＳ 明朝" panose="02020609040205080304" pitchFamily="17" charset="-128"/>
                            </a:rPr>
                            <m:t>𝒊</m:t>
                          </m:r>
                        </m:sub>
                      </m:sSub>
                      <m:r>
                        <a:rPr lang="en-US" altLang="ja-JP" sz="3500" b="1" i="1" kern="100">
                          <a:solidFill>
                            <a:srgbClr val="000000"/>
                          </a:solidFill>
                          <a:effectLst/>
                          <a:latin typeface="Cambria Math" panose="02040503050406030204" pitchFamily="18" charset="0"/>
                          <a:ea typeface="ＭＳ 明朝" panose="02020609040205080304" pitchFamily="17" charset="-128"/>
                        </a:rPr>
                        <m:t>,</m:t>
                      </m:r>
                      <m:sSub>
                        <m:sSubPr>
                          <m:ctrlPr>
                            <a:rPr lang="ja-JP" altLang="ja-JP" sz="3500" b="1" i="1" kern="100">
                              <a:solidFill>
                                <a:srgbClr val="000000"/>
                              </a:solidFill>
                              <a:effectLst/>
                              <a:latin typeface="Cambria Math" panose="02040503050406030204" pitchFamily="18" charset="0"/>
                              <a:ea typeface="Cambria Math" panose="02040503050406030204" pitchFamily="18" charset="0"/>
                            </a:rPr>
                          </m:ctrlPr>
                        </m:sSubPr>
                        <m:e>
                          <m:r>
                            <a:rPr lang="en-US" altLang="ja-JP" sz="3500" b="1" i="1" kern="100">
                              <a:solidFill>
                                <a:srgbClr val="000000"/>
                              </a:solidFill>
                              <a:effectLst/>
                              <a:latin typeface="Cambria Math" panose="02040503050406030204" pitchFamily="18" charset="0"/>
                              <a:ea typeface="ＭＳ 明朝" panose="02020609040205080304" pitchFamily="17" charset="-128"/>
                            </a:rPr>
                            <m:t>𝑫</m:t>
                          </m:r>
                        </m:e>
                        <m:sub>
                          <m:r>
                            <a:rPr lang="en-US" altLang="ja-JP" sz="3500" b="1" i="1" kern="100">
                              <a:solidFill>
                                <a:srgbClr val="000000"/>
                              </a:solidFill>
                              <a:effectLst/>
                              <a:latin typeface="Cambria Math" panose="02040503050406030204" pitchFamily="18" charset="0"/>
                              <a:ea typeface="ＭＳ 明朝" panose="02020609040205080304" pitchFamily="17" charset="-128"/>
                            </a:rPr>
                            <m:t>𝒋</m:t>
                          </m:r>
                        </m:sub>
                      </m:sSub>
                      <m:r>
                        <a:rPr lang="en-US" altLang="ja-JP" sz="3500" b="1" i="1" kern="100">
                          <a:solidFill>
                            <a:srgbClr val="000000"/>
                          </a:solidFill>
                          <a:effectLst/>
                          <a:latin typeface="Cambria Math" panose="02040503050406030204" pitchFamily="18" charset="0"/>
                          <a:ea typeface="ＭＳ 明朝" panose="02020609040205080304" pitchFamily="17" charset="-128"/>
                        </a:rPr>
                        <m:t>)=</m:t>
                      </m:r>
                      <m:r>
                        <a:rPr lang="ja-JP" altLang="en-US" sz="3500" i="1" kern="100">
                          <a:solidFill>
                            <a:srgbClr val="000000"/>
                          </a:solidFill>
                          <a:latin typeface="Cambria Math" panose="02040503050406030204" pitchFamily="18" charset="0"/>
                          <a:ea typeface="UD デジタル 教科書体 NK-B" panose="02020700000000000000" pitchFamily="18" charset="-128"/>
                        </a:rPr>
                        <m:t>（</m:t>
                      </m:r>
                      <m:r>
                        <a:rPr lang="ja-JP" altLang="en-US" sz="3500" i="1" kern="100" dirty="0">
                          <a:solidFill>
                            <a:srgbClr val="000000"/>
                          </a:solidFill>
                          <a:latin typeface="Cambria Math" panose="02040503050406030204" pitchFamily="18" charset="0"/>
                          <a:ea typeface="UD デジタル 教科書体 NK-B" panose="02020700000000000000" pitchFamily="18" charset="-128"/>
                        </a:rPr>
                        <m:t>文書</m:t>
                      </m:r>
                      <m:sSub>
                        <m:sSubPr>
                          <m:ctrlPr>
                            <a:rPr lang="ja-JP" altLang="ja-JP" sz="3500" b="1" i="1" kern="100">
                              <a:solidFill>
                                <a:srgbClr val="000000"/>
                              </a:solidFill>
                              <a:latin typeface="Cambria Math" panose="02040503050406030204" pitchFamily="18" charset="0"/>
                              <a:ea typeface="Cambria Math" panose="02040503050406030204" pitchFamily="18" charset="0"/>
                            </a:rPr>
                          </m:ctrlPr>
                        </m:sSubPr>
                        <m:e>
                          <m:r>
                            <a:rPr lang="en-US" altLang="ja-JP" sz="3500" b="1" i="1" kern="100">
                              <a:solidFill>
                                <a:srgbClr val="000000"/>
                              </a:solidFill>
                              <a:latin typeface="Cambria Math" panose="02040503050406030204" pitchFamily="18" charset="0"/>
                              <a:ea typeface="ＭＳ 明朝" panose="02020609040205080304" pitchFamily="17" charset="-128"/>
                            </a:rPr>
                            <m:t>𝑫</m:t>
                          </m:r>
                        </m:e>
                        <m:sub>
                          <m:r>
                            <a:rPr lang="en-US" altLang="ja-JP" sz="3500" b="1" i="1" kern="100">
                              <a:solidFill>
                                <a:srgbClr val="000000"/>
                              </a:solidFill>
                              <a:latin typeface="Cambria Math" panose="02040503050406030204" pitchFamily="18" charset="0"/>
                              <a:ea typeface="ＭＳ 明朝" panose="02020609040205080304" pitchFamily="17" charset="-128"/>
                            </a:rPr>
                            <m:t>𝒋</m:t>
                          </m:r>
                        </m:sub>
                      </m:sSub>
                      <m:r>
                        <a:rPr lang="ja-JP" altLang="en-US" sz="3500" i="1" kern="100" dirty="0">
                          <a:solidFill>
                            <a:srgbClr val="000000"/>
                          </a:solidFill>
                          <a:latin typeface="Cambria Math" panose="02040503050406030204" pitchFamily="18" charset="0"/>
                          <a:ea typeface="UD デジタル 教科書体 NK-B" panose="02020700000000000000" pitchFamily="18" charset="-128"/>
                        </a:rPr>
                        <m:t>の中の単語</m:t>
                      </m:r>
                      <m:sSub>
                        <m:sSubPr>
                          <m:ctrlPr>
                            <a:rPr lang="ja-JP" altLang="ja-JP" sz="3500" b="1" i="1" kern="100">
                              <a:solidFill>
                                <a:srgbClr val="000000"/>
                              </a:solidFill>
                              <a:latin typeface="Cambria Math" panose="02040503050406030204" pitchFamily="18" charset="0"/>
                              <a:ea typeface="Cambria Math" panose="02040503050406030204" pitchFamily="18" charset="0"/>
                            </a:rPr>
                          </m:ctrlPr>
                        </m:sSubPr>
                        <m:e>
                          <m:r>
                            <a:rPr lang="en-US" altLang="ja-JP" sz="3500" b="1" i="1" kern="100">
                              <a:solidFill>
                                <a:srgbClr val="000000"/>
                              </a:solidFill>
                              <a:latin typeface="Cambria Math" panose="02040503050406030204" pitchFamily="18" charset="0"/>
                              <a:ea typeface="ＭＳ 明朝" panose="02020609040205080304" pitchFamily="17" charset="-128"/>
                            </a:rPr>
                            <m:t>𝝎</m:t>
                          </m:r>
                        </m:e>
                        <m:sub>
                          <m:r>
                            <a:rPr lang="en-US" altLang="ja-JP" sz="3500" b="1" i="1" kern="100">
                              <a:solidFill>
                                <a:srgbClr val="000000"/>
                              </a:solidFill>
                              <a:latin typeface="Cambria Math" panose="02040503050406030204" pitchFamily="18" charset="0"/>
                              <a:ea typeface="ＭＳ 明朝" panose="02020609040205080304" pitchFamily="17" charset="-128"/>
                            </a:rPr>
                            <m:t>𝒊</m:t>
                          </m:r>
                        </m:sub>
                      </m:sSub>
                      <m:r>
                        <a:rPr lang="ja-JP" altLang="en-US" sz="3500" i="1" kern="100" dirty="0">
                          <a:solidFill>
                            <a:srgbClr val="000000"/>
                          </a:solidFill>
                          <a:latin typeface="Cambria Math" panose="02040503050406030204" pitchFamily="18" charset="0"/>
                          <a:ea typeface="UD デジタル 教科書体 NK-B" panose="02020700000000000000" pitchFamily="18" charset="-128"/>
                        </a:rPr>
                        <m:t>の</m:t>
                      </m:r>
                      <m:r>
                        <a:rPr lang="ja-JP" altLang="en-US" sz="3500" i="1" kern="100" dirty="0" smtClean="0">
                          <a:solidFill>
                            <a:srgbClr val="000000"/>
                          </a:solidFill>
                          <a:latin typeface="Cambria Math" panose="02040503050406030204" pitchFamily="18" charset="0"/>
                          <a:ea typeface="UD デジタル 教科書体 NK-B" panose="02020700000000000000" pitchFamily="18" charset="-128"/>
                        </a:rPr>
                        <m:t>出現頻度</m:t>
                      </m:r>
                      <m:r>
                        <a:rPr lang="ja-JP" altLang="en-US" sz="3500" i="1" kern="100" dirty="0">
                          <a:solidFill>
                            <a:srgbClr val="000000"/>
                          </a:solidFill>
                          <a:latin typeface="Cambria Math" panose="02040503050406030204" pitchFamily="18" charset="0"/>
                          <a:ea typeface="UD デジタル 教科書体 NK-B" panose="02020700000000000000" pitchFamily="18" charset="-128"/>
                        </a:rPr>
                        <m:t>）</m:t>
                      </m:r>
                    </m:oMath>
                  </m:oMathPara>
                </a14:m>
                <a:endParaRPr lang="en-US" altLang="ja-JP" sz="3500" b="0" kern="100" dirty="0">
                  <a:solidFill>
                    <a:srgbClr val="000000"/>
                  </a:solidFill>
                  <a:latin typeface="Cambria Math" panose="02040503050406030204" pitchFamily="18" charset="0"/>
                  <a:ea typeface="UD デジタル 教科書体 NK-B" panose="02020700000000000000" pitchFamily="18" charset="-128"/>
                </a:endParaRPr>
              </a:p>
            </p:txBody>
          </p:sp>
        </mc:Choice>
        <mc:Fallback xmlns="">
          <p:sp>
            <p:nvSpPr>
              <p:cNvPr id="5" name="テキスト ボックス 4">
                <a:extLst>
                  <a:ext uri="{FF2B5EF4-FFF2-40B4-BE49-F238E27FC236}">
                    <a16:creationId xmlns:a16="http://schemas.microsoft.com/office/drawing/2014/main" id="{2994F8CA-2215-0061-ED14-0AAE2C03B5A8}"/>
                  </a:ext>
                </a:extLst>
              </p:cNvPr>
              <p:cNvSpPr txBox="1">
                <a:spLocks noRot="1" noChangeAspect="1" noMove="1" noResize="1" noEditPoints="1" noAdjustHandles="1" noChangeArrowheads="1" noChangeShapeType="1" noTextEdit="1"/>
              </p:cNvSpPr>
              <p:nvPr/>
            </p:nvSpPr>
            <p:spPr>
              <a:xfrm>
                <a:off x="659876" y="2133091"/>
                <a:ext cx="10426045" cy="701218"/>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A2E045C9-FDF0-6524-C094-BF75238181EA}"/>
                  </a:ext>
                </a:extLst>
              </p:cNvPr>
              <p:cNvSpPr txBox="1"/>
              <p:nvPr/>
            </p:nvSpPr>
            <p:spPr>
              <a:xfrm>
                <a:off x="1021240" y="2979680"/>
                <a:ext cx="10865956" cy="1329723"/>
              </a:xfrm>
              <a:prstGeom prst="rect">
                <a:avLst/>
              </a:prstGeom>
              <a:noFill/>
            </p:spPr>
            <p:txBody>
              <a:bodyPr wrap="square">
                <a:spAutoFit/>
              </a:bodyPr>
              <a:lstStyle/>
              <a:p>
                <a:pPr indent="114935"/>
                <a14:m>
                  <m:oMathPara xmlns:m="http://schemas.openxmlformats.org/officeDocument/2006/math">
                    <m:oMathParaPr>
                      <m:jc m:val="center"/>
                    </m:oMathParaPr>
                    <m:oMath xmlns:m="http://schemas.openxmlformats.org/officeDocument/2006/math">
                      <m:r>
                        <a:rPr lang="en-US" altLang="ja-JP" sz="3500" i="1" kern="100">
                          <a:solidFill>
                            <a:srgbClr val="000000"/>
                          </a:solidFill>
                          <a:latin typeface="Cambria Math" panose="02040503050406030204" pitchFamily="18" charset="0"/>
                          <a:ea typeface="UD デジタル 教科書体 NK-B" panose="02020700000000000000" pitchFamily="18" charset="-128"/>
                        </a:rPr>
                        <m:t>𝑰𝑫𝑭</m:t>
                      </m:r>
                      <m:r>
                        <a:rPr lang="en-US" altLang="ja-JP" sz="3500" i="1" kern="100">
                          <a:solidFill>
                            <a:srgbClr val="000000"/>
                          </a:solidFill>
                          <a:latin typeface="Cambria Math" panose="02040503050406030204" pitchFamily="18" charset="0"/>
                          <a:ea typeface="UD デジタル 教科書体 NK-B" panose="02020700000000000000" pitchFamily="18" charset="-128"/>
                        </a:rPr>
                        <m:t>(</m:t>
                      </m:r>
                      <m:sSub>
                        <m:sSubPr>
                          <m:ctrlPr>
                            <a:rPr lang="ja-JP" altLang="ja-JP" sz="3500" i="1" kern="100">
                              <a:solidFill>
                                <a:srgbClr val="000000"/>
                              </a:solidFill>
                              <a:latin typeface="Cambria Math" panose="02040503050406030204" pitchFamily="18" charset="0"/>
                              <a:ea typeface="UD デジタル 教科書体 NK-B" panose="02020700000000000000" pitchFamily="18" charset="-128"/>
                            </a:rPr>
                          </m:ctrlPr>
                        </m:sSubPr>
                        <m:e>
                          <m:r>
                            <a:rPr lang="en-US" altLang="ja-JP" sz="3500" i="1" kern="100">
                              <a:solidFill>
                                <a:srgbClr val="000000"/>
                              </a:solidFill>
                              <a:latin typeface="Cambria Math" panose="02040503050406030204" pitchFamily="18" charset="0"/>
                              <a:ea typeface="UD デジタル 教科書体 NK-B" panose="02020700000000000000" pitchFamily="18" charset="-128"/>
                            </a:rPr>
                            <m:t>𝝎</m:t>
                          </m:r>
                        </m:e>
                        <m:sub>
                          <m:r>
                            <a:rPr lang="en-US" altLang="ja-JP" sz="3500" i="1" kern="100">
                              <a:solidFill>
                                <a:srgbClr val="000000"/>
                              </a:solidFill>
                              <a:latin typeface="Cambria Math" panose="02040503050406030204" pitchFamily="18" charset="0"/>
                              <a:ea typeface="UD デジタル 教科書体 NK-B" panose="02020700000000000000" pitchFamily="18" charset="-128"/>
                            </a:rPr>
                            <m:t>𝒊</m:t>
                          </m:r>
                        </m:sub>
                      </m:sSub>
                      <m:r>
                        <a:rPr lang="en-US" altLang="ja-JP" sz="3500" i="1" kern="100">
                          <a:solidFill>
                            <a:srgbClr val="000000"/>
                          </a:solidFill>
                          <a:latin typeface="Cambria Math" panose="02040503050406030204" pitchFamily="18" charset="0"/>
                          <a:ea typeface="UD デジタル 教科書体 NK-B" panose="02020700000000000000" pitchFamily="18" charset="-128"/>
                        </a:rPr>
                        <m:t>)=</m:t>
                      </m:r>
                      <m:func>
                        <m:funcPr>
                          <m:ctrlPr>
                            <a:rPr lang="ja-JP" altLang="ja-JP" sz="3500" i="1" kern="100">
                              <a:solidFill>
                                <a:srgbClr val="000000"/>
                              </a:solidFill>
                              <a:latin typeface="Cambria Math" panose="02040503050406030204" pitchFamily="18" charset="0"/>
                              <a:ea typeface="UD デジタル 教科書体 NK-B" panose="02020700000000000000" pitchFamily="18" charset="-128"/>
                            </a:rPr>
                          </m:ctrlPr>
                        </m:funcPr>
                        <m:fName>
                          <m:r>
                            <a:rPr lang="en-US" altLang="ja-JP" sz="3500" i="1" kern="100">
                              <a:solidFill>
                                <a:srgbClr val="000000"/>
                              </a:solidFill>
                              <a:latin typeface="Cambria Math" panose="02040503050406030204" pitchFamily="18" charset="0"/>
                              <a:ea typeface="UD デジタル 教科書体 NK-B" panose="02020700000000000000" pitchFamily="18" charset="-128"/>
                            </a:rPr>
                            <m:t>𝒍𝒐𝒈</m:t>
                          </m:r>
                        </m:fName>
                        <m:e>
                          <m:f>
                            <m:fPr>
                              <m:ctrlPr>
                                <a:rPr lang="ja-JP" altLang="ja-JP" sz="3500" i="1" kern="100">
                                  <a:solidFill>
                                    <a:srgbClr val="000000"/>
                                  </a:solidFill>
                                  <a:latin typeface="Cambria Math" panose="02040503050406030204" pitchFamily="18" charset="0"/>
                                  <a:ea typeface="UD デジタル 教科書体 NK-B" panose="02020700000000000000" pitchFamily="18" charset="-128"/>
                                </a:rPr>
                              </m:ctrlPr>
                            </m:fPr>
                            <m:num>
                              <m:r>
                                <a:rPr lang="ja-JP" altLang="en-US" sz="3500" i="1" kern="100">
                                  <a:solidFill>
                                    <a:srgbClr val="000000"/>
                                  </a:solidFill>
                                  <a:latin typeface="Cambria Math" panose="02040503050406030204" pitchFamily="18" charset="0"/>
                                  <a:ea typeface="UD デジタル 教科書体 NK-B" panose="02020700000000000000" pitchFamily="18" charset="-128"/>
                                </a:rPr>
                                <m:t>（</m:t>
                              </m:r>
                              <m:r>
                                <a:rPr lang="ja-JP" altLang="en-US" sz="3500" i="1" kern="100" dirty="0">
                                  <a:solidFill>
                                    <a:srgbClr val="000000"/>
                                  </a:solidFill>
                                  <a:latin typeface="Cambria Math" panose="02040503050406030204" pitchFamily="18" charset="0"/>
                                  <a:ea typeface="UD デジタル 教科書体 NK-B" panose="02020700000000000000" pitchFamily="18" charset="-128"/>
                                </a:rPr>
                                <m:t>全文書数</m:t>
                              </m:r>
                              <m:r>
                                <a:rPr lang="en-US" altLang="ja-JP" sz="3500" i="1" kern="100">
                                  <a:solidFill>
                                    <a:srgbClr val="000000"/>
                                  </a:solidFill>
                                  <a:latin typeface="Cambria Math" panose="02040503050406030204" pitchFamily="18" charset="0"/>
                                  <a:ea typeface="UD デジタル 教科書体 NK-B" panose="02020700000000000000" pitchFamily="18" charset="-128"/>
                                </a:rPr>
                                <m:t>𝑵</m:t>
                              </m:r>
                              <m:r>
                                <a:rPr lang="ja-JP" altLang="en-US" sz="3500" i="1" kern="100">
                                  <a:solidFill>
                                    <a:srgbClr val="000000"/>
                                  </a:solidFill>
                                  <a:latin typeface="Cambria Math" panose="02040503050406030204" pitchFamily="18" charset="0"/>
                                  <a:ea typeface="UD デジタル 教科書体 NK-B" panose="02020700000000000000" pitchFamily="18" charset="-128"/>
                                </a:rPr>
                                <m:t>）＋１</m:t>
                              </m:r>
                            </m:num>
                            <m:den>
                              <m:r>
                                <a:rPr lang="ja-JP" altLang="en-US" sz="3500" i="1" kern="100" dirty="0">
                                  <a:solidFill>
                                    <a:srgbClr val="000000"/>
                                  </a:solidFill>
                                  <a:latin typeface="Cambria Math" panose="02040503050406030204" pitchFamily="18" charset="0"/>
                                  <a:ea typeface="UD デジタル 教科書体 NK-B" panose="02020700000000000000" pitchFamily="18" charset="-128"/>
                                </a:rPr>
                                <m:t>（</m:t>
                              </m:r>
                              <m:r>
                                <m:rPr>
                                  <m:nor/>
                                </m:rPr>
                                <a:rPr lang="ja-JP" altLang="en-US" sz="3500" kern="100" dirty="0">
                                  <a:solidFill>
                                    <a:srgbClr val="000000"/>
                                  </a:solidFill>
                                  <a:latin typeface="Cambria Math" panose="02040503050406030204" pitchFamily="18" charset="0"/>
                                  <a:ea typeface="UD デジタル 教科書体 NK-B" panose="02020700000000000000" pitchFamily="18" charset="-128"/>
                                </a:rPr>
                                <m:t>単語</m:t>
                              </m:r>
                              <m:sSub>
                                <m:sSubPr>
                                  <m:ctrlPr>
                                    <a:rPr lang="ja-JP" altLang="ja-JP" sz="3500" i="1" kern="100">
                                      <a:solidFill>
                                        <a:srgbClr val="000000"/>
                                      </a:solidFill>
                                      <a:latin typeface="Cambria Math" panose="02040503050406030204" pitchFamily="18" charset="0"/>
                                      <a:ea typeface="UD デジタル 教科書体 NK-B" panose="02020700000000000000" pitchFamily="18" charset="-128"/>
                                    </a:rPr>
                                  </m:ctrlPr>
                                </m:sSubPr>
                                <m:e>
                                  <m:r>
                                    <a:rPr lang="en-US" altLang="ja-JP" sz="3500" i="1" kern="100">
                                      <a:solidFill>
                                        <a:srgbClr val="000000"/>
                                      </a:solidFill>
                                      <a:latin typeface="Cambria Math" panose="02040503050406030204" pitchFamily="18" charset="0"/>
                                      <a:ea typeface="UD デジタル 教科書体 NK-B" panose="02020700000000000000" pitchFamily="18" charset="-128"/>
                                    </a:rPr>
                                    <m:t>𝝎</m:t>
                                  </m:r>
                                </m:e>
                                <m:sub>
                                  <m:r>
                                    <a:rPr lang="en-US" altLang="ja-JP" sz="3500" i="1" kern="100">
                                      <a:solidFill>
                                        <a:srgbClr val="000000"/>
                                      </a:solidFill>
                                      <a:latin typeface="Cambria Math" panose="02040503050406030204" pitchFamily="18" charset="0"/>
                                      <a:ea typeface="UD デジタル 教科書体 NK-B" panose="02020700000000000000" pitchFamily="18" charset="-128"/>
                                    </a:rPr>
                                    <m:t>𝒊</m:t>
                                  </m:r>
                                </m:sub>
                              </m:sSub>
                              <m:r>
                                <a:rPr lang="ja-JP" altLang="en-US" sz="3500" i="1" kern="100" dirty="0">
                                  <a:solidFill>
                                    <a:srgbClr val="000000"/>
                                  </a:solidFill>
                                  <a:latin typeface="Cambria Math" panose="02040503050406030204" pitchFamily="18" charset="0"/>
                                  <a:ea typeface="UD デジタル 教科書体 NK-B" panose="02020700000000000000" pitchFamily="18" charset="-128"/>
                                </a:rPr>
                                <m:t>が登場する文書数</m:t>
                              </m:r>
                              <m:sSub>
                                <m:sSubPr>
                                  <m:ctrlPr>
                                    <a:rPr lang="ja-JP" altLang="ja-JP" sz="3500" i="1" kern="100">
                                      <a:solidFill>
                                        <a:srgbClr val="000000"/>
                                      </a:solidFill>
                                      <a:latin typeface="Cambria Math" panose="02040503050406030204" pitchFamily="18" charset="0"/>
                                      <a:ea typeface="UD デジタル 教科書体 NK-B" panose="02020700000000000000" pitchFamily="18" charset="-128"/>
                                    </a:rPr>
                                  </m:ctrlPr>
                                </m:sSubPr>
                                <m:e>
                                  <m:r>
                                    <a:rPr lang="en-US" altLang="ja-JP" sz="3500" i="1" kern="100">
                                      <a:solidFill>
                                        <a:srgbClr val="000000"/>
                                      </a:solidFill>
                                      <a:latin typeface="Cambria Math" panose="02040503050406030204" pitchFamily="18" charset="0"/>
                                      <a:ea typeface="UD デジタル 教科書体 NK-B" panose="02020700000000000000" pitchFamily="18" charset="-128"/>
                                    </a:rPr>
                                    <m:t>𝒏</m:t>
                                  </m:r>
                                </m:e>
                                <m:sub>
                                  <m:r>
                                    <a:rPr lang="en-US" altLang="ja-JP" sz="3500" i="1" kern="100">
                                      <a:solidFill>
                                        <a:srgbClr val="000000"/>
                                      </a:solidFill>
                                      <a:latin typeface="Cambria Math" panose="02040503050406030204" pitchFamily="18" charset="0"/>
                                      <a:ea typeface="UD デジタル 教科書体 NK-B" panose="02020700000000000000" pitchFamily="18" charset="-128"/>
                                    </a:rPr>
                                    <m:t>𝒊</m:t>
                                  </m:r>
                                </m:sub>
                              </m:sSub>
                              <m:r>
                                <a:rPr lang="ja-JP" altLang="en-US" sz="3500" i="1" kern="100">
                                  <a:solidFill>
                                    <a:srgbClr val="000000"/>
                                  </a:solidFill>
                                  <a:latin typeface="Cambria Math" panose="02040503050406030204" pitchFamily="18" charset="0"/>
                                  <a:ea typeface="UD デジタル 教科書体 NK-B" panose="02020700000000000000" pitchFamily="18" charset="-128"/>
                                </a:rPr>
                                <m:t>）＋１</m:t>
                              </m:r>
                            </m:den>
                          </m:f>
                        </m:e>
                      </m:func>
                      <m:r>
                        <a:rPr lang="ja-JP" altLang="en-US" sz="3500" i="1" kern="100">
                          <a:solidFill>
                            <a:srgbClr val="000000"/>
                          </a:solidFill>
                          <a:latin typeface="Cambria Math" panose="02040503050406030204" pitchFamily="18" charset="0"/>
                          <a:ea typeface="UD デジタル 教科書体 NK-B" panose="02020700000000000000" pitchFamily="18" charset="-128"/>
                        </a:rPr>
                        <m:t>＋１</m:t>
                      </m:r>
                    </m:oMath>
                  </m:oMathPara>
                </a14:m>
                <a:endParaRPr lang="ja-JP" altLang="ja-JP" sz="3500" i="1" kern="100" dirty="0">
                  <a:solidFill>
                    <a:srgbClr val="000000"/>
                  </a:solidFill>
                  <a:latin typeface="Cambria Math" panose="02040503050406030204" pitchFamily="18" charset="0"/>
                  <a:ea typeface="UD デジタル 教科書体 NK-B" panose="02020700000000000000" pitchFamily="18" charset="-128"/>
                </a:endParaRPr>
              </a:p>
            </p:txBody>
          </p:sp>
        </mc:Choice>
        <mc:Fallback xmlns="">
          <p:sp>
            <p:nvSpPr>
              <p:cNvPr id="6" name="テキスト ボックス 5">
                <a:extLst>
                  <a:ext uri="{FF2B5EF4-FFF2-40B4-BE49-F238E27FC236}">
                    <a16:creationId xmlns:a16="http://schemas.microsoft.com/office/drawing/2014/main" id="{A2E045C9-FDF0-6524-C094-BF75238181EA}"/>
                  </a:ext>
                </a:extLst>
              </p:cNvPr>
              <p:cNvSpPr txBox="1">
                <a:spLocks noRot="1" noChangeAspect="1" noMove="1" noResize="1" noEditPoints="1" noAdjustHandles="1" noChangeArrowheads="1" noChangeShapeType="1" noTextEdit="1"/>
              </p:cNvSpPr>
              <p:nvPr/>
            </p:nvSpPr>
            <p:spPr>
              <a:xfrm>
                <a:off x="1021240" y="2979680"/>
                <a:ext cx="10865956" cy="1329723"/>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4840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矢印: V 字型 3">
            <a:extLst>
              <a:ext uri="{FF2B5EF4-FFF2-40B4-BE49-F238E27FC236}">
                <a16:creationId xmlns:a16="http://schemas.microsoft.com/office/drawing/2014/main" id="{55BEA630-FD2F-54EA-6CC0-320B6DFF96EA}"/>
              </a:ext>
            </a:extLst>
          </p:cNvPr>
          <p:cNvSpPr/>
          <p:nvPr/>
        </p:nvSpPr>
        <p:spPr>
          <a:xfrm>
            <a:off x="196780" y="2872160"/>
            <a:ext cx="11798439" cy="2271087"/>
          </a:xfrm>
          <a:prstGeom prst="notched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ja-JP" altLang="en-US"/>
          </a:p>
        </p:txBody>
      </p:sp>
      <p:sp>
        <p:nvSpPr>
          <p:cNvPr id="6" name="楕円 5">
            <a:extLst>
              <a:ext uri="{FF2B5EF4-FFF2-40B4-BE49-F238E27FC236}">
                <a16:creationId xmlns:a16="http://schemas.microsoft.com/office/drawing/2014/main" id="{9673CEF8-EC7B-A0E8-A175-A991526138F6}"/>
              </a:ext>
            </a:extLst>
          </p:cNvPr>
          <p:cNvSpPr/>
          <p:nvPr/>
        </p:nvSpPr>
        <p:spPr>
          <a:xfrm>
            <a:off x="2102522" y="3686238"/>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7" name="楕円 6">
            <a:extLst>
              <a:ext uri="{FF2B5EF4-FFF2-40B4-BE49-F238E27FC236}">
                <a16:creationId xmlns:a16="http://schemas.microsoft.com/office/drawing/2014/main" id="{988AC9C3-9290-8183-16AC-D148077BAE51}"/>
              </a:ext>
            </a:extLst>
          </p:cNvPr>
          <p:cNvSpPr/>
          <p:nvPr/>
        </p:nvSpPr>
        <p:spPr>
          <a:xfrm>
            <a:off x="5464963" y="3720896"/>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8" name="楕円 7">
            <a:extLst>
              <a:ext uri="{FF2B5EF4-FFF2-40B4-BE49-F238E27FC236}">
                <a16:creationId xmlns:a16="http://schemas.microsoft.com/office/drawing/2014/main" id="{B48219D8-028D-5EE1-8AEA-466B3DD1ADD2}"/>
              </a:ext>
            </a:extLst>
          </p:cNvPr>
          <p:cNvSpPr/>
          <p:nvPr/>
        </p:nvSpPr>
        <p:spPr>
          <a:xfrm>
            <a:off x="9773958" y="3686238"/>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9" name="正方形/長方形 8">
            <a:extLst>
              <a:ext uri="{FF2B5EF4-FFF2-40B4-BE49-F238E27FC236}">
                <a16:creationId xmlns:a16="http://schemas.microsoft.com/office/drawing/2014/main" id="{7CA27631-6056-C4BF-0D30-5E93BA3D797E}"/>
              </a:ext>
            </a:extLst>
          </p:cNvPr>
          <p:cNvSpPr/>
          <p:nvPr/>
        </p:nvSpPr>
        <p:spPr>
          <a:xfrm>
            <a:off x="0" y="-18853"/>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E2E8C379-F8BB-9074-FC07-7878E6E0846B}"/>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仮説設定：研究経緯</a:t>
            </a:r>
            <a:endParaRPr lang="en-US" altLang="ja-JP" sz="2100" b="1" dirty="0">
              <a:solidFill>
                <a:schemeClr val="bg1"/>
              </a:solidFill>
              <a:latin typeface="UD デジタル 教科書体 NK-B" panose="02020700000000000000" pitchFamily="18" charset="-128"/>
              <a:ea typeface="UD デジタル 教科書体 NK-B" panose="02020700000000000000" pitchFamily="18" charset="-128"/>
            </a:endParaRPr>
          </a:p>
          <a:p>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1" name="テキスト ボックス 10">
            <a:extLst>
              <a:ext uri="{FF2B5EF4-FFF2-40B4-BE49-F238E27FC236}">
                <a16:creationId xmlns:a16="http://schemas.microsoft.com/office/drawing/2014/main" id="{EC2B4493-47AF-202D-8940-E4ED0D656F74}"/>
              </a:ext>
            </a:extLst>
          </p:cNvPr>
          <p:cNvSpPr txBox="1"/>
          <p:nvPr/>
        </p:nvSpPr>
        <p:spPr>
          <a:xfrm>
            <a:off x="-689329" y="1917011"/>
            <a:ext cx="6214737" cy="1077218"/>
          </a:xfrm>
          <a:prstGeom prst="rect">
            <a:avLst/>
          </a:prstGeom>
          <a:noFill/>
        </p:spPr>
        <p:txBody>
          <a:bodyPr wrap="square" rtlCol="0">
            <a:spAutoFit/>
          </a:bodyPr>
          <a:lstStyle/>
          <a:p>
            <a:pPr algn="ctr"/>
            <a:r>
              <a:rPr kumimoji="1" lang="en-US" altLang="ja-JP" sz="3200" dirty="0">
                <a:latin typeface="UD デジタル 教科書体 NK-B" panose="02020700000000000000" pitchFamily="18" charset="-128"/>
                <a:ea typeface="UD デジタル 教科書体 NK-B" panose="02020700000000000000" pitchFamily="18" charset="-128"/>
              </a:rPr>
              <a:t>IBM</a:t>
            </a:r>
            <a:r>
              <a:rPr lang="ja-JP" altLang="en-US" sz="3200" dirty="0">
                <a:latin typeface="UD デジタル 教科書体 NK-B" panose="02020700000000000000" pitchFamily="18" charset="-128"/>
                <a:ea typeface="UD デジタル 教科書体 NK-B" panose="02020700000000000000" pitchFamily="18" charset="-128"/>
              </a:rPr>
              <a:t> </a:t>
            </a:r>
            <a:r>
              <a:rPr kumimoji="1" lang="en-US" altLang="ja-JP" sz="3200" dirty="0">
                <a:latin typeface="UD デジタル 教科書体 NK-B" panose="02020700000000000000" pitchFamily="18" charset="-128"/>
                <a:ea typeface="UD デジタル 教科書体 NK-B" panose="02020700000000000000" pitchFamily="18" charset="-128"/>
              </a:rPr>
              <a:t>Watson</a:t>
            </a:r>
            <a:r>
              <a:rPr kumimoji="1" lang="ja-JP" altLang="en-US" sz="3200" dirty="0">
                <a:latin typeface="UD デジタル 教科書体 NK-B" panose="02020700000000000000" pitchFamily="18" charset="-128"/>
                <a:ea typeface="UD デジタル 教科書体 NK-B" panose="02020700000000000000" pitchFamily="18" charset="-128"/>
              </a:rPr>
              <a:t>の</a:t>
            </a:r>
            <a:endParaRPr kumimoji="1" lang="en-US" altLang="ja-JP" sz="3200" dirty="0">
              <a:latin typeface="UD デジタル 教科書体 NK-B" panose="02020700000000000000" pitchFamily="18" charset="-128"/>
              <a:ea typeface="UD デジタル 教科書体 NK-B" panose="02020700000000000000" pitchFamily="18" charset="-128"/>
            </a:endParaRPr>
          </a:p>
          <a:p>
            <a:pPr algn="ctr"/>
            <a:r>
              <a:rPr kumimoji="1" lang="ja-JP" altLang="en-US" sz="3200" dirty="0">
                <a:latin typeface="UD デジタル 教科書体 NK-B" panose="02020700000000000000" pitchFamily="18" charset="-128"/>
                <a:ea typeface="UD デジタル 教科書体 NK-B" panose="02020700000000000000" pitchFamily="18" charset="-128"/>
              </a:rPr>
              <a:t>効率的な学習方法について</a:t>
            </a:r>
          </a:p>
        </p:txBody>
      </p:sp>
      <p:sp>
        <p:nvSpPr>
          <p:cNvPr id="12" name="テキスト ボックス 11">
            <a:extLst>
              <a:ext uri="{FF2B5EF4-FFF2-40B4-BE49-F238E27FC236}">
                <a16:creationId xmlns:a16="http://schemas.microsoft.com/office/drawing/2014/main" id="{3A9EBD34-9579-6486-57B1-5FE29C423ECD}"/>
              </a:ext>
            </a:extLst>
          </p:cNvPr>
          <p:cNvSpPr txBox="1"/>
          <p:nvPr/>
        </p:nvSpPr>
        <p:spPr>
          <a:xfrm>
            <a:off x="2632668" y="5017625"/>
            <a:ext cx="6570699" cy="1077218"/>
          </a:xfrm>
          <a:prstGeom prst="rect">
            <a:avLst/>
          </a:prstGeom>
          <a:noFill/>
        </p:spPr>
        <p:txBody>
          <a:bodyPr wrap="square" rtlCol="0">
            <a:spAutoFit/>
          </a:bodyPr>
          <a:lstStyle/>
          <a:p>
            <a:pPr algn="ctr"/>
            <a:r>
              <a:rPr lang="ja-JP" altLang="en-US" sz="3200" dirty="0">
                <a:latin typeface="UD デジタル 教科書体 NK-B" panose="02020700000000000000" pitchFamily="18" charset="-128"/>
                <a:ea typeface="UD デジタル 教科書体 NK-B" panose="02020700000000000000" pitchFamily="18" charset="-128"/>
              </a:rPr>
              <a:t>二文書間での</a:t>
            </a:r>
            <a:endParaRPr lang="en-US" altLang="ja-JP" sz="3200" dirty="0">
              <a:latin typeface="UD デジタル 教科書体 NK-B" panose="02020700000000000000" pitchFamily="18" charset="-128"/>
              <a:ea typeface="UD デジタル 教科書体 NK-B" panose="02020700000000000000" pitchFamily="18" charset="-128"/>
            </a:endParaRPr>
          </a:p>
          <a:p>
            <a:pPr algn="ctr"/>
            <a:r>
              <a:rPr lang="ja-JP" altLang="en-US" sz="3200" dirty="0">
                <a:latin typeface="UD デジタル 教科書体 NK-B" panose="02020700000000000000" pitchFamily="18" charset="-128"/>
                <a:ea typeface="UD デジタル 教科書体 NK-B" panose="02020700000000000000" pitchFamily="18" charset="-128"/>
              </a:rPr>
              <a:t>類似度計算プログラム</a:t>
            </a:r>
            <a:endParaRPr kumimoji="1" lang="ja-JP" altLang="en-US" sz="3200" dirty="0">
              <a:latin typeface="UD デジタル 教科書体 NK-B" panose="02020700000000000000" pitchFamily="18" charset="-128"/>
              <a:ea typeface="UD デジタル 教科書体 NK-B" panose="02020700000000000000" pitchFamily="18" charset="-128"/>
            </a:endParaRPr>
          </a:p>
        </p:txBody>
      </p:sp>
      <p:sp>
        <p:nvSpPr>
          <p:cNvPr id="13" name="テキスト ボックス 12">
            <a:extLst>
              <a:ext uri="{FF2B5EF4-FFF2-40B4-BE49-F238E27FC236}">
                <a16:creationId xmlns:a16="http://schemas.microsoft.com/office/drawing/2014/main" id="{23CE76D8-F3F4-7AC4-CFDE-B05B95A6A453}"/>
              </a:ext>
            </a:extLst>
          </p:cNvPr>
          <p:cNvSpPr txBox="1"/>
          <p:nvPr/>
        </p:nvSpPr>
        <p:spPr>
          <a:xfrm>
            <a:off x="6488608" y="1885828"/>
            <a:ext cx="6570699" cy="1077218"/>
          </a:xfrm>
          <a:prstGeom prst="rect">
            <a:avLst/>
          </a:prstGeom>
          <a:noFill/>
        </p:spPr>
        <p:txBody>
          <a:bodyPr wrap="square" rtlCol="0">
            <a:spAutoFit/>
          </a:bodyPr>
          <a:lstStyle/>
          <a:p>
            <a:pPr algn="ctr"/>
            <a:r>
              <a:rPr kumimoji="1" lang="ja-JP" altLang="en-US" sz="3200" dirty="0">
                <a:latin typeface="UD デジタル 教科書体 NK-B" panose="02020700000000000000" pitchFamily="18" charset="-128"/>
                <a:ea typeface="UD デジタル 教科書体 NK-B" panose="02020700000000000000" pitchFamily="18" charset="-128"/>
              </a:rPr>
              <a:t>数学の質問文</a:t>
            </a:r>
            <a:endParaRPr kumimoji="1" lang="en-US" altLang="ja-JP" sz="3200" dirty="0">
              <a:latin typeface="UD デジタル 教科書体 NK-B" panose="02020700000000000000" pitchFamily="18" charset="-128"/>
              <a:ea typeface="UD デジタル 教科書体 NK-B" panose="02020700000000000000" pitchFamily="18" charset="-128"/>
            </a:endParaRPr>
          </a:p>
          <a:p>
            <a:pPr algn="ctr"/>
            <a:r>
              <a:rPr kumimoji="1" lang="ja-JP" altLang="en-US" sz="3200" dirty="0">
                <a:latin typeface="UD デジタル 教科書体 NK-B" panose="02020700000000000000" pitchFamily="18" charset="-128"/>
                <a:ea typeface="UD デジタル 教科書体 NK-B" panose="02020700000000000000" pitchFamily="18" charset="-128"/>
              </a:rPr>
              <a:t>分類プログラム</a:t>
            </a:r>
          </a:p>
        </p:txBody>
      </p:sp>
    </p:spTree>
    <p:extLst>
      <p:ext uri="{BB962C8B-B14F-4D97-AF65-F5344CB8AC3E}">
        <p14:creationId xmlns:p14="http://schemas.microsoft.com/office/powerpoint/2010/main" val="339510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矢印: V 字型 3">
            <a:extLst>
              <a:ext uri="{FF2B5EF4-FFF2-40B4-BE49-F238E27FC236}">
                <a16:creationId xmlns:a16="http://schemas.microsoft.com/office/drawing/2014/main" id="{55BEA630-FD2F-54EA-6CC0-320B6DFF96EA}"/>
              </a:ext>
            </a:extLst>
          </p:cNvPr>
          <p:cNvSpPr/>
          <p:nvPr/>
        </p:nvSpPr>
        <p:spPr>
          <a:xfrm>
            <a:off x="196780" y="2872160"/>
            <a:ext cx="11798439" cy="2271087"/>
          </a:xfrm>
          <a:prstGeom prst="notched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ja-JP" altLang="en-US"/>
          </a:p>
        </p:txBody>
      </p:sp>
      <p:sp>
        <p:nvSpPr>
          <p:cNvPr id="6" name="楕円 5">
            <a:extLst>
              <a:ext uri="{FF2B5EF4-FFF2-40B4-BE49-F238E27FC236}">
                <a16:creationId xmlns:a16="http://schemas.microsoft.com/office/drawing/2014/main" id="{9673CEF8-EC7B-A0E8-A175-A991526138F6}"/>
              </a:ext>
            </a:extLst>
          </p:cNvPr>
          <p:cNvSpPr/>
          <p:nvPr/>
        </p:nvSpPr>
        <p:spPr>
          <a:xfrm>
            <a:off x="2418039" y="3686238"/>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7" name="楕円 6">
            <a:extLst>
              <a:ext uri="{FF2B5EF4-FFF2-40B4-BE49-F238E27FC236}">
                <a16:creationId xmlns:a16="http://schemas.microsoft.com/office/drawing/2014/main" id="{988AC9C3-9290-8183-16AC-D148077BAE51}"/>
              </a:ext>
            </a:extLst>
          </p:cNvPr>
          <p:cNvSpPr/>
          <p:nvPr/>
        </p:nvSpPr>
        <p:spPr>
          <a:xfrm>
            <a:off x="8750312" y="3703157"/>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8" name="楕円 7">
            <a:extLst>
              <a:ext uri="{FF2B5EF4-FFF2-40B4-BE49-F238E27FC236}">
                <a16:creationId xmlns:a16="http://schemas.microsoft.com/office/drawing/2014/main" id="{B48219D8-028D-5EE1-8AEA-466B3DD1ADD2}"/>
              </a:ext>
            </a:extLst>
          </p:cNvPr>
          <p:cNvSpPr/>
          <p:nvPr/>
        </p:nvSpPr>
        <p:spPr>
          <a:xfrm>
            <a:off x="10256281" y="3686238"/>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9" name="正方形/長方形 8">
            <a:extLst>
              <a:ext uri="{FF2B5EF4-FFF2-40B4-BE49-F238E27FC236}">
                <a16:creationId xmlns:a16="http://schemas.microsoft.com/office/drawing/2014/main" id="{7CA27631-6056-C4BF-0D30-5E93BA3D797E}"/>
              </a:ext>
            </a:extLst>
          </p:cNvPr>
          <p:cNvSpPr/>
          <p:nvPr/>
        </p:nvSpPr>
        <p:spPr>
          <a:xfrm>
            <a:off x="0" y="-18853"/>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E2E8C379-F8BB-9074-FC07-7878E6E0846B}"/>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仮説設定：研究経緯</a:t>
            </a:r>
            <a:endParaRPr lang="en-US" altLang="ja-JP" sz="2100" b="1" dirty="0">
              <a:solidFill>
                <a:schemeClr val="bg1"/>
              </a:solidFill>
              <a:latin typeface="UD デジタル 教科書体 NK-B" panose="02020700000000000000" pitchFamily="18" charset="-128"/>
              <a:ea typeface="UD デジタル 教科書体 NK-B" panose="02020700000000000000" pitchFamily="18" charset="-128"/>
            </a:endParaRPr>
          </a:p>
          <a:p>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1" name="テキスト ボックス 10">
            <a:extLst>
              <a:ext uri="{FF2B5EF4-FFF2-40B4-BE49-F238E27FC236}">
                <a16:creationId xmlns:a16="http://schemas.microsoft.com/office/drawing/2014/main" id="{EC2B4493-47AF-202D-8940-E4ED0D656F74}"/>
              </a:ext>
            </a:extLst>
          </p:cNvPr>
          <p:cNvSpPr txBox="1"/>
          <p:nvPr/>
        </p:nvSpPr>
        <p:spPr>
          <a:xfrm>
            <a:off x="-373811" y="1942521"/>
            <a:ext cx="6214737" cy="1200329"/>
          </a:xfrm>
          <a:prstGeom prst="rect">
            <a:avLst/>
          </a:prstGeom>
          <a:noFill/>
        </p:spPr>
        <p:txBody>
          <a:bodyPr wrap="square" rtlCol="0">
            <a:spAutoFit/>
          </a:bodyPr>
          <a:lstStyle/>
          <a:p>
            <a:pPr algn="ctr"/>
            <a:r>
              <a:rPr kumimoji="1" lang="en-US" altLang="ja-JP" sz="3600" dirty="0">
                <a:latin typeface="UD デジタル 教科書体 NK-B" panose="02020700000000000000" pitchFamily="18" charset="-128"/>
                <a:ea typeface="UD デジタル 教科書体 NK-B" panose="02020700000000000000" pitchFamily="18" charset="-128"/>
              </a:rPr>
              <a:t>IBM</a:t>
            </a:r>
            <a:r>
              <a:rPr lang="ja-JP" altLang="en-US" sz="3600" dirty="0">
                <a:latin typeface="UD デジタル 教科書体 NK-B" panose="02020700000000000000" pitchFamily="18" charset="-128"/>
                <a:ea typeface="UD デジタル 教科書体 NK-B" panose="02020700000000000000" pitchFamily="18" charset="-128"/>
              </a:rPr>
              <a:t> </a:t>
            </a:r>
            <a:r>
              <a:rPr kumimoji="1" lang="en-US" altLang="ja-JP" sz="3600" dirty="0">
                <a:latin typeface="UD デジタル 教科書体 NK-B" panose="02020700000000000000" pitchFamily="18" charset="-128"/>
                <a:ea typeface="UD デジタル 教科書体 NK-B" panose="02020700000000000000" pitchFamily="18" charset="-128"/>
              </a:rPr>
              <a:t>Watson</a:t>
            </a:r>
            <a:r>
              <a:rPr kumimoji="1" lang="ja-JP" altLang="en-US" sz="3600" dirty="0">
                <a:latin typeface="UD デジタル 教科書体 NK-B" panose="02020700000000000000" pitchFamily="18" charset="-128"/>
                <a:ea typeface="UD デジタル 教科書体 NK-B" panose="02020700000000000000" pitchFamily="18" charset="-128"/>
              </a:rPr>
              <a:t>の</a:t>
            </a:r>
            <a:endParaRPr kumimoji="1" lang="en-US" altLang="ja-JP" sz="3600" dirty="0">
              <a:latin typeface="UD デジタル 教科書体 NK-B" panose="02020700000000000000" pitchFamily="18" charset="-128"/>
              <a:ea typeface="UD デジタル 教科書体 NK-B" panose="02020700000000000000" pitchFamily="18" charset="-128"/>
            </a:endParaRPr>
          </a:p>
          <a:p>
            <a:pPr algn="ctr"/>
            <a:r>
              <a:rPr kumimoji="1" lang="ja-JP" altLang="en-US" sz="3600" dirty="0">
                <a:latin typeface="UD デジタル 教科書体 NK-B" panose="02020700000000000000" pitchFamily="18" charset="-128"/>
                <a:ea typeface="UD デジタル 教科書体 NK-B" panose="02020700000000000000" pitchFamily="18" charset="-128"/>
              </a:rPr>
              <a:t>効率的な学習方法について</a:t>
            </a:r>
          </a:p>
        </p:txBody>
      </p:sp>
      <p:sp>
        <p:nvSpPr>
          <p:cNvPr id="12" name="テキスト ボックス 11">
            <a:extLst>
              <a:ext uri="{FF2B5EF4-FFF2-40B4-BE49-F238E27FC236}">
                <a16:creationId xmlns:a16="http://schemas.microsoft.com/office/drawing/2014/main" id="{3A9EBD34-9579-6486-57B1-5FE29C423ECD}"/>
              </a:ext>
            </a:extLst>
          </p:cNvPr>
          <p:cNvSpPr txBox="1"/>
          <p:nvPr/>
        </p:nvSpPr>
        <p:spPr>
          <a:xfrm>
            <a:off x="5780480" y="4927190"/>
            <a:ext cx="6570699" cy="830997"/>
          </a:xfrm>
          <a:prstGeom prst="rect">
            <a:avLst/>
          </a:prstGeom>
          <a:noFill/>
        </p:spPr>
        <p:txBody>
          <a:bodyPr wrap="square" rtlCol="0">
            <a:spAutoFit/>
          </a:bodyPr>
          <a:lstStyle/>
          <a:p>
            <a:pPr algn="ctr"/>
            <a:r>
              <a:rPr lang="ja-JP" altLang="en-US" sz="2400" dirty="0">
                <a:latin typeface="UD デジタル 教科書体 NK-B" panose="02020700000000000000" pitchFamily="18" charset="-128"/>
                <a:ea typeface="UD デジタル 教科書体 NK-B" panose="02020700000000000000" pitchFamily="18" charset="-128"/>
              </a:rPr>
              <a:t>二文書間での</a:t>
            </a:r>
            <a:endParaRPr lang="en-US" altLang="ja-JP" sz="2400" dirty="0">
              <a:latin typeface="UD デジタル 教科書体 NK-B" panose="02020700000000000000" pitchFamily="18" charset="-128"/>
              <a:ea typeface="UD デジタル 教科書体 NK-B" panose="02020700000000000000" pitchFamily="18" charset="-128"/>
            </a:endParaRPr>
          </a:p>
          <a:p>
            <a:pPr algn="ctr"/>
            <a:r>
              <a:rPr lang="ja-JP" altLang="en-US" sz="2400" dirty="0">
                <a:latin typeface="UD デジタル 教科書体 NK-B" panose="02020700000000000000" pitchFamily="18" charset="-128"/>
                <a:ea typeface="UD デジタル 教科書体 NK-B" panose="02020700000000000000" pitchFamily="18" charset="-128"/>
              </a:rPr>
              <a:t>類似度計算プログラム</a:t>
            </a:r>
            <a:endParaRPr kumimoji="1" lang="ja-JP" altLang="en-US" sz="2400" dirty="0">
              <a:latin typeface="UD デジタル 教科書体 NK-B" panose="02020700000000000000" pitchFamily="18" charset="-128"/>
              <a:ea typeface="UD デジタル 教科書体 NK-B" panose="02020700000000000000" pitchFamily="18" charset="-128"/>
            </a:endParaRPr>
          </a:p>
        </p:txBody>
      </p:sp>
      <p:sp>
        <p:nvSpPr>
          <p:cNvPr id="13" name="テキスト ボックス 12">
            <a:extLst>
              <a:ext uri="{FF2B5EF4-FFF2-40B4-BE49-F238E27FC236}">
                <a16:creationId xmlns:a16="http://schemas.microsoft.com/office/drawing/2014/main" id="{23CE76D8-F3F4-7AC4-CFDE-B05B95A6A453}"/>
              </a:ext>
            </a:extLst>
          </p:cNvPr>
          <p:cNvSpPr txBox="1"/>
          <p:nvPr/>
        </p:nvSpPr>
        <p:spPr>
          <a:xfrm>
            <a:off x="7128818" y="2149866"/>
            <a:ext cx="6570699" cy="830997"/>
          </a:xfrm>
          <a:prstGeom prst="rect">
            <a:avLst/>
          </a:prstGeom>
          <a:noFill/>
        </p:spPr>
        <p:txBody>
          <a:bodyPr wrap="square" rtlCol="0">
            <a:spAutoFit/>
          </a:bodyPr>
          <a:lstStyle/>
          <a:p>
            <a:pPr algn="ctr"/>
            <a:r>
              <a:rPr kumimoji="1" lang="ja-JP" altLang="en-US" sz="2400" dirty="0">
                <a:latin typeface="UD デジタル 教科書体 NK-B" panose="02020700000000000000" pitchFamily="18" charset="-128"/>
                <a:ea typeface="UD デジタル 教科書体 NK-B" panose="02020700000000000000" pitchFamily="18" charset="-128"/>
              </a:rPr>
              <a:t>数学の質問文</a:t>
            </a:r>
            <a:endParaRPr kumimoji="1" lang="en-US" altLang="ja-JP" sz="2400" dirty="0">
              <a:latin typeface="UD デジタル 教科書体 NK-B" panose="02020700000000000000" pitchFamily="18" charset="-128"/>
              <a:ea typeface="UD デジタル 教科書体 NK-B" panose="02020700000000000000" pitchFamily="18" charset="-128"/>
            </a:endParaRPr>
          </a:p>
          <a:p>
            <a:pPr algn="ctr"/>
            <a:r>
              <a:rPr kumimoji="1" lang="ja-JP" altLang="en-US" sz="2400" dirty="0">
                <a:latin typeface="UD デジタル 教科書体 NK-B" panose="02020700000000000000" pitchFamily="18" charset="-128"/>
                <a:ea typeface="UD デジタル 教科書体 NK-B" panose="02020700000000000000" pitchFamily="18" charset="-128"/>
              </a:rPr>
              <a:t>分類プログラム</a:t>
            </a:r>
          </a:p>
        </p:txBody>
      </p:sp>
      <p:sp>
        <p:nvSpPr>
          <p:cNvPr id="3" name="吹き出し: 角を丸めた四角形 2">
            <a:extLst>
              <a:ext uri="{FF2B5EF4-FFF2-40B4-BE49-F238E27FC236}">
                <a16:creationId xmlns:a16="http://schemas.microsoft.com/office/drawing/2014/main" id="{5654C8C3-B9BC-A794-028B-6FA4D7D5595C}"/>
              </a:ext>
            </a:extLst>
          </p:cNvPr>
          <p:cNvSpPr/>
          <p:nvPr/>
        </p:nvSpPr>
        <p:spPr>
          <a:xfrm>
            <a:off x="71261" y="5004077"/>
            <a:ext cx="7264036" cy="1616995"/>
          </a:xfrm>
          <a:prstGeom prst="wedgeRoundRectCallout">
            <a:avLst>
              <a:gd name="adj1" fmla="val -14372"/>
              <a:gd name="adj2" fmla="val -86020"/>
              <a:gd name="adj3" fmla="val 16667"/>
            </a:avLst>
          </a:prstGeom>
          <a:solidFill>
            <a:srgbClr val="7F7F7F"/>
          </a:solidFill>
          <a:ln w="38100">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89ACCE74-4CFB-6118-82EB-13A75E0402DA}"/>
              </a:ext>
            </a:extLst>
          </p:cNvPr>
          <p:cNvSpPr txBox="1"/>
          <p:nvPr/>
        </p:nvSpPr>
        <p:spPr>
          <a:xfrm>
            <a:off x="196780" y="5281995"/>
            <a:ext cx="6932037" cy="1261884"/>
          </a:xfrm>
          <a:prstGeom prst="rect">
            <a:avLst/>
          </a:prstGeom>
          <a:noFill/>
        </p:spPr>
        <p:txBody>
          <a:bodyPr wrap="square">
            <a:spAutoFit/>
          </a:bodyPr>
          <a:lstStyle/>
          <a:p>
            <a:r>
              <a:rPr lang="ja-JP" altLang="en-US" sz="4000" dirty="0">
                <a:solidFill>
                  <a:schemeClr val="bg1"/>
                </a:solidFill>
                <a:latin typeface="UD デジタル 教科書体 NK-B" panose="02020700000000000000" pitchFamily="18" charset="-128"/>
                <a:ea typeface="UD デジタル 教科書体 NK-B" panose="02020700000000000000" pitchFamily="18" charset="-128"/>
              </a:rPr>
              <a:t>内部処理の検討をおこなうべき</a:t>
            </a:r>
            <a:endParaRPr lang="en-US" altLang="ja-JP" sz="4000" dirty="0">
              <a:solidFill>
                <a:schemeClr val="bg1"/>
              </a:solidFill>
              <a:latin typeface="UD デジタル 教科書体 NK-B" panose="02020700000000000000" pitchFamily="18" charset="-128"/>
              <a:ea typeface="UD デジタル 教科書体 NK-B" panose="02020700000000000000" pitchFamily="18" charset="-128"/>
            </a:endParaRPr>
          </a:p>
          <a:p>
            <a:pPr algn="r"/>
            <a:r>
              <a:rPr lang="ja-JP" altLang="en-US" sz="3600" dirty="0">
                <a:solidFill>
                  <a:schemeClr val="bg1"/>
                </a:solidFill>
                <a:latin typeface="UD デジタル 教科書体 NK-B" panose="02020700000000000000" pitchFamily="18" charset="-128"/>
                <a:ea typeface="UD デジタル 教科書体 NK-B" panose="02020700000000000000" pitchFamily="18" charset="-128"/>
              </a:rPr>
              <a:t>と指摘を受ける</a:t>
            </a:r>
          </a:p>
        </p:txBody>
      </p:sp>
    </p:spTree>
    <p:extLst>
      <p:ext uri="{BB962C8B-B14F-4D97-AF65-F5344CB8AC3E}">
        <p14:creationId xmlns:p14="http://schemas.microsoft.com/office/powerpoint/2010/main" val="11545806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矢印: V 字型 3">
            <a:extLst>
              <a:ext uri="{FF2B5EF4-FFF2-40B4-BE49-F238E27FC236}">
                <a16:creationId xmlns:a16="http://schemas.microsoft.com/office/drawing/2014/main" id="{55BEA630-FD2F-54EA-6CC0-320B6DFF96EA}"/>
              </a:ext>
            </a:extLst>
          </p:cNvPr>
          <p:cNvSpPr/>
          <p:nvPr/>
        </p:nvSpPr>
        <p:spPr>
          <a:xfrm>
            <a:off x="196780" y="2872160"/>
            <a:ext cx="11798439" cy="2271087"/>
          </a:xfrm>
          <a:prstGeom prst="notched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ja-JP" altLang="en-US"/>
          </a:p>
        </p:txBody>
      </p:sp>
      <p:sp>
        <p:nvSpPr>
          <p:cNvPr id="6" name="楕円 5">
            <a:extLst>
              <a:ext uri="{FF2B5EF4-FFF2-40B4-BE49-F238E27FC236}">
                <a16:creationId xmlns:a16="http://schemas.microsoft.com/office/drawing/2014/main" id="{9673CEF8-EC7B-A0E8-A175-A991526138F6}"/>
              </a:ext>
            </a:extLst>
          </p:cNvPr>
          <p:cNvSpPr/>
          <p:nvPr/>
        </p:nvSpPr>
        <p:spPr>
          <a:xfrm>
            <a:off x="1104848" y="3703157"/>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7" name="楕円 6">
            <a:extLst>
              <a:ext uri="{FF2B5EF4-FFF2-40B4-BE49-F238E27FC236}">
                <a16:creationId xmlns:a16="http://schemas.microsoft.com/office/drawing/2014/main" id="{988AC9C3-9290-8183-16AC-D148077BAE51}"/>
              </a:ext>
            </a:extLst>
          </p:cNvPr>
          <p:cNvSpPr/>
          <p:nvPr/>
        </p:nvSpPr>
        <p:spPr>
          <a:xfrm>
            <a:off x="5273582" y="3703157"/>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8" name="楕円 7">
            <a:extLst>
              <a:ext uri="{FF2B5EF4-FFF2-40B4-BE49-F238E27FC236}">
                <a16:creationId xmlns:a16="http://schemas.microsoft.com/office/drawing/2014/main" id="{B48219D8-028D-5EE1-8AEA-466B3DD1ADD2}"/>
              </a:ext>
            </a:extLst>
          </p:cNvPr>
          <p:cNvSpPr/>
          <p:nvPr/>
        </p:nvSpPr>
        <p:spPr>
          <a:xfrm>
            <a:off x="10256281" y="3686238"/>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9" name="正方形/長方形 8">
            <a:extLst>
              <a:ext uri="{FF2B5EF4-FFF2-40B4-BE49-F238E27FC236}">
                <a16:creationId xmlns:a16="http://schemas.microsoft.com/office/drawing/2014/main" id="{7CA27631-6056-C4BF-0D30-5E93BA3D797E}"/>
              </a:ext>
            </a:extLst>
          </p:cNvPr>
          <p:cNvSpPr/>
          <p:nvPr/>
        </p:nvSpPr>
        <p:spPr>
          <a:xfrm>
            <a:off x="0" y="-18853"/>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E2E8C379-F8BB-9074-FC07-7878E6E0846B}"/>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仮説設定：研究経緯</a:t>
            </a:r>
            <a:endParaRPr lang="en-US" altLang="ja-JP" sz="2100" b="1" dirty="0">
              <a:solidFill>
                <a:schemeClr val="bg1"/>
              </a:solidFill>
              <a:latin typeface="UD デジタル 教科書体 NK-B" panose="02020700000000000000" pitchFamily="18" charset="-128"/>
              <a:ea typeface="UD デジタル 教科書体 NK-B" panose="02020700000000000000" pitchFamily="18" charset="-128"/>
            </a:endParaRPr>
          </a:p>
          <a:p>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1" name="テキスト ボックス 10">
            <a:extLst>
              <a:ext uri="{FF2B5EF4-FFF2-40B4-BE49-F238E27FC236}">
                <a16:creationId xmlns:a16="http://schemas.microsoft.com/office/drawing/2014/main" id="{EC2B4493-47AF-202D-8940-E4ED0D656F74}"/>
              </a:ext>
            </a:extLst>
          </p:cNvPr>
          <p:cNvSpPr txBox="1"/>
          <p:nvPr/>
        </p:nvSpPr>
        <p:spPr>
          <a:xfrm>
            <a:off x="-1566423" y="2617205"/>
            <a:ext cx="6214737" cy="707886"/>
          </a:xfrm>
          <a:prstGeom prst="rect">
            <a:avLst/>
          </a:prstGeom>
          <a:noFill/>
        </p:spPr>
        <p:txBody>
          <a:bodyPr wrap="square" rtlCol="0">
            <a:spAutoFit/>
          </a:bodyPr>
          <a:lstStyle/>
          <a:p>
            <a:pPr algn="ctr"/>
            <a:r>
              <a:rPr kumimoji="1" lang="en-US" altLang="ja-JP" sz="2000" dirty="0">
                <a:latin typeface="UD デジタル 教科書体 NK-B" panose="02020700000000000000" pitchFamily="18" charset="-128"/>
                <a:ea typeface="UD デジタル 教科書体 NK-B" panose="02020700000000000000" pitchFamily="18" charset="-128"/>
              </a:rPr>
              <a:t>IBM</a:t>
            </a:r>
            <a:r>
              <a:rPr lang="ja-JP" altLang="en-US" sz="2000" dirty="0">
                <a:latin typeface="UD デジタル 教科書体 NK-B" panose="02020700000000000000" pitchFamily="18" charset="-128"/>
                <a:ea typeface="UD デジタル 教科書体 NK-B" panose="02020700000000000000" pitchFamily="18" charset="-128"/>
              </a:rPr>
              <a:t> </a:t>
            </a:r>
            <a:r>
              <a:rPr kumimoji="1" lang="en-US" altLang="ja-JP" sz="2000" dirty="0">
                <a:latin typeface="UD デジタル 教科書体 NK-B" panose="02020700000000000000" pitchFamily="18" charset="-128"/>
                <a:ea typeface="UD デジタル 教科書体 NK-B" panose="02020700000000000000" pitchFamily="18" charset="-128"/>
              </a:rPr>
              <a:t>Watson</a:t>
            </a:r>
            <a:r>
              <a:rPr kumimoji="1" lang="ja-JP" altLang="en-US" sz="2000" dirty="0">
                <a:latin typeface="UD デジタル 教科書体 NK-B" panose="02020700000000000000" pitchFamily="18" charset="-128"/>
                <a:ea typeface="UD デジタル 教科書体 NK-B" panose="02020700000000000000" pitchFamily="18" charset="-128"/>
              </a:rPr>
              <a:t>の</a:t>
            </a:r>
            <a:endParaRPr kumimoji="1" lang="en-US" altLang="ja-JP" sz="2000" dirty="0">
              <a:latin typeface="UD デジタル 教科書体 NK-B" panose="02020700000000000000" pitchFamily="18" charset="-128"/>
              <a:ea typeface="UD デジタル 教科書体 NK-B" panose="02020700000000000000" pitchFamily="18" charset="-128"/>
            </a:endParaRPr>
          </a:p>
          <a:p>
            <a:pPr algn="ctr"/>
            <a:r>
              <a:rPr kumimoji="1" lang="ja-JP" altLang="en-US" sz="2000" dirty="0">
                <a:latin typeface="UD デジタル 教科書体 NK-B" panose="02020700000000000000" pitchFamily="18" charset="-128"/>
                <a:ea typeface="UD デジタル 教科書体 NK-B" panose="02020700000000000000" pitchFamily="18" charset="-128"/>
              </a:rPr>
              <a:t>効率的な学習方法について</a:t>
            </a:r>
          </a:p>
        </p:txBody>
      </p:sp>
      <p:sp>
        <p:nvSpPr>
          <p:cNvPr id="12" name="テキスト ボックス 11">
            <a:extLst>
              <a:ext uri="{FF2B5EF4-FFF2-40B4-BE49-F238E27FC236}">
                <a16:creationId xmlns:a16="http://schemas.microsoft.com/office/drawing/2014/main" id="{3A9EBD34-9579-6486-57B1-5FE29C423ECD}"/>
              </a:ext>
            </a:extLst>
          </p:cNvPr>
          <p:cNvSpPr txBox="1"/>
          <p:nvPr/>
        </p:nvSpPr>
        <p:spPr>
          <a:xfrm>
            <a:off x="2424330" y="5009165"/>
            <a:ext cx="6570699" cy="1077218"/>
          </a:xfrm>
          <a:prstGeom prst="rect">
            <a:avLst/>
          </a:prstGeom>
          <a:noFill/>
        </p:spPr>
        <p:txBody>
          <a:bodyPr wrap="square" rtlCol="0">
            <a:spAutoFit/>
          </a:bodyPr>
          <a:lstStyle/>
          <a:p>
            <a:pPr algn="ctr"/>
            <a:r>
              <a:rPr lang="ja-JP" altLang="en-US" sz="3200" dirty="0">
                <a:latin typeface="UD デジタル 教科書体 NK-B" panose="02020700000000000000" pitchFamily="18" charset="-128"/>
                <a:ea typeface="UD デジタル 教科書体 NK-B" panose="02020700000000000000" pitchFamily="18" charset="-128"/>
              </a:rPr>
              <a:t>二文書間での</a:t>
            </a:r>
            <a:endParaRPr lang="en-US" altLang="ja-JP" sz="3200" dirty="0">
              <a:latin typeface="UD デジタル 教科書体 NK-B" panose="02020700000000000000" pitchFamily="18" charset="-128"/>
              <a:ea typeface="UD デジタル 教科書体 NK-B" panose="02020700000000000000" pitchFamily="18" charset="-128"/>
            </a:endParaRPr>
          </a:p>
          <a:p>
            <a:pPr algn="ctr"/>
            <a:r>
              <a:rPr lang="ja-JP" altLang="en-US" sz="3200" dirty="0">
                <a:latin typeface="UD デジタル 教科書体 NK-B" panose="02020700000000000000" pitchFamily="18" charset="-128"/>
                <a:ea typeface="UD デジタル 教科書体 NK-B" panose="02020700000000000000" pitchFamily="18" charset="-128"/>
              </a:rPr>
              <a:t>類似度計算プログラム</a:t>
            </a:r>
            <a:endParaRPr kumimoji="1" lang="ja-JP" altLang="en-US" sz="3200" dirty="0">
              <a:latin typeface="UD デジタル 教科書体 NK-B" panose="02020700000000000000" pitchFamily="18" charset="-128"/>
              <a:ea typeface="UD デジタル 教科書体 NK-B" panose="02020700000000000000" pitchFamily="18" charset="-128"/>
            </a:endParaRPr>
          </a:p>
        </p:txBody>
      </p:sp>
      <p:sp>
        <p:nvSpPr>
          <p:cNvPr id="13" name="テキスト ボックス 12">
            <a:extLst>
              <a:ext uri="{FF2B5EF4-FFF2-40B4-BE49-F238E27FC236}">
                <a16:creationId xmlns:a16="http://schemas.microsoft.com/office/drawing/2014/main" id="{23CE76D8-F3F4-7AC4-CFDE-B05B95A6A453}"/>
              </a:ext>
            </a:extLst>
          </p:cNvPr>
          <p:cNvSpPr txBox="1"/>
          <p:nvPr/>
        </p:nvSpPr>
        <p:spPr>
          <a:xfrm>
            <a:off x="7128818" y="2149866"/>
            <a:ext cx="6570699" cy="830997"/>
          </a:xfrm>
          <a:prstGeom prst="rect">
            <a:avLst/>
          </a:prstGeom>
          <a:noFill/>
        </p:spPr>
        <p:txBody>
          <a:bodyPr wrap="square" rtlCol="0">
            <a:spAutoFit/>
          </a:bodyPr>
          <a:lstStyle/>
          <a:p>
            <a:pPr algn="ctr"/>
            <a:r>
              <a:rPr kumimoji="1" lang="ja-JP" altLang="en-US" sz="2400" dirty="0">
                <a:latin typeface="UD デジタル 教科書体 NK-B" panose="02020700000000000000" pitchFamily="18" charset="-128"/>
                <a:ea typeface="UD デジタル 教科書体 NK-B" panose="02020700000000000000" pitchFamily="18" charset="-128"/>
              </a:rPr>
              <a:t>数学の質問文</a:t>
            </a:r>
            <a:endParaRPr kumimoji="1" lang="en-US" altLang="ja-JP" sz="2400" dirty="0">
              <a:latin typeface="UD デジタル 教科書体 NK-B" panose="02020700000000000000" pitchFamily="18" charset="-128"/>
              <a:ea typeface="UD デジタル 教科書体 NK-B" panose="02020700000000000000" pitchFamily="18" charset="-128"/>
            </a:endParaRPr>
          </a:p>
          <a:p>
            <a:pPr algn="ctr"/>
            <a:r>
              <a:rPr kumimoji="1" lang="ja-JP" altLang="en-US" sz="2400" dirty="0">
                <a:latin typeface="UD デジタル 教科書体 NK-B" panose="02020700000000000000" pitchFamily="18" charset="-128"/>
                <a:ea typeface="UD デジタル 教科書体 NK-B" panose="02020700000000000000" pitchFamily="18" charset="-128"/>
              </a:rPr>
              <a:t>分類プログラム</a:t>
            </a:r>
          </a:p>
        </p:txBody>
      </p:sp>
      <p:sp>
        <p:nvSpPr>
          <p:cNvPr id="15" name="吹き出し: 角を丸めた四角形 14">
            <a:extLst>
              <a:ext uri="{FF2B5EF4-FFF2-40B4-BE49-F238E27FC236}">
                <a16:creationId xmlns:a16="http://schemas.microsoft.com/office/drawing/2014/main" id="{0F6D5811-297B-FB0C-31C9-85ABF216BEA1}"/>
              </a:ext>
            </a:extLst>
          </p:cNvPr>
          <p:cNvSpPr/>
          <p:nvPr/>
        </p:nvSpPr>
        <p:spPr>
          <a:xfrm>
            <a:off x="3990119" y="1587640"/>
            <a:ext cx="7465001" cy="1460042"/>
          </a:xfrm>
          <a:prstGeom prst="wedgeRoundRectCallout">
            <a:avLst>
              <a:gd name="adj1" fmla="val -28440"/>
              <a:gd name="adj2" fmla="val 85899"/>
              <a:gd name="adj3" fmla="val 16667"/>
            </a:avLst>
          </a:prstGeom>
          <a:solidFill>
            <a:srgbClr val="7F7F7F"/>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5A84F050-7CAD-026C-2EE4-1D37537EBB8B}"/>
              </a:ext>
            </a:extLst>
          </p:cNvPr>
          <p:cNvSpPr txBox="1"/>
          <p:nvPr/>
        </p:nvSpPr>
        <p:spPr>
          <a:xfrm>
            <a:off x="4105560" y="1724243"/>
            <a:ext cx="7349561" cy="1323439"/>
          </a:xfrm>
          <a:prstGeom prst="rect">
            <a:avLst/>
          </a:prstGeom>
          <a:noFill/>
        </p:spPr>
        <p:txBody>
          <a:bodyPr wrap="square">
            <a:spAutoFit/>
          </a:bodyPr>
          <a:lstStyle/>
          <a:p>
            <a:r>
              <a:rPr lang="en-US" altLang="ja-JP" sz="4000" dirty="0">
                <a:solidFill>
                  <a:schemeClr val="bg1"/>
                </a:solidFill>
                <a:latin typeface="UD デジタル 教科書体 NK-B" panose="02020700000000000000" pitchFamily="18" charset="-128"/>
                <a:ea typeface="UD デジタル 教科書体 NK-B" panose="02020700000000000000" pitchFamily="18" charset="-128"/>
              </a:rPr>
              <a:t>Watson</a:t>
            </a:r>
            <a:r>
              <a:rPr lang="ja-JP" altLang="en-US" sz="4000" dirty="0">
                <a:solidFill>
                  <a:schemeClr val="bg1"/>
                </a:solidFill>
                <a:latin typeface="UD デジタル 教科書体 NK-B" panose="02020700000000000000" pitchFamily="18" charset="-128"/>
                <a:ea typeface="UD デジタル 教科書体 NK-B" panose="02020700000000000000" pitchFamily="18" charset="-128"/>
              </a:rPr>
              <a:t>　</a:t>
            </a:r>
            <a:r>
              <a:rPr lang="en-US" altLang="ja-JP" sz="4000" dirty="0">
                <a:solidFill>
                  <a:schemeClr val="bg1"/>
                </a:solidFill>
                <a:latin typeface="UD デジタル 教科書体 NK-B" panose="02020700000000000000" pitchFamily="18" charset="-128"/>
                <a:ea typeface="UD デジタル 教科書体 NK-B" panose="02020700000000000000" pitchFamily="18" charset="-128"/>
              </a:rPr>
              <a:t>Assistant</a:t>
            </a:r>
            <a:r>
              <a:rPr lang="ja-JP" altLang="en-US" sz="4000" dirty="0">
                <a:solidFill>
                  <a:schemeClr val="bg1"/>
                </a:solidFill>
                <a:latin typeface="UD デジタル 教科書体 NK-B" panose="02020700000000000000" pitchFamily="18" charset="-128"/>
                <a:ea typeface="UD デジタル 教科書体 NK-B" panose="02020700000000000000" pitchFamily="18" charset="-128"/>
              </a:rPr>
              <a:t>の再現には機械学習の実装が必要</a:t>
            </a:r>
          </a:p>
        </p:txBody>
      </p:sp>
    </p:spTree>
    <p:extLst>
      <p:ext uri="{BB962C8B-B14F-4D97-AF65-F5344CB8AC3E}">
        <p14:creationId xmlns:p14="http://schemas.microsoft.com/office/powerpoint/2010/main" val="17633822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矢印: V 字型 3">
            <a:extLst>
              <a:ext uri="{FF2B5EF4-FFF2-40B4-BE49-F238E27FC236}">
                <a16:creationId xmlns:a16="http://schemas.microsoft.com/office/drawing/2014/main" id="{55BEA630-FD2F-54EA-6CC0-320B6DFF96EA}"/>
              </a:ext>
            </a:extLst>
          </p:cNvPr>
          <p:cNvSpPr/>
          <p:nvPr/>
        </p:nvSpPr>
        <p:spPr>
          <a:xfrm>
            <a:off x="196780" y="2872160"/>
            <a:ext cx="11798439" cy="2271087"/>
          </a:xfrm>
          <a:prstGeom prst="notched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ja-JP" altLang="en-US"/>
          </a:p>
        </p:txBody>
      </p:sp>
      <p:sp>
        <p:nvSpPr>
          <p:cNvPr id="6" name="楕円 5">
            <a:extLst>
              <a:ext uri="{FF2B5EF4-FFF2-40B4-BE49-F238E27FC236}">
                <a16:creationId xmlns:a16="http://schemas.microsoft.com/office/drawing/2014/main" id="{9673CEF8-EC7B-A0E8-A175-A991526138F6}"/>
              </a:ext>
            </a:extLst>
          </p:cNvPr>
          <p:cNvSpPr/>
          <p:nvPr/>
        </p:nvSpPr>
        <p:spPr>
          <a:xfrm>
            <a:off x="1104848" y="3703157"/>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7" name="楕円 6">
            <a:extLst>
              <a:ext uri="{FF2B5EF4-FFF2-40B4-BE49-F238E27FC236}">
                <a16:creationId xmlns:a16="http://schemas.microsoft.com/office/drawing/2014/main" id="{988AC9C3-9290-8183-16AC-D148077BAE51}"/>
              </a:ext>
            </a:extLst>
          </p:cNvPr>
          <p:cNvSpPr/>
          <p:nvPr/>
        </p:nvSpPr>
        <p:spPr>
          <a:xfrm>
            <a:off x="2427575" y="3703157"/>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8" name="楕円 7">
            <a:extLst>
              <a:ext uri="{FF2B5EF4-FFF2-40B4-BE49-F238E27FC236}">
                <a16:creationId xmlns:a16="http://schemas.microsoft.com/office/drawing/2014/main" id="{B48219D8-028D-5EE1-8AEA-466B3DD1ADD2}"/>
              </a:ext>
            </a:extLst>
          </p:cNvPr>
          <p:cNvSpPr/>
          <p:nvPr/>
        </p:nvSpPr>
        <p:spPr>
          <a:xfrm>
            <a:off x="9065831" y="3682395"/>
            <a:ext cx="631036" cy="631036"/>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ja-JP" altLang="en-US"/>
          </a:p>
        </p:txBody>
      </p:sp>
      <p:sp>
        <p:nvSpPr>
          <p:cNvPr id="9" name="正方形/長方形 8">
            <a:extLst>
              <a:ext uri="{FF2B5EF4-FFF2-40B4-BE49-F238E27FC236}">
                <a16:creationId xmlns:a16="http://schemas.microsoft.com/office/drawing/2014/main" id="{7CA27631-6056-C4BF-0D30-5E93BA3D797E}"/>
              </a:ext>
            </a:extLst>
          </p:cNvPr>
          <p:cNvSpPr/>
          <p:nvPr/>
        </p:nvSpPr>
        <p:spPr>
          <a:xfrm>
            <a:off x="0" y="-18853"/>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E2E8C379-F8BB-9074-FC07-7878E6E0846B}"/>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仮説設定：研究経緯</a:t>
            </a:r>
            <a:endParaRPr lang="en-US" altLang="ja-JP" sz="2100" b="1" dirty="0">
              <a:solidFill>
                <a:schemeClr val="bg1"/>
              </a:solidFill>
              <a:latin typeface="UD デジタル 教科書体 NK-B" panose="02020700000000000000" pitchFamily="18" charset="-128"/>
              <a:ea typeface="UD デジタル 教科書体 NK-B" panose="02020700000000000000" pitchFamily="18" charset="-128"/>
            </a:endParaRPr>
          </a:p>
          <a:p>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1" name="テキスト ボックス 10">
            <a:extLst>
              <a:ext uri="{FF2B5EF4-FFF2-40B4-BE49-F238E27FC236}">
                <a16:creationId xmlns:a16="http://schemas.microsoft.com/office/drawing/2014/main" id="{EC2B4493-47AF-202D-8940-E4ED0D656F74}"/>
              </a:ext>
            </a:extLst>
          </p:cNvPr>
          <p:cNvSpPr txBox="1"/>
          <p:nvPr/>
        </p:nvSpPr>
        <p:spPr>
          <a:xfrm>
            <a:off x="-1566423" y="2617205"/>
            <a:ext cx="6214737" cy="707886"/>
          </a:xfrm>
          <a:prstGeom prst="rect">
            <a:avLst/>
          </a:prstGeom>
          <a:noFill/>
        </p:spPr>
        <p:txBody>
          <a:bodyPr wrap="square" rtlCol="0">
            <a:spAutoFit/>
          </a:bodyPr>
          <a:lstStyle/>
          <a:p>
            <a:pPr algn="ctr"/>
            <a:r>
              <a:rPr kumimoji="1" lang="en-US" altLang="ja-JP" sz="2000" dirty="0">
                <a:latin typeface="UD デジタル 教科書体 NK-B" panose="02020700000000000000" pitchFamily="18" charset="-128"/>
                <a:ea typeface="UD デジタル 教科書体 NK-B" panose="02020700000000000000" pitchFamily="18" charset="-128"/>
              </a:rPr>
              <a:t>IBM</a:t>
            </a:r>
            <a:r>
              <a:rPr lang="ja-JP" altLang="en-US" sz="2000" dirty="0">
                <a:latin typeface="UD デジタル 教科書体 NK-B" panose="02020700000000000000" pitchFamily="18" charset="-128"/>
                <a:ea typeface="UD デジタル 教科書体 NK-B" panose="02020700000000000000" pitchFamily="18" charset="-128"/>
              </a:rPr>
              <a:t> </a:t>
            </a:r>
            <a:r>
              <a:rPr kumimoji="1" lang="en-US" altLang="ja-JP" sz="2000" dirty="0">
                <a:latin typeface="UD デジタル 教科書体 NK-B" panose="02020700000000000000" pitchFamily="18" charset="-128"/>
                <a:ea typeface="UD デジタル 教科書体 NK-B" panose="02020700000000000000" pitchFamily="18" charset="-128"/>
              </a:rPr>
              <a:t>Watson</a:t>
            </a:r>
            <a:r>
              <a:rPr kumimoji="1" lang="ja-JP" altLang="en-US" sz="2000" dirty="0">
                <a:latin typeface="UD デジタル 教科書体 NK-B" panose="02020700000000000000" pitchFamily="18" charset="-128"/>
                <a:ea typeface="UD デジタル 教科書体 NK-B" panose="02020700000000000000" pitchFamily="18" charset="-128"/>
              </a:rPr>
              <a:t>の</a:t>
            </a:r>
            <a:endParaRPr kumimoji="1" lang="en-US" altLang="ja-JP" sz="2000" dirty="0">
              <a:latin typeface="UD デジタル 教科書体 NK-B" panose="02020700000000000000" pitchFamily="18" charset="-128"/>
              <a:ea typeface="UD デジタル 教科書体 NK-B" panose="02020700000000000000" pitchFamily="18" charset="-128"/>
            </a:endParaRPr>
          </a:p>
          <a:p>
            <a:pPr algn="ctr"/>
            <a:r>
              <a:rPr kumimoji="1" lang="ja-JP" altLang="en-US" sz="2000" dirty="0">
                <a:latin typeface="UD デジタル 教科書体 NK-B" panose="02020700000000000000" pitchFamily="18" charset="-128"/>
                <a:ea typeface="UD デジタル 教科書体 NK-B" panose="02020700000000000000" pitchFamily="18" charset="-128"/>
              </a:rPr>
              <a:t>効率的な学習方法について</a:t>
            </a:r>
          </a:p>
        </p:txBody>
      </p:sp>
      <p:sp>
        <p:nvSpPr>
          <p:cNvPr id="12" name="テキスト ボックス 11">
            <a:extLst>
              <a:ext uri="{FF2B5EF4-FFF2-40B4-BE49-F238E27FC236}">
                <a16:creationId xmlns:a16="http://schemas.microsoft.com/office/drawing/2014/main" id="{3A9EBD34-9579-6486-57B1-5FE29C423ECD}"/>
              </a:ext>
            </a:extLst>
          </p:cNvPr>
          <p:cNvSpPr txBox="1"/>
          <p:nvPr/>
        </p:nvSpPr>
        <p:spPr>
          <a:xfrm>
            <a:off x="-474700" y="5009165"/>
            <a:ext cx="6570699" cy="830997"/>
          </a:xfrm>
          <a:prstGeom prst="rect">
            <a:avLst/>
          </a:prstGeom>
          <a:noFill/>
        </p:spPr>
        <p:txBody>
          <a:bodyPr wrap="square" rtlCol="0">
            <a:spAutoFit/>
          </a:bodyPr>
          <a:lstStyle/>
          <a:p>
            <a:pPr algn="ctr"/>
            <a:r>
              <a:rPr lang="ja-JP" altLang="en-US" sz="2400" dirty="0">
                <a:latin typeface="UD デジタル 教科書体 NK-B" panose="02020700000000000000" pitchFamily="18" charset="-128"/>
                <a:ea typeface="UD デジタル 教科書体 NK-B" panose="02020700000000000000" pitchFamily="18" charset="-128"/>
              </a:rPr>
              <a:t>二文書間での</a:t>
            </a:r>
            <a:endParaRPr lang="en-US" altLang="ja-JP" sz="2400" dirty="0">
              <a:latin typeface="UD デジタル 教科書体 NK-B" panose="02020700000000000000" pitchFamily="18" charset="-128"/>
              <a:ea typeface="UD デジタル 教科書体 NK-B" panose="02020700000000000000" pitchFamily="18" charset="-128"/>
            </a:endParaRPr>
          </a:p>
          <a:p>
            <a:pPr algn="ctr"/>
            <a:r>
              <a:rPr lang="ja-JP" altLang="en-US" sz="2400" dirty="0">
                <a:latin typeface="UD デジタル 教科書体 NK-B" panose="02020700000000000000" pitchFamily="18" charset="-128"/>
                <a:ea typeface="UD デジタル 教科書体 NK-B" panose="02020700000000000000" pitchFamily="18" charset="-128"/>
              </a:rPr>
              <a:t>類似度計算プログラム</a:t>
            </a:r>
            <a:endParaRPr kumimoji="1" lang="ja-JP" altLang="en-US" sz="2400" dirty="0">
              <a:latin typeface="UD デジタル 教科書体 NK-B" panose="02020700000000000000" pitchFamily="18" charset="-128"/>
              <a:ea typeface="UD デジタル 教科書体 NK-B" panose="02020700000000000000" pitchFamily="18" charset="-128"/>
            </a:endParaRPr>
          </a:p>
        </p:txBody>
      </p:sp>
      <p:sp>
        <p:nvSpPr>
          <p:cNvPr id="13" name="テキスト ボックス 12">
            <a:extLst>
              <a:ext uri="{FF2B5EF4-FFF2-40B4-BE49-F238E27FC236}">
                <a16:creationId xmlns:a16="http://schemas.microsoft.com/office/drawing/2014/main" id="{23CE76D8-F3F4-7AC4-CFDE-B05B95A6A453}"/>
              </a:ext>
            </a:extLst>
          </p:cNvPr>
          <p:cNvSpPr txBox="1"/>
          <p:nvPr/>
        </p:nvSpPr>
        <p:spPr>
          <a:xfrm>
            <a:off x="6096000" y="2123543"/>
            <a:ext cx="6570699" cy="1077218"/>
          </a:xfrm>
          <a:prstGeom prst="rect">
            <a:avLst/>
          </a:prstGeom>
          <a:noFill/>
        </p:spPr>
        <p:txBody>
          <a:bodyPr wrap="square" rtlCol="0">
            <a:spAutoFit/>
          </a:bodyPr>
          <a:lstStyle/>
          <a:p>
            <a:pPr algn="ctr"/>
            <a:r>
              <a:rPr kumimoji="1" lang="ja-JP" altLang="en-US" sz="3200" dirty="0">
                <a:latin typeface="UD デジタル 教科書体 NK-B" panose="02020700000000000000" pitchFamily="18" charset="-128"/>
                <a:ea typeface="UD デジタル 教科書体 NK-B" panose="02020700000000000000" pitchFamily="18" charset="-128"/>
              </a:rPr>
              <a:t>数学の質問文</a:t>
            </a:r>
            <a:endParaRPr kumimoji="1" lang="en-US" altLang="ja-JP" sz="3200" dirty="0">
              <a:latin typeface="UD デジタル 教科書体 NK-B" panose="02020700000000000000" pitchFamily="18" charset="-128"/>
              <a:ea typeface="UD デジタル 教科書体 NK-B" panose="02020700000000000000" pitchFamily="18" charset="-128"/>
            </a:endParaRPr>
          </a:p>
          <a:p>
            <a:pPr algn="ctr"/>
            <a:r>
              <a:rPr kumimoji="1" lang="ja-JP" altLang="en-US" sz="3200" dirty="0">
                <a:latin typeface="UD デジタル 教科書体 NK-B" panose="02020700000000000000" pitchFamily="18" charset="-128"/>
                <a:ea typeface="UD デジタル 教科書体 NK-B" panose="02020700000000000000" pitchFamily="18" charset="-128"/>
              </a:rPr>
              <a:t>分類プログラム</a:t>
            </a:r>
          </a:p>
        </p:txBody>
      </p:sp>
      <p:sp>
        <p:nvSpPr>
          <p:cNvPr id="2" name="吹き出し: 角を丸めた四角形 1">
            <a:extLst>
              <a:ext uri="{FF2B5EF4-FFF2-40B4-BE49-F238E27FC236}">
                <a16:creationId xmlns:a16="http://schemas.microsoft.com/office/drawing/2014/main" id="{B97B7346-EDF4-7D21-FA15-EC87A44EDFEB}"/>
              </a:ext>
            </a:extLst>
          </p:cNvPr>
          <p:cNvSpPr/>
          <p:nvPr/>
        </p:nvSpPr>
        <p:spPr>
          <a:xfrm>
            <a:off x="4668100" y="5133495"/>
            <a:ext cx="7465001" cy="1460042"/>
          </a:xfrm>
          <a:prstGeom prst="wedgeRoundRectCallout">
            <a:avLst>
              <a:gd name="adj1" fmla="val 13422"/>
              <a:gd name="adj2" fmla="val -102675"/>
              <a:gd name="adj3" fmla="val 16667"/>
            </a:avLst>
          </a:prstGeom>
          <a:solidFill>
            <a:srgbClr val="7F7F7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B2915803-9690-B8A7-1AEF-7D1AD85FBDD1}"/>
              </a:ext>
            </a:extLst>
          </p:cNvPr>
          <p:cNvSpPr txBox="1"/>
          <p:nvPr/>
        </p:nvSpPr>
        <p:spPr>
          <a:xfrm>
            <a:off x="4763755" y="5246744"/>
            <a:ext cx="7349561" cy="1323439"/>
          </a:xfrm>
          <a:prstGeom prst="rect">
            <a:avLst/>
          </a:prstGeom>
          <a:noFill/>
          <a:ln>
            <a:noFill/>
          </a:ln>
        </p:spPr>
        <p:txBody>
          <a:bodyPr wrap="square">
            <a:spAutoFit/>
          </a:bodyPr>
          <a:lstStyle/>
          <a:p>
            <a:r>
              <a:rPr lang="ja-JP" altLang="en-US" sz="4000" dirty="0">
                <a:solidFill>
                  <a:schemeClr val="bg1"/>
                </a:solidFill>
                <a:latin typeface="UD デジタル 教科書体 NK-B" panose="02020700000000000000" pitchFamily="18" charset="-128"/>
                <a:ea typeface="UD デジタル 教科書体 NK-B" panose="02020700000000000000" pitchFamily="18" charset="-128"/>
              </a:rPr>
              <a:t>機械学習を実装した質問文分類プログラムの作成</a:t>
            </a:r>
          </a:p>
        </p:txBody>
      </p:sp>
    </p:spTree>
    <p:extLst>
      <p:ext uri="{BB962C8B-B14F-4D97-AF65-F5344CB8AC3E}">
        <p14:creationId xmlns:p14="http://schemas.microsoft.com/office/powerpoint/2010/main" val="9279578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5832144B-4D4D-480A-B080-D208F0261F45}"/>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4E41B940-93C7-8C73-A34F-79D6F3DEB269}"/>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効率的な学習方法についての調査結果</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7" name="テキスト ボックス 6">
            <a:extLst>
              <a:ext uri="{FF2B5EF4-FFF2-40B4-BE49-F238E27FC236}">
                <a16:creationId xmlns:a16="http://schemas.microsoft.com/office/drawing/2014/main" id="{FA1F0487-6443-1495-F403-D7F05310F0F3}"/>
              </a:ext>
            </a:extLst>
          </p:cNvPr>
          <p:cNvSpPr txBox="1"/>
          <p:nvPr/>
        </p:nvSpPr>
        <p:spPr>
          <a:xfrm>
            <a:off x="275512" y="1862351"/>
            <a:ext cx="11716378" cy="584775"/>
          </a:xfrm>
          <a:prstGeom prst="rect">
            <a:avLst/>
          </a:prstGeom>
          <a:noFill/>
        </p:spPr>
        <p:txBody>
          <a:bodyPr wrap="square">
            <a:spAutoFit/>
          </a:bodyPr>
          <a:lstStyle/>
          <a:p>
            <a:r>
              <a:rPr lang="ja-JP" altLang="en-US" sz="3200" dirty="0">
                <a:latin typeface="UD デジタル 教科書体 NK-B" panose="02020700000000000000" pitchFamily="18" charset="-128"/>
                <a:ea typeface="UD デジタル 教科書体 NK-B" panose="02020700000000000000" pitchFamily="18" charset="-128"/>
              </a:rPr>
              <a:t>調査内容：質問のパターンによって信頼度がどのように変化するか</a:t>
            </a:r>
          </a:p>
        </p:txBody>
      </p:sp>
      <p:sp>
        <p:nvSpPr>
          <p:cNvPr id="6" name="正方形/長方形 5">
            <a:extLst>
              <a:ext uri="{FF2B5EF4-FFF2-40B4-BE49-F238E27FC236}">
                <a16:creationId xmlns:a16="http://schemas.microsoft.com/office/drawing/2014/main" id="{7583432F-79F3-D86D-0605-023E80D82FCB}"/>
              </a:ext>
            </a:extLst>
          </p:cNvPr>
          <p:cNvSpPr/>
          <p:nvPr/>
        </p:nvSpPr>
        <p:spPr>
          <a:xfrm>
            <a:off x="7066872" y="2909820"/>
            <a:ext cx="4232272" cy="1272956"/>
          </a:xfrm>
          <a:prstGeom prst="rect">
            <a:avLst/>
          </a:prstGeom>
          <a:solidFill>
            <a:srgbClr val="CC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bg2">
                    <a:lumMod val="25000"/>
                  </a:schemeClr>
                </a:solidFill>
                <a:latin typeface="UD デジタル 教科書体 NK-B" panose="02020700000000000000" pitchFamily="18" charset="-128"/>
                <a:ea typeface="UD デジタル 教科書体 NK-B" panose="02020700000000000000" pitchFamily="18" charset="-128"/>
              </a:rPr>
              <a:t>信頼度スコアを上げる方法</a:t>
            </a:r>
          </a:p>
        </p:txBody>
      </p:sp>
      <p:sp>
        <p:nvSpPr>
          <p:cNvPr id="8" name="二等辺三角形 7">
            <a:extLst>
              <a:ext uri="{FF2B5EF4-FFF2-40B4-BE49-F238E27FC236}">
                <a16:creationId xmlns:a16="http://schemas.microsoft.com/office/drawing/2014/main" id="{CEF2A519-4484-6D6F-E59D-52D5B430605B}"/>
              </a:ext>
            </a:extLst>
          </p:cNvPr>
          <p:cNvSpPr/>
          <p:nvPr/>
        </p:nvSpPr>
        <p:spPr>
          <a:xfrm flipV="1">
            <a:off x="7835657" y="4348551"/>
            <a:ext cx="2694701" cy="757482"/>
          </a:xfrm>
          <a:prstGeom prst="triangle">
            <a:avLst/>
          </a:pr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latin typeface="UD デジタル 教科書体 NK-B" panose="02020700000000000000" pitchFamily="18" charset="-128"/>
              <a:ea typeface="UD デジタル 教科書体 NK-B" panose="02020700000000000000" pitchFamily="18" charset="-128"/>
            </a:endParaRPr>
          </a:p>
        </p:txBody>
      </p:sp>
      <p:sp>
        <p:nvSpPr>
          <p:cNvPr id="10" name="正方形/長方形 9">
            <a:extLst>
              <a:ext uri="{FF2B5EF4-FFF2-40B4-BE49-F238E27FC236}">
                <a16:creationId xmlns:a16="http://schemas.microsoft.com/office/drawing/2014/main" id="{A921D73C-18F1-81A2-C22C-0E943A574CDD}"/>
              </a:ext>
            </a:extLst>
          </p:cNvPr>
          <p:cNvSpPr/>
          <p:nvPr/>
        </p:nvSpPr>
        <p:spPr>
          <a:xfrm>
            <a:off x="5657222" y="5352254"/>
            <a:ext cx="6636119" cy="1077218"/>
          </a:xfrm>
          <a:prstGeom prst="rect">
            <a:avLst/>
          </a:prstGeom>
        </p:spPr>
        <p:txBody>
          <a:bodyPr wrap="square">
            <a:spAutoFit/>
          </a:bodyPr>
          <a:lstStyle/>
          <a:p>
            <a:pPr marL="457200" indent="-457200">
              <a:buFont typeface="Wingdings" panose="05000000000000000000" pitchFamily="2" charset="2"/>
              <a:buChar char="l"/>
            </a:pPr>
            <a:r>
              <a:rPr lang="ja-JP" altLang="en-US" sz="3200" b="1" dirty="0">
                <a:latin typeface="UD デジタル 教科書体 NK-B" panose="02020700000000000000" pitchFamily="18" charset="-128"/>
                <a:ea typeface="UD デジタル 教科書体 NK-B" panose="02020700000000000000" pitchFamily="18" charset="-128"/>
              </a:rPr>
              <a:t>トレーニングデータを</a:t>
            </a:r>
            <a:r>
              <a:rPr lang="ja-JP" altLang="en-US" sz="3200" b="1" dirty="0">
                <a:solidFill>
                  <a:srgbClr val="FF5050"/>
                </a:solidFill>
                <a:latin typeface="UD デジタル 教科書体 NK-B" panose="02020700000000000000" pitchFamily="18" charset="-128"/>
                <a:ea typeface="UD デジタル 教科書体 NK-B" panose="02020700000000000000" pitchFamily="18" charset="-128"/>
              </a:rPr>
              <a:t>均一</a:t>
            </a:r>
            <a:r>
              <a:rPr lang="ja-JP" altLang="en-US" sz="3200" b="1" dirty="0">
                <a:latin typeface="UD デジタル 教科書体 NK-B" panose="02020700000000000000" pitchFamily="18" charset="-128"/>
                <a:ea typeface="UD デジタル 教科書体 NK-B" panose="02020700000000000000" pitchFamily="18" charset="-128"/>
              </a:rPr>
              <a:t>に増やす</a:t>
            </a:r>
            <a:endParaRPr lang="en-US" altLang="ja-JP" sz="3200" b="1" dirty="0">
              <a:latin typeface="UD デジタル 教科書体 NK-B" panose="02020700000000000000" pitchFamily="18" charset="-128"/>
              <a:ea typeface="UD デジタル 教科書体 NK-B" panose="02020700000000000000" pitchFamily="18" charset="-128"/>
            </a:endParaRPr>
          </a:p>
          <a:p>
            <a:pPr marL="457200" indent="-457200">
              <a:buFont typeface="Wingdings" panose="05000000000000000000" pitchFamily="2" charset="2"/>
              <a:buChar char="l"/>
            </a:pPr>
            <a:r>
              <a:rPr lang="ja-JP" altLang="en-US" sz="3200" b="1" dirty="0">
                <a:solidFill>
                  <a:srgbClr val="FF5050"/>
                </a:solidFill>
                <a:latin typeface="UD デジタル 教科書体 NK-B" panose="02020700000000000000" pitchFamily="18" charset="-128"/>
                <a:ea typeface="UD デジタル 教科書体 NK-B" panose="02020700000000000000" pitchFamily="18" charset="-128"/>
              </a:rPr>
              <a:t>紛らわしい質問</a:t>
            </a:r>
            <a:r>
              <a:rPr lang="ja-JP" altLang="en-US" sz="3200" b="1" dirty="0">
                <a:latin typeface="UD デジタル 教科書体 NK-B" panose="02020700000000000000" pitchFamily="18" charset="-128"/>
                <a:ea typeface="UD デジタル 教科書体 NK-B" panose="02020700000000000000" pitchFamily="18" charset="-128"/>
              </a:rPr>
              <a:t>を削除</a:t>
            </a:r>
            <a:r>
              <a:rPr lang="ja-JP" altLang="en-US" sz="2400" b="1" dirty="0">
                <a:latin typeface="UD デジタル 教科書体 NK-B" panose="02020700000000000000" pitchFamily="18" charset="-128"/>
                <a:ea typeface="UD デジタル 教科書体 NK-B" panose="02020700000000000000" pitchFamily="18" charset="-128"/>
              </a:rPr>
              <a:t>する</a:t>
            </a:r>
            <a:endParaRPr kumimoji="1" lang="en-US" altLang="ja-JP" sz="2400" b="1" dirty="0">
              <a:latin typeface="UD デジタル 教科書体 NK-B" panose="02020700000000000000" pitchFamily="18" charset="-128"/>
              <a:ea typeface="UD デジタル 教科書体 NK-B" panose="02020700000000000000" pitchFamily="18" charset="-128"/>
            </a:endParaRPr>
          </a:p>
        </p:txBody>
      </p:sp>
      <p:sp>
        <p:nvSpPr>
          <p:cNvPr id="11" name="正方形/長方形 10">
            <a:extLst>
              <a:ext uri="{FF2B5EF4-FFF2-40B4-BE49-F238E27FC236}">
                <a16:creationId xmlns:a16="http://schemas.microsoft.com/office/drawing/2014/main" id="{97622F91-F5CE-675D-0A18-BE6FA0E72CB5}"/>
              </a:ext>
            </a:extLst>
          </p:cNvPr>
          <p:cNvSpPr/>
          <p:nvPr/>
        </p:nvSpPr>
        <p:spPr>
          <a:xfrm>
            <a:off x="746760" y="2937419"/>
            <a:ext cx="4232272" cy="1272956"/>
          </a:xfrm>
          <a:prstGeom prst="rect">
            <a:avLst/>
          </a:prstGeom>
          <a:solidFill>
            <a:srgbClr val="B4D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bg2">
                    <a:lumMod val="25000"/>
                  </a:schemeClr>
                </a:solidFill>
                <a:latin typeface="UD デジタル 教科書体 NK-B" panose="02020700000000000000" pitchFamily="18" charset="-128"/>
                <a:ea typeface="UD デジタル 教科書体 NK-B" panose="02020700000000000000" pitchFamily="18" charset="-128"/>
              </a:rPr>
              <a:t>効率のいい質問の導入方法</a:t>
            </a:r>
          </a:p>
        </p:txBody>
      </p:sp>
      <p:sp>
        <p:nvSpPr>
          <p:cNvPr id="12" name="二等辺三角形 11">
            <a:extLst>
              <a:ext uri="{FF2B5EF4-FFF2-40B4-BE49-F238E27FC236}">
                <a16:creationId xmlns:a16="http://schemas.microsoft.com/office/drawing/2014/main" id="{F162C252-5796-D6DE-A4DF-4729562A9192}"/>
              </a:ext>
            </a:extLst>
          </p:cNvPr>
          <p:cNvSpPr/>
          <p:nvPr/>
        </p:nvSpPr>
        <p:spPr>
          <a:xfrm flipV="1">
            <a:off x="1515546" y="4348551"/>
            <a:ext cx="2694701" cy="757482"/>
          </a:xfrm>
          <a:prstGeom prst="triangle">
            <a:avLst/>
          </a:pr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latin typeface="UD デジタル 教科書体 NK-B" panose="02020700000000000000" pitchFamily="18" charset="-128"/>
              <a:ea typeface="UD デジタル 教科書体 NK-B" panose="02020700000000000000" pitchFamily="18" charset="-128"/>
            </a:endParaRPr>
          </a:p>
        </p:txBody>
      </p:sp>
      <p:sp>
        <p:nvSpPr>
          <p:cNvPr id="14" name="正方形/長方形 13">
            <a:extLst>
              <a:ext uri="{FF2B5EF4-FFF2-40B4-BE49-F238E27FC236}">
                <a16:creationId xmlns:a16="http://schemas.microsoft.com/office/drawing/2014/main" id="{9974A7DC-0E72-4627-330E-68C79E6D76EB}"/>
              </a:ext>
            </a:extLst>
          </p:cNvPr>
          <p:cNvSpPr/>
          <p:nvPr/>
        </p:nvSpPr>
        <p:spPr>
          <a:xfrm>
            <a:off x="0" y="5352254"/>
            <a:ext cx="5708321" cy="1077218"/>
          </a:xfrm>
          <a:prstGeom prst="rect">
            <a:avLst/>
          </a:prstGeom>
        </p:spPr>
        <p:txBody>
          <a:bodyPr wrap="square">
            <a:spAutoFit/>
          </a:bodyPr>
          <a:lstStyle/>
          <a:p>
            <a:pPr marL="457200" indent="-457200">
              <a:buFont typeface="Wingdings" panose="05000000000000000000" pitchFamily="2" charset="2"/>
              <a:buChar char="l"/>
            </a:pPr>
            <a:r>
              <a:rPr kumimoji="1" lang="ja-JP" altLang="en-US" sz="3200" b="1" dirty="0">
                <a:latin typeface="UD デジタル 教科書体 NK-B" panose="02020700000000000000" pitchFamily="18" charset="-128"/>
                <a:ea typeface="UD デジタル 教科書体 NK-B" panose="02020700000000000000" pitchFamily="18" charset="-128"/>
              </a:rPr>
              <a:t>質問数を</a:t>
            </a:r>
            <a:r>
              <a:rPr kumimoji="1" lang="ja-JP" altLang="en-US" sz="3200" b="1" dirty="0">
                <a:solidFill>
                  <a:srgbClr val="FF5050"/>
                </a:solidFill>
                <a:latin typeface="UD デジタル 教科書体 NK-B" panose="02020700000000000000" pitchFamily="18" charset="-128"/>
                <a:ea typeface="UD デジタル 教科書体 NK-B" panose="02020700000000000000" pitchFamily="18" charset="-128"/>
              </a:rPr>
              <a:t>均一</a:t>
            </a:r>
            <a:r>
              <a:rPr kumimoji="1" lang="ja-JP" altLang="en-US" sz="3200" b="1" dirty="0">
                <a:latin typeface="UD デジタル 教科書体 NK-B" panose="02020700000000000000" pitchFamily="18" charset="-128"/>
                <a:ea typeface="UD デジタル 教科書体 NK-B" panose="02020700000000000000" pitchFamily="18" charset="-128"/>
              </a:rPr>
              <a:t>に増やす</a:t>
            </a:r>
            <a:endParaRPr kumimoji="1" lang="en-US" altLang="ja-JP" sz="3200" b="1" dirty="0">
              <a:latin typeface="UD デジタル 教科書体 NK-B" panose="02020700000000000000" pitchFamily="18" charset="-128"/>
              <a:ea typeface="UD デジタル 教科書体 NK-B" panose="02020700000000000000" pitchFamily="18" charset="-128"/>
            </a:endParaRPr>
          </a:p>
          <a:p>
            <a:pPr marL="457200" indent="-457200">
              <a:buFont typeface="Wingdings" panose="05000000000000000000" pitchFamily="2" charset="2"/>
              <a:buChar char="l"/>
            </a:pPr>
            <a:r>
              <a:rPr kumimoji="1" lang="ja-JP" altLang="en-US" sz="3200" b="1" dirty="0">
                <a:latin typeface="UD デジタル 教科書体 NK-B" panose="02020700000000000000" pitchFamily="18" charset="-128"/>
                <a:ea typeface="UD デジタル 教科書体 NK-B" panose="02020700000000000000" pitchFamily="18" charset="-128"/>
              </a:rPr>
              <a:t>共通の</a:t>
            </a:r>
            <a:r>
              <a:rPr kumimoji="1" lang="ja-JP" altLang="en-US" sz="3200" b="1" dirty="0">
                <a:solidFill>
                  <a:srgbClr val="FF5050"/>
                </a:solidFill>
                <a:latin typeface="UD デジタル 教科書体 NK-B" panose="02020700000000000000" pitchFamily="18" charset="-128"/>
                <a:ea typeface="UD デジタル 教科書体 NK-B" panose="02020700000000000000" pitchFamily="18" charset="-128"/>
              </a:rPr>
              <a:t>単語・表現</a:t>
            </a:r>
            <a:r>
              <a:rPr kumimoji="1" lang="ja-JP" altLang="en-US" sz="3200" b="1" dirty="0">
                <a:latin typeface="UD デジタル 教科書体 NK-B" panose="02020700000000000000" pitchFamily="18" charset="-128"/>
                <a:ea typeface="UD デジタル 教科書体 NK-B" panose="02020700000000000000" pitchFamily="18" charset="-128"/>
              </a:rPr>
              <a:t>を使わない</a:t>
            </a:r>
            <a:endParaRPr lang="en-US" altLang="ja-JP" sz="3200" dirty="0"/>
          </a:p>
        </p:txBody>
      </p:sp>
    </p:spTree>
    <p:extLst>
      <p:ext uri="{BB962C8B-B14F-4D97-AF65-F5344CB8AC3E}">
        <p14:creationId xmlns:p14="http://schemas.microsoft.com/office/powerpoint/2010/main" val="3641243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調査内容：文章のベクトル化とベクトル比較</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4" name="テキスト ボックス 3">
            <a:extLst>
              <a:ext uri="{FF2B5EF4-FFF2-40B4-BE49-F238E27FC236}">
                <a16:creationId xmlns:a16="http://schemas.microsoft.com/office/drawing/2014/main" id="{B86DFC41-49B1-3450-C5D7-0B7DD6EBD920}"/>
              </a:ext>
            </a:extLst>
          </p:cNvPr>
          <p:cNvSpPr txBox="1"/>
          <p:nvPr/>
        </p:nvSpPr>
        <p:spPr>
          <a:xfrm>
            <a:off x="487495" y="2967335"/>
            <a:ext cx="4231341" cy="461665"/>
          </a:xfrm>
          <a:prstGeom prst="rect">
            <a:avLst/>
          </a:prstGeom>
          <a:noFill/>
        </p:spPr>
        <p:txBody>
          <a:bodyPr wrap="square" rtlCol="0">
            <a:spAutoFit/>
          </a:bodyPr>
          <a:lstStyle/>
          <a:p>
            <a:r>
              <a:rPr lang="en-US" altLang="ja-JP" sz="2400" kern="100" dirty="0">
                <a:effectLst/>
                <a:latin typeface="UD デジタル 教科書体 NK-B" panose="02020700000000000000" pitchFamily="18" charset="-128"/>
                <a:ea typeface="UD デジタル 教科書体 NK-B" panose="02020700000000000000" pitchFamily="18" charset="-128"/>
              </a:rPr>
              <a:t>2</a:t>
            </a:r>
            <a:r>
              <a:rPr lang="ja-JP" altLang="ja-JP" sz="24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次関数の標準形は何ですか</a:t>
            </a:r>
            <a:endParaRPr kumimoji="1" lang="ja-JP" altLang="en-US" sz="2400" dirty="0">
              <a:latin typeface="UD デジタル 教科書体 NK-B" panose="02020700000000000000" pitchFamily="18" charset="-128"/>
              <a:ea typeface="UD デジタル 教科書体 NK-B" panose="02020700000000000000" pitchFamily="18" charset="-128"/>
            </a:endParaRPr>
          </a:p>
        </p:txBody>
      </p:sp>
      <p:sp>
        <p:nvSpPr>
          <p:cNvPr id="6" name="矢印: 右 5">
            <a:extLst>
              <a:ext uri="{FF2B5EF4-FFF2-40B4-BE49-F238E27FC236}">
                <a16:creationId xmlns:a16="http://schemas.microsoft.com/office/drawing/2014/main" id="{A6A1CC27-67ED-ABD1-9E59-4A0467219A5F}"/>
              </a:ext>
            </a:extLst>
          </p:cNvPr>
          <p:cNvSpPr/>
          <p:nvPr/>
        </p:nvSpPr>
        <p:spPr>
          <a:xfrm>
            <a:off x="459618" y="4397431"/>
            <a:ext cx="4670612" cy="1200329"/>
          </a:xfrm>
          <a:prstGeom prst="rightArrow">
            <a:avLst/>
          </a:prstGeom>
          <a:solidFill>
            <a:srgbClr val="97C7E6"/>
          </a:solidFill>
          <a:ln w="381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rPr>
              <a:t>2</a:t>
            </a:r>
            <a:r>
              <a:rPr kumimoji="1" lang="ja-JP" altLang="en-US" sz="2400" b="1" dirty="0">
                <a:solidFill>
                  <a:schemeClr val="tx1"/>
                </a:solidFill>
              </a:rPr>
              <a:t>次関数の標準形は何ですか</a:t>
            </a:r>
          </a:p>
        </p:txBody>
      </p:sp>
      <p:sp>
        <p:nvSpPr>
          <p:cNvPr id="20" name="二等辺三角形 19">
            <a:extLst>
              <a:ext uri="{FF2B5EF4-FFF2-40B4-BE49-F238E27FC236}">
                <a16:creationId xmlns:a16="http://schemas.microsoft.com/office/drawing/2014/main" id="{E89497BC-BE14-D8FE-219E-A021653B830A}"/>
              </a:ext>
            </a:extLst>
          </p:cNvPr>
          <p:cNvSpPr/>
          <p:nvPr/>
        </p:nvSpPr>
        <p:spPr>
          <a:xfrm flipV="1">
            <a:off x="1079165" y="3700350"/>
            <a:ext cx="2762595" cy="600166"/>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latin typeface="UD デジタル 教科書体 NK-B" panose="02020700000000000000" pitchFamily="18" charset="-128"/>
              <a:ea typeface="UD デジタル 教科書体 NK-B" panose="02020700000000000000" pitchFamily="18" charset="-128"/>
            </a:endParaRPr>
          </a:p>
        </p:txBody>
      </p:sp>
      <p:sp>
        <p:nvSpPr>
          <p:cNvPr id="21" name="テキスト ボックス 20">
            <a:extLst>
              <a:ext uri="{FF2B5EF4-FFF2-40B4-BE49-F238E27FC236}">
                <a16:creationId xmlns:a16="http://schemas.microsoft.com/office/drawing/2014/main" id="{74288B00-C91A-3292-6783-DDDB4043D7F6}"/>
              </a:ext>
            </a:extLst>
          </p:cNvPr>
          <p:cNvSpPr txBox="1"/>
          <p:nvPr/>
        </p:nvSpPr>
        <p:spPr>
          <a:xfrm>
            <a:off x="344791" y="1810241"/>
            <a:ext cx="4231341" cy="646331"/>
          </a:xfrm>
          <a:prstGeom prst="rect">
            <a:avLst/>
          </a:prstGeom>
          <a:noFill/>
        </p:spPr>
        <p:txBody>
          <a:bodyPr wrap="square" rtlCol="0">
            <a:spAutoFit/>
          </a:bodyPr>
          <a:lstStyle/>
          <a:p>
            <a:pPr algn="ctr"/>
            <a:r>
              <a:rPr kumimoji="1" lang="ja-JP" altLang="en-US" sz="3600" dirty="0">
                <a:latin typeface="UD デジタル 教科書体 NK-B" panose="02020700000000000000" pitchFamily="18" charset="-128"/>
                <a:ea typeface="UD デジタル 教科書体 NK-B" panose="02020700000000000000" pitchFamily="18" charset="-128"/>
              </a:rPr>
              <a:t>ベクトル化</a:t>
            </a:r>
          </a:p>
        </p:txBody>
      </p:sp>
      <p:sp>
        <p:nvSpPr>
          <p:cNvPr id="23" name="矢印: 右 22">
            <a:extLst>
              <a:ext uri="{FF2B5EF4-FFF2-40B4-BE49-F238E27FC236}">
                <a16:creationId xmlns:a16="http://schemas.microsoft.com/office/drawing/2014/main" id="{2816E3AC-8DE3-0896-2707-3B796491C199}"/>
              </a:ext>
            </a:extLst>
          </p:cNvPr>
          <p:cNvSpPr/>
          <p:nvPr/>
        </p:nvSpPr>
        <p:spPr>
          <a:xfrm>
            <a:off x="6881494" y="4680959"/>
            <a:ext cx="4670612" cy="1200329"/>
          </a:xfrm>
          <a:prstGeom prst="rightArrow">
            <a:avLst/>
          </a:prstGeom>
          <a:solidFill>
            <a:srgbClr val="97C7E6"/>
          </a:solidFill>
          <a:ln w="381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rPr>
              <a:t>2</a:t>
            </a:r>
            <a:r>
              <a:rPr kumimoji="1" lang="ja-JP" altLang="en-US" sz="2400" b="1" dirty="0">
                <a:solidFill>
                  <a:schemeClr val="tx1"/>
                </a:solidFill>
              </a:rPr>
              <a:t>次関数の標準形は何ですか</a:t>
            </a:r>
          </a:p>
        </p:txBody>
      </p:sp>
      <p:sp>
        <p:nvSpPr>
          <p:cNvPr id="24" name="矢印: 右 23">
            <a:extLst>
              <a:ext uri="{FF2B5EF4-FFF2-40B4-BE49-F238E27FC236}">
                <a16:creationId xmlns:a16="http://schemas.microsoft.com/office/drawing/2014/main" id="{9659C597-DCC5-A102-9F38-E78C321B57A1}"/>
              </a:ext>
            </a:extLst>
          </p:cNvPr>
          <p:cNvSpPr/>
          <p:nvPr/>
        </p:nvSpPr>
        <p:spPr>
          <a:xfrm rot="19764497">
            <a:off x="6511210" y="3263858"/>
            <a:ext cx="3397624" cy="1200329"/>
          </a:xfrm>
          <a:prstGeom prst="rightArrow">
            <a:avLst/>
          </a:prstGeom>
          <a:solidFill>
            <a:srgbClr val="97C7E6"/>
          </a:solidFill>
          <a:ln w="381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rPr>
              <a:t>2</a:t>
            </a:r>
            <a:r>
              <a:rPr kumimoji="1" lang="ja-JP" altLang="en-US" sz="2400" b="1" dirty="0">
                <a:solidFill>
                  <a:schemeClr val="tx1"/>
                </a:solidFill>
              </a:rPr>
              <a:t>次関数　標準形</a:t>
            </a:r>
          </a:p>
        </p:txBody>
      </p:sp>
      <p:sp>
        <p:nvSpPr>
          <p:cNvPr id="27" name="テキスト ボックス 26">
            <a:extLst>
              <a:ext uri="{FF2B5EF4-FFF2-40B4-BE49-F238E27FC236}">
                <a16:creationId xmlns:a16="http://schemas.microsoft.com/office/drawing/2014/main" id="{200D7DAF-8436-8BAF-EF04-1C482555DDD1}"/>
              </a:ext>
            </a:extLst>
          </p:cNvPr>
          <p:cNvSpPr txBox="1"/>
          <p:nvPr/>
        </p:nvSpPr>
        <p:spPr>
          <a:xfrm>
            <a:off x="6881494" y="1810241"/>
            <a:ext cx="4231341" cy="646331"/>
          </a:xfrm>
          <a:prstGeom prst="rect">
            <a:avLst/>
          </a:prstGeom>
          <a:noFill/>
        </p:spPr>
        <p:txBody>
          <a:bodyPr wrap="square" rtlCol="0">
            <a:spAutoFit/>
          </a:bodyPr>
          <a:lstStyle/>
          <a:p>
            <a:pPr algn="ctr"/>
            <a:r>
              <a:rPr kumimoji="1" lang="ja-JP" altLang="en-US" sz="3600" dirty="0">
                <a:latin typeface="UD デジタル 教科書体 NK-B" panose="02020700000000000000" pitchFamily="18" charset="-128"/>
                <a:ea typeface="UD デジタル 教科書体 NK-B" panose="02020700000000000000" pitchFamily="18" charset="-128"/>
              </a:rPr>
              <a:t>ベクトル比較</a:t>
            </a:r>
          </a:p>
        </p:txBody>
      </p:sp>
      <p:sp>
        <p:nvSpPr>
          <p:cNvPr id="2" name="正方形/長方形 1">
            <a:extLst>
              <a:ext uri="{FF2B5EF4-FFF2-40B4-BE49-F238E27FC236}">
                <a16:creationId xmlns:a16="http://schemas.microsoft.com/office/drawing/2014/main" id="{A0AE2026-C84A-8772-73D9-EDA2BA116F71}"/>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582ACFC0-87D4-0FB5-5776-578D2C832E92}"/>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類似度計算プログラムについて</a:t>
            </a:r>
          </a:p>
        </p:txBody>
      </p:sp>
    </p:spTree>
    <p:extLst>
      <p:ext uri="{BB962C8B-B14F-4D97-AF65-F5344CB8AC3E}">
        <p14:creationId xmlns:p14="http://schemas.microsoft.com/office/powerpoint/2010/main" val="1009787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類似度計算プログラムについて</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2" name="テキスト ボックス 1">
            <a:extLst>
              <a:ext uri="{FF2B5EF4-FFF2-40B4-BE49-F238E27FC236}">
                <a16:creationId xmlns:a16="http://schemas.microsoft.com/office/drawing/2014/main" id="{8E1467B0-44F7-558B-ACC9-9989A8E1B943}"/>
              </a:ext>
            </a:extLst>
          </p:cNvPr>
          <p:cNvSpPr txBox="1"/>
          <p:nvPr/>
        </p:nvSpPr>
        <p:spPr>
          <a:xfrm>
            <a:off x="75402" y="3092084"/>
            <a:ext cx="5154804" cy="646331"/>
          </a:xfrm>
          <a:prstGeom prst="rect">
            <a:avLst/>
          </a:prstGeom>
          <a:noFill/>
        </p:spPr>
        <p:txBody>
          <a:bodyPr wrap="square">
            <a:spAutoFit/>
          </a:bodyPr>
          <a:lstStyle/>
          <a:p>
            <a:pPr algn="ctr"/>
            <a:r>
              <a:rPr lang="ja-JP" altLang="en-US" sz="3600" dirty="0">
                <a:latin typeface="UD デジタル 教科書体 NK-B" panose="02020700000000000000" pitchFamily="18" charset="-128"/>
                <a:ea typeface="UD デジタル 教科書体 NK-B" panose="02020700000000000000" pitchFamily="18" charset="-128"/>
              </a:rPr>
              <a:t>共通の単語は避けるべき</a:t>
            </a:r>
            <a:endParaRPr lang="ja-JP" altLang="en-US" sz="3600" dirty="0"/>
          </a:p>
        </p:txBody>
      </p:sp>
      <p:sp>
        <p:nvSpPr>
          <p:cNvPr id="3" name="二等辺三角形 2">
            <a:extLst>
              <a:ext uri="{FF2B5EF4-FFF2-40B4-BE49-F238E27FC236}">
                <a16:creationId xmlns:a16="http://schemas.microsoft.com/office/drawing/2014/main" id="{71439451-05D0-5C84-C022-E783CDF198D8}"/>
              </a:ext>
            </a:extLst>
          </p:cNvPr>
          <p:cNvSpPr/>
          <p:nvPr/>
        </p:nvSpPr>
        <p:spPr>
          <a:xfrm flipV="1">
            <a:off x="1436786" y="3918156"/>
            <a:ext cx="2692607" cy="382811"/>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4" name="テキスト ボックス 3">
            <a:extLst>
              <a:ext uri="{FF2B5EF4-FFF2-40B4-BE49-F238E27FC236}">
                <a16:creationId xmlns:a16="http://schemas.microsoft.com/office/drawing/2014/main" id="{AADC2B15-AC99-46D8-7176-B1919DA64B0E}"/>
              </a:ext>
            </a:extLst>
          </p:cNvPr>
          <p:cNvSpPr txBox="1"/>
          <p:nvPr/>
        </p:nvSpPr>
        <p:spPr>
          <a:xfrm>
            <a:off x="75402" y="4480709"/>
            <a:ext cx="5415376" cy="646331"/>
          </a:xfrm>
          <a:prstGeom prst="rect">
            <a:avLst/>
          </a:prstGeom>
          <a:noFill/>
        </p:spPr>
        <p:txBody>
          <a:bodyPr wrap="square">
            <a:spAutoFit/>
          </a:bodyPr>
          <a:lstStyle/>
          <a:p>
            <a:pPr algn="ctr"/>
            <a:r>
              <a:rPr lang="ja-JP" altLang="en-US" sz="3600" dirty="0">
                <a:latin typeface="UD デジタル 教科書体 NK-B" panose="02020700000000000000" pitchFamily="18" charset="-128"/>
                <a:ea typeface="UD デジタル 教科書体 NK-B" panose="02020700000000000000" pitchFamily="18" charset="-128"/>
              </a:rPr>
              <a:t>文章の要素をもとに判定？</a:t>
            </a:r>
            <a:endParaRPr lang="ja-JP" altLang="en-US" sz="3600" dirty="0"/>
          </a:p>
        </p:txBody>
      </p:sp>
      <p:sp>
        <p:nvSpPr>
          <p:cNvPr id="7" name="テキスト ボックス 6">
            <a:extLst>
              <a:ext uri="{FF2B5EF4-FFF2-40B4-BE49-F238E27FC236}">
                <a16:creationId xmlns:a16="http://schemas.microsoft.com/office/drawing/2014/main" id="{7A15EFE0-2F49-7623-F7FB-22C2771CF335}"/>
              </a:ext>
            </a:extLst>
          </p:cNvPr>
          <p:cNvSpPr txBox="1"/>
          <p:nvPr/>
        </p:nvSpPr>
        <p:spPr>
          <a:xfrm>
            <a:off x="6573942" y="3336570"/>
            <a:ext cx="5618058" cy="1754326"/>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単語の頻度をベクトルとして</a:t>
            </a:r>
            <a:endParaRPr lang="en-US" altLang="ja-JP" sz="3600" dirty="0">
              <a:latin typeface="UD デジタル 教科書体 NK-B" panose="02020700000000000000" pitchFamily="18" charset="-128"/>
              <a:ea typeface="UD デジタル 教科書体 NK-B" panose="02020700000000000000" pitchFamily="18" charset="-128"/>
            </a:endParaRPr>
          </a:p>
          <a:p>
            <a:r>
              <a:rPr lang="ja-JP" altLang="en-US" sz="3600" dirty="0">
                <a:latin typeface="UD デジタル 教科書体 NK-B" panose="02020700000000000000" pitchFamily="18" charset="-128"/>
                <a:ea typeface="UD デジタル 教科書体 NK-B" panose="02020700000000000000" pitchFamily="18" charset="-128"/>
              </a:rPr>
              <a:t>類似度を計算する</a:t>
            </a:r>
            <a:endParaRPr lang="en-US" altLang="ja-JP" sz="3600" dirty="0">
              <a:latin typeface="UD デジタル 教科書体 NK-B" panose="02020700000000000000" pitchFamily="18" charset="-128"/>
              <a:ea typeface="UD デジタル 教科書体 NK-B" panose="02020700000000000000" pitchFamily="18" charset="-128"/>
            </a:endParaRPr>
          </a:p>
          <a:p>
            <a:r>
              <a:rPr lang="en-US" altLang="ja-JP" sz="3600" dirty="0">
                <a:solidFill>
                  <a:srgbClr val="FF5050"/>
                </a:solidFill>
                <a:latin typeface="UD デジタル 教科書体 NK-B" panose="02020700000000000000" pitchFamily="18" charset="-128"/>
                <a:ea typeface="UD デジタル 教科書体 NK-B" panose="02020700000000000000" pitchFamily="18" charset="-128"/>
              </a:rPr>
              <a:t>cos</a:t>
            </a:r>
            <a:r>
              <a:rPr lang="ja-JP" altLang="en-US" sz="3600" dirty="0">
                <a:solidFill>
                  <a:srgbClr val="FF5050"/>
                </a:solidFill>
                <a:latin typeface="UD デジタル 教科書体 NK-B" panose="02020700000000000000" pitchFamily="18" charset="-128"/>
                <a:ea typeface="UD デジタル 教科書体 NK-B" panose="02020700000000000000" pitchFamily="18" charset="-128"/>
              </a:rPr>
              <a:t>類似度</a:t>
            </a:r>
            <a:r>
              <a:rPr lang="ja-JP" altLang="en-US" sz="3600" dirty="0">
                <a:latin typeface="UD デジタル 教科書体 NK-B" panose="02020700000000000000" pitchFamily="18" charset="-128"/>
                <a:ea typeface="UD デジタル 教科書体 NK-B" panose="02020700000000000000" pitchFamily="18" charset="-128"/>
              </a:rPr>
              <a:t>を使用</a:t>
            </a:r>
          </a:p>
        </p:txBody>
      </p:sp>
      <p:sp>
        <p:nvSpPr>
          <p:cNvPr id="17" name="二等辺三角形 16">
            <a:extLst>
              <a:ext uri="{FF2B5EF4-FFF2-40B4-BE49-F238E27FC236}">
                <a16:creationId xmlns:a16="http://schemas.microsoft.com/office/drawing/2014/main" id="{EF238FD9-EAF7-C76B-C0DE-167848C43F5C}"/>
              </a:ext>
            </a:extLst>
          </p:cNvPr>
          <p:cNvSpPr/>
          <p:nvPr/>
        </p:nvSpPr>
        <p:spPr>
          <a:xfrm rot="16200000" flipV="1">
            <a:off x="4651062" y="3862366"/>
            <a:ext cx="2762595" cy="702733"/>
          </a:xfrm>
          <a:prstGeom prst="triangle">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4811527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類似度計算プログラムについて</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3" name="テキスト ボックス 12">
            <a:extLst>
              <a:ext uri="{FF2B5EF4-FFF2-40B4-BE49-F238E27FC236}">
                <a16:creationId xmlns:a16="http://schemas.microsoft.com/office/drawing/2014/main" id="{4B5ADE32-36D9-77EF-4877-6D53450AF593}"/>
              </a:ext>
            </a:extLst>
          </p:cNvPr>
          <p:cNvSpPr txBox="1"/>
          <p:nvPr/>
        </p:nvSpPr>
        <p:spPr>
          <a:xfrm>
            <a:off x="-125337" y="3019714"/>
            <a:ext cx="1919235" cy="646331"/>
          </a:xfrm>
          <a:prstGeom prst="rect">
            <a:avLst/>
          </a:prstGeom>
          <a:noFill/>
        </p:spPr>
        <p:txBody>
          <a:bodyPr wrap="square">
            <a:spAutoFit/>
          </a:bodyPr>
          <a:lstStyle/>
          <a:p>
            <a:pPr algn="ctr"/>
            <a:r>
              <a:rPr lang="ja-JP" altLang="en-US" sz="3600" dirty="0">
                <a:latin typeface="UD デジタル 教科書体 NK-B" panose="02020700000000000000" pitchFamily="18" charset="-128"/>
                <a:ea typeface="UD デジタル 教科書体 NK-B" panose="02020700000000000000" pitchFamily="18" charset="-128"/>
              </a:rPr>
              <a:t>過学習</a:t>
            </a:r>
            <a:endParaRPr lang="ja-JP" altLang="en-US" sz="3600" dirty="0"/>
          </a:p>
        </p:txBody>
      </p:sp>
      <p:sp>
        <p:nvSpPr>
          <p:cNvPr id="14" name="テキスト ボックス 13">
            <a:extLst>
              <a:ext uri="{FF2B5EF4-FFF2-40B4-BE49-F238E27FC236}">
                <a16:creationId xmlns:a16="http://schemas.microsoft.com/office/drawing/2014/main" id="{A5A2F6B3-B410-7BAE-845E-DF7D0DC4D7C7}"/>
              </a:ext>
            </a:extLst>
          </p:cNvPr>
          <p:cNvSpPr txBox="1"/>
          <p:nvPr/>
        </p:nvSpPr>
        <p:spPr>
          <a:xfrm>
            <a:off x="2386262" y="2742716"/>
            <a:ext cx="3366685" cy="1200329"/>
          </a:xfrm>
          <a:prstGeom prst="rect">
            <a:avLst/>
          </a:prstGeom>
          <a:noFill/>
        </p:spPr>
        <p:txBody>
          <a:bodyPr wrap="square">
            <a:spAutoFit/>
          </a:bodyPr>
          <a:lstStyle/>
          <a:p>
            <a:pPr algn="ctr"/>
            <a:r>
              <a:rPr lang="ja-JP" altLang="en-US" sz="3600" dirty="0">
                <a:latin typeface="UD デジタル 教科書体 NK-B" panose="02020700000000000000" pitchFamily="18" charset="-128"/>
                <a:ea typeface="UD デジタル 教科書体 NK-B" panose="02020700000000000000" pitchFamily="18" charset="-128"/>
              </a:rPr>
              <a:t>一つの</a:t>
            </a:r>
            <a:r>
              <a:rPr lang="en-US" altLang="ja-JP" sz="3600" dirty="0">
                <a:latin typeface="UD デジタル 教科書体 NK-B" panose="02020700000000000000" pitchFamily="18" charset="-128"/>
                <a:ea typeface="UD デジタル 教科書体 NK-B" panose="02020700000000000000" pitchFamily="18" charset="-128"/>
              </a:rPr>
              <a:t>QA</a:t>
            </a:r>
            <a:r>
              <a:rPr lang="ja-JP" altLang="en-US" sz="3600" dirty="0">
                <a:latin typeface="UD デジタル 教科書体 NK-B" panose="02020700000000000000" pitchFamily="18" charset="-128"/>
                <a:ea typeface="UD デジタル 教科書体 NK-B" panose="02020700000000000000" pitchFamily="18" charset="-128"/>
              </a:rPr>
              <a:t>セットが全体に影響</a:t>
            </a:r>
            <a:endParaRPr lang="ja-JP" altLang="en-US" sz="3600" dirty="0"/>
          </a:p>
        </p:txBody>
      </p:sp>
      <p:sp>
        <p:nvSpPr>
          <p:cNvPr id="15" name="二等辺三角形 14">
            <a:extLst>
              <a:ext uri="{FF2B5EF4-FFF2-40B4-BE49-F238E27FC236}">
                <a16:creationId xmlns:a16="http://schemas.microsoft.com/office/drawing/2014/main" id="{1971B78B-0A2D-312A-7285-06F83E416F56}"/>
              </a:ext>
            </a:extLst>
          </p:cNvPr>
          <p:cNvSpPr/>
          <p:nvPr/>
        </p:nvSpPr>
        <p:spPr>
          <a:xfrm flipV="1">
            <a:off x="1307009" y="4178658"/>
            <a:ext cx="2762595" cy="382811"/>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16" name="テキスト ボックス 15">
            <a:extLst>
              <a:ext uri="{FF2B5EF4-FFF2-40B4-BE49-F238E27FC236}">
                <a16:creationId xmlns:a16="http://schemas.microsoft.com/office/drawing/2014/main" id="{1A802DDC-355A-E230-BF14-C07B62548A01}"/>
              </a:ext>
            </a:extLst>
          </p:cNvPr>
          <p:cNvSpPr txBox="1"/>
          <p:nvPr/>
        </p:nvSpPr>
        <p:spPr>
          <a:xfrm>
            <a:off x="-15294" y="4797083"/>
            <a:ext cx="5929016" cy="1200329"/>
          </a:xfrm>
          <a:prstGeom prst="rect">
            <a:avLst/>
          </a:prstGeom>
          <a:noFill/>
        </p:spPr>
        <p:txBody>
          <a:bodyPr wrap="square">
            <a:spAutoFit/>
          </a:bodyPr>
          <a:lstStyle/>
          <a:p>
            <a:pPr algn="ctr"/>
            <a:r>
              <a:rPr lang="ja-JP" altLang="en-US" sz="3600" dirty="0">
                <a:latin typeface="UD デジタル 教科書体 NK-B" panose="02020700000000000000" pitchFamily="18" charset="-128"/>
                <a:ea typeface="UD デジタル 教科書体 NK-B" panose="02020700000000000000" pitchFamily="18" charset="-128"/>
              </a:rPr>
              <a:t>全文章と</a:t>
            </a:r>
            <a:r>
              <a:rPr lang="en-US" altLang="ja-JP" sz="3600" dirty="0">
                <a:latin typeface="UD デジタル 教科書体 NK-B" panose="02020700000000000000" pitchFamily="18" charset="-128"/>
                <a:ea typeface="UD デジタル 教科書体 NK-B" panose="02020700000000000000" pitchFamily="18" charset="-128"/>
              </a:rPr>
              <a:t>QA</a:t>
            </a:r>
            <a:r>
              <a:rPr lang="ja-JP" altLang="en-US" sz="3600" dirty="0">
                <a:latin typeface="UD デジタル 教科書体 NK-B" panose="02020700000000000000" pitchFamily="18" charset="-128"/>
                <a:ea typeface="UD デジタル 教科書体 NK-B" panose="02020700000000000000" pitchFamily="18" charset="-128"/>
              </a:rPr>
              <a:t>セットの関係性を信頼度の計算に使用？</a:t>
            </a:r>
            <a:endParaRPr lang="ja-JP" altLang="en-US" sz="3600" dirty="0"/>
          </a:p>
        </p:txBody>
      </p:sp>
      <p:sp>
        <p:nvSpPr>
          <p:cNvPr id="5" name="二等辺三角形 4">
            <a:extLst>
              <a:ext uri="{FF2B5EF4-FFF2-40B4-BE49-F238E27FC236}">
                <a16:creationId xmlns:a16="http://schemas.microsoft.com/office/drawing/2014/main" id="{A0876510-2E54-A1A6-4EE1-DF1DB2BD2F1C}"/>
              </a:ext>
            </a:extLst>
          </p:cNvPr>
          <p:cNvSpPr/>
          <p:nvPr/>
        </p:nvSpPr>
        <p:spPr>
          <a:xfrm rot="16200000" flipV="1">
            <a:off x="4883791" y="3880198"/>
            <a:ext cx="2762595" cy="702733"/>
          </a:xfrm>
          <a:prstGeom prst="triangle">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latin typeface="UD デジタル 教科書体 NK-B" panose="02020700000000000000" pitchFamily="18" charset="-128"/>
              <a:ea typeface="UD デジタル 教科書体 NK-B" panose="02020700000000000000" pitchFamily="18" charset="-128"/>
            </a:endParaRPr>
          </a:p>
        </p:txBody>
      </p:sp>
      <p:sp>
        <p:nvSpPr>
          <p:cNvPr id="6" name="テキスト ボックス 5">
            <a:extLst>
              <a:ext uri="{FF2B5EF4-FFF2-40B4-BE49-F238E27FC236}">
                <a16:creationId xmlns:a16="http://schemas.microsoft.com/office/drawing/2014/main" id="{DB962568-9F1A-881A-9F4D-F68705033353}"/>
              </a:ext>
            </a:extLst>
          </p:cNvPr>
          <p:cNvSpPr txBox="1"/>
          <p:nvPr/>
        </p:nvSpPr>
        <p:spPr>
          <a:xfrm>
            <a:off x="6777230" y="3088923"/>
            <a:ext cx="5618058" cy="2308324"/>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全文章と該当文章の</a:t>
            </a:r>
            <a:endParaRPr lang="en-US" altLang="ja-JP" sz="3600" dirty="0">
              <a:latin typeface="UD デジタル 教科書体 NK-B" panose="02020700000000000000" pitchFamily="18" charset="-128"/>
              <a:ea typeface="UD デジタル 教科書体 NK-B" panose="02020700000000000000" pitchFamily="18" charset="-128"/>
            </a:endParaRPr>
          </a:p>
          <a:p>
            <a:r>
              <a:rPr lang="ja-JP" altLang="en-US" sz="3600" dirty="0">
                <a:latin typeface="UD デジタル 教科書体 NK-B" panose="02020700000000000000" pitchFamily="18" charset="-128"/>
                <a:ea typeface="UD デジタル 教科書体 NK-B" panose="02020700000000000000" pitchFamily="18" charset="-128"/>
              </a:rPr>
              <a:t>単語の出現頻度から</a:t>
            </a:r>
            <a:endParaRPr lang="en-US" altLang="ja-JP" sz="3600" dirty="0">
              <a:latin typeface="UD デジタル 教科書体 NK-B" panose="02020700000000000000" pitchFamily="18" charset="-128"/>
              <a:ea typeface="UD デジタル 教科書体 NK-B" panose="02020700000000000000" pitchFamily="18" charset="-128"/>
            </a:endParaRPr>
          </a:p>
          <a:p>
            <a:r>
              <a:rPr lang="ja-JP" altLang="en-US" sz="3600" dirty="0">
                <a:latin typeface="UD デジタル 教科書体 NK-B" panose="02020700000000000000" pitchFamily="18" charset="-128"/>
                <a:ea typeface="UD デジタル 教科書体 NK-B" panose="02020700000000000000" pitchFamily="18" charset="-128"/>
              </a:rPr>
              <a:t>要素の重み付けが可能な</a:t>
            </a:r>
            <a:endParaRPr lang="en-US" altLang="ja-JP" sz="3600" dirty="0">
              <a:latin typeface="UD デジタル 教科書体 NK-B" panose="02020700000000000000" pitchFamily="18" charset="-128"/>
              <a:ea typeface="UD デジタル 教科書体 NK-B" panose="02020700000000000000" pitchFamily="18" charset="-128"/>
            </a:endParaRPr>
          </a:p>
          <a:p>
            <a:r>
              <a:rPr lang="en-US" altLang="ja-JP" sz="3600" dirty="0">
                <a:solidFill>
                  <a:srgbClr val="FF5050"/>
                </a:solidFill>
                <a:latin typeface="UD デジタル 教科書体 NK-B" panose="02020700000000000000" pitchFamily="18" charset="-128"/>
                <a:ea typeface="UD デジタル 教科書体 NK-B" panose="02020700000000000000" pitchFamily="18" charset="-128"/>
              </a:rPr>
              <a:t>TF-IDF</a:t>
            </a:r>
            <a:r>
              <a:rPr lang="ja-JP" altLang="en-US" sz="3600" dirty="0">
                <a:latin typeface="UD デジタル 教科書体 NK-B" panose="02020700000000000000" pitchFamily="18" charset="-128"/>
                <a:ea typeface="UD デジタル 教科書体 NK-B" panose="02020700000000000000" pitchFamily="18" charset="-128"/>
              </a:rPr>
              <a:t>を導入</a:t>
            </a:r>
          </a:p>
        </p:txBody>
      </p:sp>
    </p:spTree>
    <p:extLst>
      <p:ext uri="{BB962C8B-B14F-4D97-AF65-F5344CB8AC3E}">
        <p14:creationId xmlns:p14="http://schemas.microsoft.com/office/powerpoint/2010/main" val="9864073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284016C0-BA0A-54B4-791A-A47F42619B24}"/>
              </a:ext>
            </a:extLst>
          </p:cNvPr>
          <p:cNvSpPr txBox="1"/>
          <p:nvPr/>
        </p:nvSpPr>
        <p:spPr>
          <a:xfrm>
            <a:off x="8159054" y="3964682"/>
            <a:ext cx="177822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1" dirty="0">
                <a:solidFill>
                  <a:schemeClr val="tx1"/>
                </a:solidFill>
                <a:latin typeface="UD デジタル 教科書体 NK-B" panose="02020700000000000000" pitchFamily="18" charset="-128"/>
                <a:ea typeface="UD デジタル 教科書体 NK-B" panose="02020700000000000000" pitchFamily="18" charset="-128"/>
              </a:rPr>
              <a:t>標準形</a:t>
            </a:r>
          </a:p>
        </p:txBody>
      </p:sp>
      <p:sp>
        <p:nvSpPr>
          <p:cNvPr id="7" name="テキスト ボックス 6">
            <a:extLst>
              <a:ext uri="{FF2B5EF4-FFF2-40B4-BE49-F238E27FC236}">
                <a16:creationId xmlns:a16="http://schemas.microsoft.com/office/drawing/2014/main" id="{9CB71770-64A1-9578-FF3A-4CFEFE730F2B}"/>
              </a:ext>
            </a:extLst>
          </p:cNvPr>
          <p:cNvSpPr txBox="1"/>
          <p:nvPr/>
        </p:nvSpPr>
        <p:spPr>
          <a:xfrm>
            <a:off x="191654" y="3965869"/>
            <a:ext cx="590434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3600" kern="100" dirty="0">
                <a:effectLst/>
                <a:latin typeface="UD デジタル 教科書体 NK-B" panose="02020700000000000000" pitchFamily="18" charset="-128"/>
                <a:ea typeface="UD デジタル 教科書体 NK-B" panose="02020700000000000000" pitchFamily="18" charset="-128"/>
              </a:rPr>
              <a:t>2</a:t>
            </a:r>
            <a:r>
              <a:rPr lang="ja-JP" altLang="ja-JP"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次関数の標準形は何ですか</a:t>
            </a:r>
            <a:endParaRPr lang="en-US" altLang="ja-JP"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endParaRPr>
          </a:p>
        </p:txBody>
      </p:sp>
      <p:sp>
        <p:nvSpPr>
          <p:cNvPr id="16" name="テキスト ボックス 15">
            <a:extLst>
              <a:ext uri="{FF2B5EF4-FFF2-40B4-BE49-F238E27FC236}">
                <a16:creationId xmlns:a16="http://schemas.microsoft.com/office/drawing/2014/main" id="{A6CE64BA-013B-C7B9-6166-718FF70302A2}"/>
              </a:ext>
            </a:extLst>
          </p:cNvPr>
          <p:cNvSpPr txBox="1"/>
          <p:nvPr/>
        </p:nvSpPr>
        <p:spPr>
          <a:xfrm>
            <a:off x="8123915" y="3964681"/>
            <a:ext cx="1848502" cy="646331"/>
          </a:xfrm>
          <a:prstGeom prst="rect">
            <a:avLst/>
          </a:prstGeom>
          <a:noFill/>
        </p:spPr>
        <p:txBody>
          <a:bodyPr wrap="square">
            <a:spAutoFit/>
          </a:bodyPr>
          <a:lstStyle/>
          <a:p>
            <a:pPr algn="ctr"/>
            <a:r>
              <a:rPr kumimoji="1" lang="ja-JP" altLang="en-US" sz="3600" dirty="0">
                <a:latin typeface="UD デジタル 教科書体 NK-B" panose="02020700000000000000" pitchFamily="18" charset="-128"/>
                <a:ea typeface="UD デジタル 教科書体 NK-B" panose="02020700000000000000" pitchFamily="18" charset="-128"/>
              </a:rPr>
              <a:t>標準</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形</a:t>
            </a:r>
            <a:endParaRPr kumimoji="1" lang="en-US" altLang="ja-JP" sz="3600" dirty="0">
              <a:latin typeface="UD デジタル 教科書体 NK-B" panose="02020700000000000000" pitchFamily="18" charset="-128"/>
              <a:ea typeface="UD デジタル 教科書体 NK-B" panose="02020700000000000000" pitchFamily="18" charset="-128"/>
            </a:endParaRPr>
          </a:p>
        </p:txBody>
      </p:sp>
      <p:sp>
        <p:nvSpPr>
          <p:cNvPr id="14" name="テキスト ボックス 13">
            <a:extLst>
              <a:ext uri="{FF2B5EF4-FFF2-40B4-BE49-F238E27FC236}">
                <a16:creationId xmlns:a16="http://schemas.microsoft.com/office/drawing/2014/main" id="{87347753-BDFA-C2CC-52EB-863BEDDF54AF}"/>
              </a:ext>
            </a:extLst>
          </p:cNvPr>
          <p:cNvSpPr txBox="1"/>
          <p:nvPr/>
        </p:nvSpPr>
        <p:spPr>
          <a:xfrm>
            <a:off x="164542" y="3688869"/>
            <a:ext cx="5904341" cy="646331"/>
          </a:xfrm>
          <a:prstGeom prst="rect">
            <a:avLst/>
          </a:prstGeom>
          <a:noFill/>
        </p:spPr>
        <p:txBody>
          <a:bodyPr wrap="square">
            <a:spAutoFit/>
          </a:bodyPr>
          <a:lstStyle/>
          <a:p>
            <a:pPr algn="ctr"/>
            <a:r>
              <a:rPr kumimoji="1" lang="en-US" altLang="ja-JP" sz="3600" dirty="0">
                <a:latin typeface="UD デジタル 教科書体 NK-B" panose="02020700000000000000" pitchFamily="18" charset="-128"/>
                <a:ea typeface="UD デジタル 教科書体 NK-B" panose="02020700000000000000" pitchFamily="18" charset="-128"/>
              </a:rPr>
              <a:t>2,</a:t>
            </a:r>
            <a:r>
              <a:rPr kumimoji="1" lang="ja-JP" altLang="en-US" sz="3600" dirty="0">
                <a:latin typeface="UD デジタル 教科書体 NK-B" panose="02020700000000000000" pitchFamily="18" charset="-128"/>
                <a:ea typeface="UD デジタル 教科書体 NK-B" panose="02020700000000000000" pitchFamily="18" charset="-128"/>
              </a:rPr>
              <a:t>次</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関数</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の</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標準</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形</a:t>
            </a:r>
            <a:r>
              <a:rPr kumimoji="1" lang="en-US" altLang="ja-JP" sz="3600" dirty="0">
                <a:latin typeface="UD デジタル 教科書体 NK-B" panose="02020700000000000000" pitchFamily="18" charset="-128"/>
                <a:ea typeface="UD デジタル 教科書体 NK-B" panose="02020700000000000000" pitchFamily="18" charset="-128"/>
              </a:rPr>
              <a:t>,</a:t>
            </a:r>
          </a:p>
        </p:txBody>
      </p:sp>
      <p:sp>
        <p:nvSpPr>
          <p:cNvPr id="12" name="正方形/長方形 11">
            <a:extLst>
              <a:ext uri="{FF2B5EF4-FFF2-40B4-BE49-F238E27FC236}">
                <a16:creationId xmlns:a16="http://schemas.microsoft.com/office/drawing/2014/main" id="{A58C3732-C463-6CA1-2F0D-AEB51F9AA865}"/>
              </a:ext>
            </a:extLst>
          </p:cNvPr>
          <p:cNvSpPr/>
          <p:nvPr/>
        </p:nvSpPr>
        <p:spPr>
          <a:xfrm>
            <a:off x="-6324" y="0"/>
            <a:ext cx="12192000" cy="33066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F9B4E51F-4E53-6C5B-2AD0-CA99B9BD48E0}"/>
              </a:ext>
            </a:extLst>
          </p:cNvPr>
          <p:cNvSpPr/>
          <p:nvPr/>
        </p:nvSpPr>
        <p:spPr>
          <a:xfrm>
            <a:off x="-6324" y="0"/>
            <a:ext cx="12198324"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87134EF8-FE98-9289-194E-9263F4A96B16}"/>
              </a:ext>
            </a:extLst>
          </p:cNvPr>
          <p:cNvSpPr txBox="1">
            <a:spLocks/>
          </p:cNvSpPr>
          <p:nvPr/>
        </p:nvSpPr>
        <p:spPr>
          <a:xfrm>
            <a:off x="69078" y="78322"/>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ベクトル化</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0" name="テキスト ボックス 9">
            <a:extLst>
              <a:ext uri="{FF2B5EF4-FFF2-40B4-BE49-F238E27FC236}">
                <a16:creationId xmlns:a16="http://schemas.microsoft.com/office/drawing/2014/main" id="{0264BEF2-726D-4993-4252-4742E73270CD}"/>
              </a:ext>
            </a:extLst>
          </p:cNvPr>
          <p:cNvSpPr txBox="1"/>
          <p:nvPr/>
        </p:nvSpPr>
        <p:spPr>
          <a:xfrm>
            <a:off x="2170546" y="2434617"/>
            <a:ext cx="1946563"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文章</a:t>
            </a:r>
            <a:r>
              <a:rPr lang="en-US" altLang="ja-JP"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A</a:t>
            </a:r>
          </a:p>
        </p:txBody>
      </p:sp>
      <p:sp>
        <p:nvSpPr>
          <p:cNvPr id="11" name="テキスト ボックス 10">
            <a:extLst>
              <a:ext uri="{FF2B5EF4-FFF2-40B4-BE49-F238E27FC236}">
                <a16:creationId xmlns:a16="http://schemas.microsoft.com/office/drawing/2014/main" id="{1FDE53F9-F4F2-EE75-7272-587DF6C19530}"/>
              </a:ext>
            </a:extLst>
          </p:cNvPr>
          <p:cNvSpPr txBox="1"/>
          <p:nvPr/>
        </p:nvSpPr>
        <p:spPr>
          <a:xfrm>
            <a:off x="8025854" y="2436930"/>
            <a:ext cx="1946563"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文章</a:t>
            </a:r>
            <a:r>
              <a:rPr lang="en-US" altLang="ja-JP" sz="3600" kern="100" dirty="0">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B</a:t>
            </a:r>
            <a:endParaRPr lang="en-US" altLang="ja-JP"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endParaRPr>
          </a:p>
        </p:txBody>
      </p:sp>
      <p:cxnSp>
        <p:nvCxnSpPr>
          <p:cNvPr id="18" name="直線コネクタ 17">
            <a:extLst>
              <a:ext uri="{FF2B5EF4-FFF2-40B4-BE49-F238E27FC236}">
                <a16:creationId xmlns:a16="http://schemas.microsoft.com/office/drawing/2014/main" id="{9E7665C9-BB6C-A6A1-4850-AECA3FFCCE06}"/>
              </a:ext>
            </a:extLst>
          </p:cNvPr>
          <p:cNvCxnSpPr>
            <a:cxnSpLocks/>
          </p:cNvCxnSpPr>
          <p:nvPr/>
        </p:nvCxnSpPr>
        <p:spPr>
          <a:xfrm>
            <a:off x="6127377" y="1488141"/>
            <a:ext cx="0" cy="536985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四角形: 角を丸くする 20">
            <a:extLst>
              <a:ext uri="{FF2B5EF4-FFF2-40B4-BE49-F238E27FC236}">
                <a16:creationId xmlns:a16="http://schemas.microsoft.com/office/drawing/2014/main" id="{23F63915-FCB0-6BCB-6055-E85869F1163D}"/>
              </a:ext>
            </a:extLst>
          </p:cNvPr>
          <p:cNvSpPr/>
          <p:nvPr/>
        </p:nvSpPr>
        <p:spPr>
          <a:xfrm>
            <a:off x="1916040" y="5269075"/>
            <a:ext cx="8422673" cy="1216639"/>
          </a:xfrm>
          <a:prstGeom prst="roundRect">
            <a:avLst/>
          </a:prstGeom>
          <a:solidFill>
            <a:srgbClr val="DADA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[2,</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か</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です</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の</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は</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何</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形</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標準</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次</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関数</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endParaRPr kumimoji="1" lang="ja-JP" altLang="ja-JP" sz="3600" b="0" i="0" u="none" strike="noStrike" kern="12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endParaRPr>
          </a:p>
        </p:txBody>
      </p:sp>
      <p:sp>
        <p:nvSpPr>
          <p:cNvPr id="22" name="テキスト ボックス 21">
            <a:extLst>
              <a:ext uri="{FF2B5EF4-FFF2-40B4-BE49-F238E27FC236}">
                <a16:creationId xmlns:a16="http://schemas.microsoft.com/office/drawing/2014/main" id="{4832122F-FE5E-3FC7-D33A-8429DDEF82DB}"/>
              </a:ext>
            </a:extLst>
          </p:cNvPr>
          <p:cNvSpPr txBox="1"/>
          <p:nvPr/>
        </p:nvSpPr>
        <p:spPr>
          <a:xfrm>
            <a:off x="1669804" y="4160553"/>
            <a:ext cx="2948046" cy="646331"/>
          </a:xfrm>
          <a:prstGeom prst="rect">
            <a:avLst/>
          </a:prstGeom>
          <a:noFill/>
        </p:spPr>
        <p:txBody>
          <a:bodyPr wrap="square">
            <a:spAutoFit/>
          </a:bodyPr>
          <a:lstStyle/>
          <a:p>
            <a:pPr algn="ctr"/>
            <a:r>
              <a:rPr kumimoji="1" lang="ja-JP" altLang="en-US" sz="3600" dirty="0">
                <a:latin typeface="UD デジタル 教科書体 NK-B" panose="02020700000000000000" pitchFamily="18" charset="-128"/>
                <a:ea typeface="UD デジタル 教科書体 NK-B" panose="02020700000000000000" pitchFamily="18" charset="-128"/>
              </a:rPr>
              <a:t>は</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何</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です</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か</a:t>
            </a:r>
            <a:endParaRPr kumimoji="1" lang="en-US" altLang="ja-JP" sz="3600"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7282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grpId="0" nodeType="clickEffect">
                                  <p:stCondLst>
                                    <p:cond delay="0"/>
                                  </p:stCondLst>
                                  <p:childTnLst>
                                    <p:anim calcmode="lin" valueType="num">
                                      <p:cBhvr additive="base">
                                        <p:cTn id="6" dur="500"/>
                                        <p:tgtEl>
                                          <p:spTgt spid="7"/>
                                        </p:tgtEl>
                                        <p:attrNameLst>
                                          <p:attrName>ppt_x</p:attrName>
                                        </p:attrNameLst>
                                      </p:cBhvr>
                                      <p:tavLst>
                                        <p:tav tm="0">
                                          <p:val>
                                            <p:strVal val="ppt_x"/>
                                          </p:val>
                                        </p:tav>
                                        <p:tav tm="100000">
                                          <p:val>
                                            <p:strVal val="ppt_x"/>
                                          </p:val>
                                        </p:tav>
                                      </p:tavLst>
                                    </p:anim>
                                    <p:anim calcmode="lin" valueType="num">
                                      <p:cBhvr additive="base">
                                        <p:cTn id="7" dur="500"/>
                                        <p:tgtEl>
                                          <p:spTgt spid="7"/>
                                        </p:tgtEl>
                                        <p:attrNameLst>
                                          <p:attrName>ppt_y</p:attrName>
                                        </p:attrNameLst>
                                      </p:cBhvr>
                                      <p:tavLst>
                                        <p:tav tm="0">
                                          <p:val>
                                            <p:strVal val="ppt_y"/>
                                          </p:val>
                                        </p:tav>
                                        <p:tav tm="100000">
                                          <p:val>
                                            <p:strVal val="0-ppt_h/2"/>
                                          </p:val>
                                        </p:tav>
                                      </p:tavLst>
                                    </p:anim>
                                    <p:set>
                                      <p:cBhvr>
                                        <p:cTn id="8" dur="1" fill="hold">
                                          <p:stCondLst>
                                            <p:cond delay="499"/>
                                          </p:stCondLst>
                                        </p:cTn>
                                        <p:tgtEl>
                                          <p:spTgt spid="7"/>
                                        </p:tgtEl>
                                        <p:attrNameLst>
                                          <p:attrName>style.visibility</p:attrName>
                                        </p:attrNameLst>
                                      </p:cBhvr>
                                      <p:to>
                                        <p:strVal val="hidden"/>
                                      </p:to>
                                    </p:set>
                                  </p:childTnLst>
                                </p:cTn>
                              </p:par>
                              <p:par>
                                <p:cTn id="9" presetID="2" presetClass="exit" presetSubtype="1" fill="hold" grpId="0" nodeType="withEffect">
                                  <p:stCondLst>
                                    <p:cond delay="0"/>
                                  </p:stCondLst>
                                  <p:childTnLst>
                                    <p:anim calcmode="lin" valueType="num">
                                      <p:cBhvr additive="base">
                                        <p:cTn id="10" dur="500"/>
                                        <p:tgtEl>
                                          <p:spTgt spid="9"/>
                                        </p:tgtEl>
                                        <p:attrNameLst>
                                          <p:attrName>ppt_x</p:attrName>
                                        </p:attrNameLst>
                                      </p:cBhvr>
                                      <p:tavLst>
                                        <p:tav tm="0">
                                          <p:val>
                                            <p:strVal val="ppt_x"/>
                                          </p:val>
                                        </p:tav>
                                        <p:tav tm="100000">
                                          <p:val>
                                            <p:strVal val="ppt_x"/>
                                          </p:val>
                                        </p:tav>
                                      </p:tavLst>
                                    </p:anim>
                                    <p:anim calcmode="lin" valueType="num">
                                      <p:cBhvr additive="base">
                                        <p:cTn id="11" dur="500"/>
                                        <p:tgtEl>
                                          <p:spTgt spid="9"/>
                                        </p:tgtEl>
                                        <p:attrNameLst>
                                          <p:attrName>ppt_y</p:attrName>
                                        </p:attrNameLst>
                                      </p:cBhvr>
                                      <p:tavLst>
                                        <p:tav tm="0">
                                          <p:val>
                                            <p:strVal val="ppt_y"/>
                                          </p:val>
                                        </p:tav>
                                        <p:tav tm="100000">
                                          <p:val>
                                            <p:strVal val="0-ppt_h/2"/>
                                          </p:val>
                                        </p:tav>
                                      </p:tavLst>
                                    </p:anim>
                                    <p:set>
                                      <p:cBhvr>
                                        <p:cTn id="12" dur="1" fill="hold">
                                          <p:stCondLst>
                                            <p:cond delay="499"/>
                                          </p:stCondLst>
                                        </p:cTn>
                                        <p:tgtEl>
                                          <p:spTgt spid="9"/>
                                        </p:tgtEl>
                                        <p:attrNameLst>
                                          <p:attrName>style.visibility</p:attrName>
                                        </p:attrNameLst>
                                      </p:cBhvr>
                                      <p:to>
                                        <p:strVal val="hidden"/>
                                      </p:to>
                                    </p:set>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250" fill="hold"/>
                                        <p:tgtEl>
                                          <p:spTgt spid="14"/>
                                        </p:tgtEl>
                                        <p:attrNameLst>
                                          <p:attrName>ppt_x</p:attrName>
                                        </p:attrNameLst>
                                      </p:cBhvr>
                                      <p:tavLst>
                                        <p:tav tm="0">
                                          <p:val>
                                            <p:strVal val="#ppt_x"/>
                                          </p:val>
                                        </p:tav>
                                        <p:tav tm="100000">
                                          <p:val>
                                            <p:strVal val="#ppt_x"/>
                                          </p:val>
                                        </p:tav>
                                      </p:tavLst>
                                    </p:anim>
                                    <p:anim calcmode="lin" valueType="num">
                                      <p:cBhvr additive="base">
                                        <p:cTn id="16" dur="25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250" fill="hold"/>
                                        <p:tgtEl>
                                          <p:spTgt spid="16"/>
                                        </p:tgtEl>
                                        <p:attrNameLst>
                                          <p:attrName>ppt_x</p:attrName>
                                        </p:attrNameLst>
                                      </p:cBhvr>
                                      <p:tavLst>
                                        <p:tav tm="0">
                                          <p:val>
                                            <p:strVal val="#ppt_x"/>
                                          </p:val>
                                        </p:tav>
                                        <p:tav tm="100000">
                                          <p:val>
                                            <p:strVal val="#ppt_x"/>
                                          </p:val>
                                        </p:tav>
                                      </p:tavLst>
                                    </p:anim>
                                    <p:anim calcmode="lin" valueType="num">
                                      <p:cBhvr additive="base">
                                        <p:cTn id="20" dur="25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250" fill="hold"/>
                                        <p:tgtEl>
                                          <p:spTgt spid="22"/>
                                        </p:tgtEl>
                                        <p:attrNameLst>
                                          <p:attrName>ppt_x</p:attrName>
                                        </p:attrNameLst>
                                      </p:cBhvr>
                                      <p:tavLst>
                                        <p:tav tm="0">
                                          <p:val>
                                            <p:strVal val="#ppt_x"/>
                                          </p:val>
                                        </p:tav>
                                        <p:tav tm="100000">
                                          <p:val>
                                            <p:strVal val="#ppt_x"/>
                                          </p:val>
                                        </p:tav>
                                      </p:tavLst>
                                    </p:anim>
                                    <p:anim calcmode="lin" valueType="num">
                                      <p:cBhvr additive="base">
                                        <p:cTn id="24" dur="25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250" fill="hold"/>
                                        <p:tgtEl>
                                          <p:spTgt spid="21"/>
                                        </p:tgtEl>
                                        <p:attrNameLst>
                                          <p:attrName>ppt_x</p:attrName>
                                        </p:attrNameLst>
                                      </p:cBhvr>
                                      <p:tavLst>
                                        <p:tav tm="0">
                                          <p:val>
                                            <p:strVal val="#ppt_x"/>
                                          </p:val>
                                        </p:tav>
                                        <p:tav tm="100000">
                                          <p:val>
                                            <p:strVal val="#ppt_x"/>
                                          </p:val>
                                        </p:tav>
                                      </p:tavLst>
                                    </p:anim>
                                    <p:anim calcmode="lin" valueType="num">
                                      <p:cBhvr additive="base">
                                        <p:cTn id="30" dur="25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P spid="16" grpId="0"/>
      <p:bldP spid="14" grpId="0"/>
      <p:bldP spid="21" grpId="0" animBg="1"/>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descr="図形&#10;&#10;中程度の精度で自動的に生成された説明">
            <a:extLst>
              <a:ext uri="{FF2B5EF4-FFF2-40B4-BE49-F238E27FC236}">
                <a16:creationId xmlns:a16="http://schemas.microsoft.com/office/drawing/2014/main" id="{2E4E3BE4-17CD-521D-2E1C-417D9126F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5263" y="4072495"/>
            <a:ext cx="6971675" cy="856219"/>
          </a:xfrm>
          <a:prstGeom prst="rect">
            <a:avLst/>
          </a:prstGeom>
        </p:spPr>
      </p:pic>
      <p:pic>
        <p:nvPicPr>
          <p:cNvPr id="14" name="図 13" descr="図形&#10;&#10;中程度の精度で自動的に生成された説明">
            <a:extLst>
              <a:ext uri="{FF2B5EF4-FFF2-40B4-BE49-F238E27FC236}">
                <a16:creationId xmlns:a16="http://schemas.microsoft.com/office/drawing/2014/main" id="{9C79E6DE-7918-8CB4-FAAE-624A0DA459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3843" y="5614702"/>
            <a:ext cx="6871921" cy="856219"/>
          </a:xfrm>
          <a:prstGeom prst="rect">
            <a:avLst/>
          </a:prstGeom>
        </p:spPr>
      </p:pic>
      <p:sp>
        <p:nvSpPr>
          <p:cNvPr id="8" name="テキスト ボックス 7">
            <a:extLst>
              <a:ext uri="{FF2B5EF4-FFF2-40B4-BE49-F238E27FC236}">
                <a16:creationId xmlns:a16="http://schemas.microsoft.com/office/drawing/2014/main" id="{DCE6FA00-BBB6-D6EF-BC98-971270C08E0A}"/>
              </a:ext>
            </a:extLst>
          </p:cNvPr>
          <p:cNvSpPr txBox="1"/>
          <p:nvPr/>
        </p:nvSpPr>
        <p:spPr>
          <a:xfrm>
            <a:off x="3255264" y="4968371"/>
            <a:ext cx="1848502" cy="646331"/>
          </a:xfrm>
          <a:prstGeom prst="rect">
            <a:avLst/>
          </a:prstGeom>
          <a:noFill/>
        </p:spPr>
        <p:txBody>
          <a:bodyPr wrap="square">
            <a:spAutoFit/>
          </a:bodyPr>
          <a:lstStyle/>
          <a:p>
            <a:pPr algn="ctr"/>
            <a:r>
              <a:rPr kumimoji="1" lang="ja-JP" altLang="en-US" sz="3600" dirty="0">
                <a:latin typeface="UD デジタル 教科書体 NK-B" panose="02020700000000000000" pitchFamily="18" charset="-128"/>
                <a:ea typeface="UD デジタル 教科書体 NK-B" panose="02020700000000000000" pitchFamily="18" charset="-128"/>
              </a:rPr>
              <a:t>標準</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形</a:t>
            </a:r>
            <a:endParaRPr kumimoji="1" lang="en-US" altLang="ja-JP" sz="3600" dirty="0">
              <a:latin typeface="UD デジタル 教科書体 NK-B" panose="02020700000000000000" pitchFamily="18" charset="-128"/>
              <a:ea typeface="UD デジタル 教科書体 NK-B" panose="02020700000000000000" pitchFamily="18" charset="-128"/>
            </a:endParaRPr>
          </a:p>
        </p:txBody>
      </p:sp>
      <p:sp>
        <p:nvSpPr>
          <p:cNvPr id="13" name="テキスト ボックス 12">
            <a:extLst>
              <a:ext uri="{FF2B5EF4-FFF2-40B4-BE49-F238E27FC236}">
                <a16:creationId xmlns:a16="http://schemas.microsoft.com/office/drawing/2014/main" id="{2991C810-58D0-C87E-477F-BB27607C722F}"/>
              </a:ext>
            </a:extLst>
          </p:cNvPr>
          <p:cNvSpPr txBox="1"/>
          <p:nvPr/>
        </p:nvSpPr>
        <p:spPr>
          <a:xfrm>
            <a:off x="3255264" y="3429000"/>
            <a:ext cx="4797867" cy="646331"/>
          </a:xfrm>
          <a:prstGeom prst="rect">
            <a:avLst/>
          </a:prstGeom>
          <a:noFill/>
        </p:spPr>
        <p:txBody>
          <a:bodyPr wrap="square">
            <a:spAutoFit/>
          </a:bodyPr>
          <a:lstStyle/>
          <a:p>
            <a:pPr algn="ctr"/>
            <a:r>
              <a:rPr kumimoji="1" lang="en-US" altLang="ja-JP" sz="3600" dirty="0">
                <a:latin typeface="UD デジタル 教科書体 NK-B" panose="02020700000000000000" pitchFamily="18" charset="-128"/>
                <a:ea typeface="UD デジタル 教科書体 NK-B" panose="02020700000000000000" pitchFamily="18" charset="-128"/>
              </a:rPr>
              <a:t>2,</a:t>
            </a:r>
            <a:r>
              <a:rPr kumimoji="1" lang="ja-JP" altLang="en-US" sz="3600" dirty="0">
                <a:latin typeface="UD デジタル 教科書体 NK-B" panose="02020700000000000000" pitchFamily="18" charset="-128"/>
                <a:ea typeface="UD デジタル 教科書体 NK-B" panose="02020700000000000000" pitchFamily="18" charset="-128"/>
              </a:rPr>
              <a:t>次</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関数</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の</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標準</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形</a:t>
            </a:r>
            <a:r>
              <a:rPr kumimoji="1" lang="en-US" altLang="ja-JP" sz="3600" dirty="0">
                <a:latin typeface="UD デジタル 教科書体 NK-B" panose="02020700000000000000" pitchFamily="18" charset="-128"/>
                <a:ea typeface="UD デジタル 教科書体 NK-B" panose="02020700000000000000" pitchFamily="18" charset="-128"/>
              </a:rPr>
              <a:t>,</a:t>
            </a:r>
          </a:p>
        </p:txBody>
      </p:sp>
      <p:sp>
        <p:nvSpPr>
          <p:cNvPr id="15" name="テキスト ボックス 14">
            <a:extLst>
              <a:ext uri="{FF2B5EF4-FFF2-40B4-BE49-F238E27FC236}">
                <a16:creationId xmlns:a16="http://schemas.microsoft.com/office/drawing/2014/main" id="{881327B4-F95B-D632-EF76-79A36ECDC253}"/>
              </a:ext>
            </a:extLst>
          </p:cNvPr>
          <p:cNvSpPr txBox="1"/>
          <p:nvPr/>
        </p:nvSpPr>
        <p:spPr>
          <a:xfrm>
            <a:off x="7860292" y="3428568"/>
            <a:ext cx="2948046" cy="646331"/>
          </a:xfrm>
          <a:prstGeom prst="rect">
            <a:avLst/>
          </a:prstGeom>
          <a:noFill/>
        </p:spPr>
        <p:txBody>
          <a:bodyPr wrap="square">
            <a:spAutoFit/>
          </a:bodyPr>
          <a:lstStyle/>
          <a:p>
            <a:pPr algn="ctr"/>
            <a:r>
              <a:rPr kumimoji="1" lang="ja-JP" altLang="en-US" sz="3600" dirty="0">
                <a:latin typeface="UD デジタル 教科書体 NK-B" panose="02020700000000000000" pitchFamily="18" charset="-128"/>
                <a:ea typeface="UD デジタル 教科書体 NK-B" panose="02020700000000000000" pitchFamily="18" charset="-128"/>
              </a:rPr>
              <a:t>は</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何</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です</a:t>
            </a:r>
            <a:r>
              <a:rPr kumimoji="1" lang="en-US" altLang="ja-JP" sz="3600" dirty="0">
                <a:latin typeface="UD デジタル 教科書体 NK-B" panose="02020700000000000000" pitchFamily="18" charset="-128"/>
                <a:ea typeface="UD デジタル 教科書体 NK-B" panose="02020700000000000000" pitchFamily="18" charset="-128"/>
              </a:rPr>
              <a:t>,</a:t>
            </a:r>
            <a:r>
              <a:rPr kumimoji="1" lang="ja-JP" altLang="en-US" sz="3600" dirty="0">
                <a:latin typeface="UD デジタル 教科書体 NK-B" panose="02020700000000000000" pitchFamily="18" charset="-128"/>
                <a:ea typeface="UD デジタル 教科書体 NK-B" panose="02020700000000000000" pitchFamily="18" charset="-128"/>
              </a:rPr>
              <a:t>か</a:t>
            </a:r>
            <a:endParaRPr kumimoji="1" lang="en-US" altLang="ja-JP" sz="3600" dirty="0">
              <a:latin typeface="UD デジタル 教科書体 NK-B" panose="02020700000000000000" pitchFamily="18" charset="-128"/>
              <a:ea typeface="UD デジタル 教科書体 NK-B" panose="02020700000000000000" pitchFamily="18" charset="-128"/>
            </a:endParaRPr>
          </a:p>
        </p:txBody>
      </p:sp>
      <p:sp>
        <p:nvSpPr>
          <p:cNvPr id="4" name="正方形/長方形 3">
            <a:extLst>
              <a:ext uri="{FF2B5EF4-FFF2-40B4-BE49-F238E27FC236}">
                <a16:creationId xmlns:a16="http://schemas.microsoft.com/office/drawing/2014/main" id="{F9B4E51F-4E53-6C5B-2AD0-CA99B9BD48E0}"/>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87134EF8-FE98-9289-194E-9263F4A96B16}"/>
              </a:ext>
            </a:extLst>
          </p:cNvPr>
          <p:cNvSpPr txBox="1">
            <a:spLocks/>
          </p:cNvSpPr>
          <p:nvPr/>
        </p:nvSpPr>
        <p:spPr>
          <a:xfrm>
            <a:off x="69078" y="78322"/>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実験結果：ベクトル化</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21" name="四角形: 角を丸くする 20">
            <a:extLst>
              <a:ext uri="{FF2B5EF4-FFF2-40B4-BE49-F238E27FC236}">
                <a16:creationId xmlns:a16="http://schemas.microsoft.com/office/drawing/2014/main" id="{23F63915-FCB0-6BCB-6055-E85869F1163D}"/>
              </a:ext>
            </a:extLst>
          </p:cNvPr>
          <p:cNvSpPr/>
          <p:nvPr/>
        </p:nvSpPr>
        <p:spPr>
          <a:xfrm>
            <a:off x="1442197" y="1612540"/>
            <a:ext cx="8424000" cy="1216639"/>
          </a:xfrm>
          <a:prstGeom prst="roundRect">
            <a:avLst/>
          </a:prstGeom>
          <a:solidFill>
            <a:srgbClr val="DADAE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[2,</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か</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です</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の</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は</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何</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形</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標準</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次</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r>
              <a:rPr kumimoji="1" lang="ja-JP"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関数</a:t>
            </a:r>
            <a:r>
              <a:rPr kumimoji="1" lang="en-US" altLang="ja-JP" sz="3600" b="0" i="0" u="none" strike="noStrike" kern="1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a:t>
            </a:r>
            <a:endParaRPr kumimoji="1" lang="ja-JP" altLang="ja-JP" sz="3600" b="0" i="0" u="none" strike="noStrike" kern="1200" cap="none" spc="0" normalizeH="0" baseline="0" noProof="0" dirty="0">
              <a:ln>
                <a:noFill/>
              </a:ln>
              <a:solidFill>
                <a:prstClr val="black"/>
              </a:solidFill>
              <a:effectLst/>
              <a:uLnTx/>
              <a:uFillTx/>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endParaRPr>
          </a:p>
        </p:txBody>
      </p:sp>
      <p:sp>
        <p:nvSpPr>
          <p:cNvPr id="25" name="正方形/長方形 24">
            <a:extLst>
              <a:ext uri="{FF2B5EF4-FFF2-40B4-BE49-F238E27FC236}">
                <a16:creationId xmlns:a16="http://schemas.microsoft.com/office/drawing/2014/main" id="{9B253660-1725-AF6A-7D15-6F490BDD0C4C}"/>
              </a:ext>
            </a:extLst>
          </p:cNvPr>
          <p:cNvSpPr/>
          <p:nvPr/>
        </p:nvSpPr>
        <p:spPr>
          <a:xfrm>
            <a:off x="21132" y="3145536"/>
            <a:ext cx="2000394" cy="3680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ああああ</a:t>
            </a:r>
          </a:p>
        </p:txBody>
      </p:sp>
      <p:sp>
        <p:nvSpPr>
          <p:cNvPr id="2" name="テキスト ボックス 1">
            <a:extLst>
              <a:ext uri="{FF2B5EF4-FFF2-40B4-BE49-F238E27FC236}">
                <a16:creationId xmlns:a16="http://schemas.microsoft.com/office/drawing/2014/main" id="{15144E34-2A07-538D-DC5C-424AFDFFC573}"/>
              </a:ext>
            </a:extLst>
          </p:cNvPr>
          <p:cNvSpPr txBox="1"/>
          <p:nvPr/>
        </p:nvSpPr>
        <p:spPr>
          <a:xfrm>
            <a:off x="250306" y="3429000"/>
            <a:ext cx="1946563"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文章</a:t>
            </a:r>
            <a:r>
              <a:rPr lang="en-US" altLang="ja-JP"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A</a:t>
            </a:r>
          </a:p>
        </p:txBody>
      </p:sp>
      <p:sp>
        <p:nvSpPr>
          <p:cNvPr id="3" name="テキスト ボックス 2">
            <a:extLst>
              <a:ext uri="{FF2B5EF4-FFF2-40B4-BE49-F238E27FC236}">
                <a16:creationId xmlns:a16="http://schemas.microsoft.com/office/drawing/2014/main" id="{1D7F8CAC-A7B6-5E35-517C-0AA283403DC3}"/>
              </a:ext>
            </a:extLst>
          </p:cNvPr>
          <p:cNvSpPr txBox="1"/>
          <p:nvPr/>
        </p:nvSpPr>
        <p:spPr>
          <a:xfrm>
            <a:off x="250305" y="4968371"/>
            <a:ext cx="1946563"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文章</a:t>
            </a:r>
            <a:r>
              <a:rPr lang="en-US" altLang="ja-JP" sz="3600" kern="100" dirty="0">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B</a:t>
            </a:r>
            <a:endParaRPr lang="en-US" altLang="ja-JP" sz="3600" kern="100" dirty="0">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endParaRPr>
          </a:p>
        </p:txBody>
      </p:sp>
      <p:pic>
        <p:nvPicPr>
          <p:cNvPr id="17" name="図 16" descr="図形&#10;&#10;中程度の精度で自動的に生成された説明">
            <a:extLst>
              <a:ext uri="{FF2B5EF4-FFF2-40B4-BE49-F238E27FC236}">
                <a16:creationId xmlns:a16="http://schemas.microsoft.com/office/drawing/2014/main" id="{A76013D0-DCD6-D123-6221-FDEF0EC356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96868" y="3317415"/>
            <a:ext cx="9108067" cy="1510160"/>
          </a:xfrm>
          <a:prstGeom prst="rect">
            <a:avLst/>
          </a:prstGeom>
        </p:spPr>
      </p:pic>
      <p:pic>
        <p:nvPicPr>
          <p:cNvPr id="23" name="図 22" descr="図形&#10;&#10;中程度の精度で自動的に生成された説明">
            <a:extLst>
              <a:ext uri="{FF2B5EF4-FFF2-40B4-BE49-F238E27FC236}">
                <a16:creationId xmlns:a16="http://schemas.microsoft.com/office/drawing/2014/main" id="{C68AD41A-E7DA-43A6-A844-C0C148F73E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80025" y="4810779"/>
            <a:ext cx="9662254" cy="961515"/>
          </a:xfrm>
          <a:prstGeom prst="rect">
            <a:avLst/>
          </a:prstGeom>
        </p:spPr>
      </p:pic>
    </p:spTree>
    <p:extLst>
      <p:ext uri="{BB962C8B-B14F-4D97-AF65-F5344CB8AC3E}">
        <p14:creationId xmlns:p14="http://schemas.microsoft.com/office/powerpoint/2010/main" val="20136424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250" fill="hold"/>
                                        <p:tgtEl>
                                          <p:spTgt spid="11"/>
                                        </p:tgtEl>
                                        <p:attrNameLst>
                                          <p:attrName>ppt_x</p:attrName>
                                        </p:attrNameLst>
                                      </p:cBhvr>
                                      <p:tavLst>
                                        <p:tav tm="0">
                                          <p:val>
                                            <p:strVal val="1+#ppt_w/2"/>
                                          </p:val>
                                        </p:tav>
                                        <p:tav tm="100000">
                                          <p:val>
                                            <p:strVal val="#ppt_x"/>
                                          </p:val>
                                        </p:tav>
                                      </p:tavLst>
                                    </p:anim>
                                    <p:anim calcmode="lin" valueType="num">
                                      <p:cBhvr additive="base">
                                        <p:cTn id="8" dur="25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fill="hold"/>
                                        <p:tgtEl>
                                          <p:spTgt spid="14"/>
                                        </p:tgtEl>
                                        <p:attrNameLst>
                                          <p:attrName>ppt_x</p:attrName>
                                        </p:attrNameLst>
                                      </p:cBhvr>
                                      <p:tavLst>
                                        <p:tav tm="0">
                                          <p:val>
                                            <p:strVal val="1+#ppt_w/2"/>
                                          </p:val>
                                        </p:tav>
                                        <p:tav tm="100000">
                                          <p:val>
                                            <p:strVal val="#ppt_x"/>
                                          </p:val>
                                        </p:tav>
                                      </p:tavLst>
                                    </p:anim>
                                    <p:anim calcmode="lin" valueType="num">
                                      <p:cBhvr additive="base">
                                        <p:cTn id="12" dur="25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grpId="0" nodeType="clickEffect">
                                  <p:stCondLst>
                                    <p:cond delay="0"/>
                                  </p:stCondLst>
                                  <p:childTnLst>
                                    <p:anim calcmode="lin" valueType="num">
                                      <p:cBhvr additive="base">
                                        <p:cTn id="16" dur="250"/>
                                        <p:tgtEl>
                                          <p:spTgt spid="8"/>
                                        </p:tgtEl>
                                        <p:attrNameLst>
                                          <p:attrName>ppt_x</p:attrName>
                                        </p:attrNameLst>
                                      </p:cBhvr>
                                      <p:tavLst>
                                        <p:tav tm="0">
                                          <p:val>
                                            <p:strVal val="ppt_x"/>
                                          </p:val>
                                        </p:tav>
                                        <p:tav tm="100000">
                                          <p:val>
                                            <p:strVal val="0-ppt_w/2"/>
                                          </p:val>
                                        </p:tav>
                                      </p:tavLst>
                                    </p:anim>
                                    <p:anim calcmode="lin" valueType="num">
                                      <p:cBhvr additive="base">
                                        <p:cTn id="17" dur="250"/>
                                        <p:tgtEl>
                                          <p:spTgt spid="8"/>
                                        </p:tgtEl>
                                        <p:attrNameLst>
                                          <p:attrName>ppt_y</p:attrName>
                                        </p:attrNameLst>
                                      </p:cBhvr>
                                      <p:tavLst>
                                        <p:tav tm="0">
                                          <p:val>
                                            <p:strVal val="ppt_y"/>
                                          </p:val>
                                        </p:tav>
                                        <p:tav tm="100000">
                                          <p:val>
                                            <p:strVal val="ppt_y"/>
                                          </p:val>
                                        </p:tav>
                                      </p:tavLst>
                                    </p:anim>
                                    <p:set>
                                      <p:cBhvr>
                                        <p:cTn id="18" dur="1" fill="hold">
                                          <p:stCondLst>
                                            <p:cond delay="249"/>
                                          </p:stCondLst>
                                        </p:cTn>
                                        <p:tgtEl>
                                          <p:spTgt spid="8"/>
                                        </p:tgtEl>
                                        <p:attrNameLst>
                                          <p:attrName>style.visibility</p:attrName>
                                        </p:attrNameLst>
                                      </p:cBhvr>
                                      <p:to>
                                        <p:strVal val="hidden"/>
                                      </p:to>
                                    </p:set>
                                  </p:childTnLst>
                                </p:cTn>
                              </p:par>
                              <p:par>
                                <p:cTn id="19" presetID="2" presetClass="exit" presetSubtype="8" fill="hold" grpId="0" nodeType="withEffect">
                                  <p:stCondLst>
                                    <p:cond delay="0"/>
                                  </p:stCondLst>
                                  <p:childTnLst>
                                    <p:anim calcmode="lin" valueType="num">
                                      <p:cBhvr additive="base">
                                        <p:cTn id="20" dur="250"/>
                                        <p:tgtEl>
                                          <p:spTgt spid="13"/>
                                        </p:tgtEl>
                                        <p:attrNameLst>
                                          <p:attrName>ppt_x</p:attrName>
                                        </p:attrNameLst>
                                      </p:cBhvr>
                                      <p:tavLst>
                                        <p:tav tm="0">
                                          <p:val>
                                            <p:strVal val="ppt_x"/>
                                          </p:val>
                                        </p:tav>
                                        <p:tav tm="100000">
                                          <p:val>
                                            <p:strVal val="0-ppt_w/2"/>
                                          </p:val>
                                        </p:tav>
                                      </p:tavLst>
                                    </p:anim>
                                    <p:anim calcmode="lin" valueType="num">
                                      <p:cBhvr additive="base">
                                        <p:cTn id="21" dur="250"/>
                                        <p:tgtEl>
                                          <p:spTgt spid="13"/>
                                        </p:tgtEl>
                                        <p:attrNameLst>
                                          <p:attrName>ppt_y</p:attrName>
                                        </p:attrNameLst>
                                      </p:cBhvr>
                                      <p:tavLst>
                                        <p:tav tm="0">
                                          <p:val>
                                            <p:strVal val="ppt_y"/>
                                          </p:val>
                                        </p:tav>
                                        <p:tav tm="100000">
                                          <p:val>
                                            <p:strVal val="ppt_y"/>
                                          </p:val>
                                        </p:tav>
                                      </p:tavLst>
                                    </p:anim>
                                    <p:set>
                                      <p:cBhvr>
                                        <p:cTn id="22" dur="1" fill="hold">
                                          <p:stCondLst>
                                            <p:cond delay="249"/>
                                          </p:stCondLst>
                                        </p:cTn>
                                        <p:tgtEl>
                                          <p:spTgt spid="13"/>
                                        </p:tgtEl>
                                        <p:attrNameLst>
                                          <p:attrName>style.visibility</p:attrName>
                                        </p:attrNameLst>
                                      </p:cBhvr>
                                      <p:to>
                                        <p:strVal val="hidden"/>
                                      </p:to>
                                    </p:set>
                                  </p:childTnLst>
                                </p:cTn>
                              </p:par>
                              <p:par>
                                <p:cTn id="23" presetID="2" presetClass="exit" presetSubtype="8" fill="hold" grpId="0" nodeType="withEffect">
                                  <p:stCondLst>
                                    <p:cond delay="0"/>
                                  </p:stCondLst>
                                  <p:childTnLst>
                                    <p:anim calcmode="lin" valueType="num">
                                      <p:cBhvr additive="base">
                                        <p:cTn id="24" dur="250"/>
                                        <p:tgtEl>
                                          <p:spTgt spid="15"/>
                                        </p:tgtEl>
                                        <p:attrNameLst>
                                          <p:attrName>ppt_x</p:attrName>
                                        </p:attrNameLst>
                                      </p:cBhvr>
                                      <p:tavLst>
                                        <p:tav tm="0">
                                          <p:val>
                                            <p:strVal val="ppt_x"/>
                                          </p:val>
                                        </p:tav>
                                        <p:tav tm="100000">
                                          <p:val>
                                            <p:strVal val="0-ppt_w/2"/>
                                          </p:val>
                                        </p:tav>
                                      </p:tavLst>
                                    </p:anim>
                                    <p:anim calcmode="lin" valueType="num">
                                      <p:cBhvr additive="base">
                                        <p:cTn id="25" dur="250"/>
                                        <p:tgtEl>
                                          <p:spTgt spid="15"/>
                                        </p:tgtEl>
                                        <p:attrNameLst>
                                          <p:attrName>ppt_y</p:attrName>
                                        </p:attrNameLst>
                                      </p:cBhvr>
                                      <p:tavLst>
                                        <p:tav tm="0">
                                          <p:val>
                                            <p:strVal val="ppt_y"/>
                                          </p:val>
                                        </p:tav>
                                        <p:tav tm="100000">
                                          <p:val>
                                            <p:strVal val="ppt_y"/>
                                          </p:val>
                                        </p:tav>
                                      </p:tavLst>
                                    </p:anim>
                                    <p:set>
                                      <p:cBhvr>
                                        <p:cTn id="26" dur="1" fill="hold">
                                          <p:stCondLst>
                                            <p:cond delay="249"/>
                                          </p:stCondLst>
                                        </p:cTn>
                                        <p:tgtEl>
                                          <p:spTgt spid="15"/>
                                        </p:tgtEl>
                                        <p:attrNameLst>
                                          <p:attrName>style.visibility</p:attrName>
                                        </p:attrNameLst>
                                      </p:cBhvr>
                                      <p:to>
                                        <p:strVal val="hidden"/>
                                      </p:to>
                                    </p:set>
                                  </p:childTnLst>
                                </p:cTn>
                              </p:par>
                              <p:par>
                                <p:cTn id="27" presetID="2" presetClass="exit" presetSubtype="8" fill="hold" nodeType="withEffect">
                                  <p:stCondLst>
                                    <p:cond delay="0"/>
                                  </p:stCondLst>
                                  <p:childTnLst>
                                    <p:anim calcmode="lin" valueType="num">
                                      <p:cBhvr additive="base">
                                        <p:cTn id="28" dur="250"/>
                                        <p:tgtEl>
                                          <p:spTgt spid="14"/>
                                        </p:tgtEl>
                                        <p:attrNameLst>
                                          <p:attrName>ppt_x</p:attrName>
                                        </p:attrNameLst>
                                      </p:cBhvr>
                                      <p:tavLst>
                                        <p:tav tm="0">
                                          <p:val>
                                            <p:strVal val="ppt_x"/>
                                          </p:val>
                                        </p:tav>
                                        <p:tav tm="100000">
                                          <p:val>
                                            <p:strVal val="0-ppt_w/2"/>
                                          </p:val>
                                        </p:tav>
                                      </p:tavLst>
                                    </p:anim>
                                    <p:anim calcmode="lin" valueType="num">
                                      <p:cBhvr additive="base">
                                        <p:cTn id="29" dur="250"/>
                                        <p:tgtEl>
                                          <p:spTgt spid="14"/>
                                        </p:tgtEl>
                                        <p:attrNameLst>
                                          <p:attrName>ppt_y</p:attrName>
                                        </p:attrNameLst>
                                      </p:cBhvr>
                                      <p:tavLst>
                                        <p:tav tm="0">
                                          <p:val>
                                            <p:strVal val="ppt_y"/>
                                          </p:val>
                                        </p:tav>
                                        <p:tav tm="100000">
                                          <p:val>
                                            <p:strVal val="ppt_y"/>
                                          </p:val>
                                        </p:tav>
                                      </p:tavLst>
                                    </p:anim>
                                    <p:set>
                                      <p:cBhvr>
                                        <p:cTn id="30" dur="1" fill="hold">
                                          <p:stCondLst>
                                            <p:cond delay="249"/>
                                          </p:stCondLst>
                                        </p:cTn>
                                        <p:tgtEl>
                                          <p:spTgt spid="14"/>
                                        </p:tgtEl>
                                        <p:attrNameLst>
                                          <p:attrName>style.visibility</p:attrName>
                                        </p:attrNameLst>
                                      </p:cBhvr>
                                      <p:to>
                                        <p:strVal val="hidden"/>
                                      </p:to>
                                    </p:set>
                                  </p:childTnLst>
                                </p:cTn>
                              </p:par>
                              <p:par>
                                <p:cTn id="31" presetID="2" presetClass="exit" presetSubtype="8" fill="hold" nodeType="withEffect">
                                  <p:stCondLst>
                                    <p:cond delay="0"/>
                                  </p:stCondLst>
                                  <p:childTnLst>
                                    <p:anim calcmode="lin" valueType="num">
                                      <p:cBhvr additive="base">
                                        <p:cTn id="32" dur="250"/>
                                        <p:tgtEl>
                                          <p:spTgt spid="11"/>
                                        </p:tgtEl>
                                        <p:attrNameLst>
                                          <p:attrName>ppt_x</p:attrName>
                                        </p:attrNameLst>
                                      </p:cBhvr>
                                      <p:tavLst>
                                        <p:tav tm="0">
                                          <p:val>
                                            <p:strVal val="ppt_x"/>
                                          </p:val>
                                        </p:tav>
                                        <p:tav tm="100000">
                                          <p:val>
                                            <p:strVal val="0-ppt_w/2"/>
                                          </p:val>
                                        </p:tav>
                                      </p:tavLst>
                                    </p:anim>
                                    <p:anim calcmode="lin" valueType="num">
                                      <p:cBhvr additive="base">
                                        <p:cTn id="33" dur="250"/>
                                        <p:tgtEl>
                                          <p:spTgt spid="11"/>
                                        </p:tgtEl>
                                        <p:attrNameLst>
                                          <p:attrName>ppt_y</p:attrName>
                                        </p:attrNameLst>
                                      </p:cBhvr>
                                      <p:tavLst>
                                        <p:tav tm="0">
                                          <p:val>
                                            <p:strVal val="ppt_y"/>
                                          </p:val>
                                        </p:tav>
                                        <p:tav tm="100000">
                                          <p:val>
                                            <p:strVal val="ppt_y"/>
                                          </p:val>
                                        </p:tav>
                                      </p:tavLst>
                                    </p:anim>
                                    <p:set>
                                      <p:cBhvr>
                                        <p:cTn id="34" dur="1" fill="hold">
                                          <p:stCondLst>
                                            <p:cond delay="249"/>
                                          </p:stCondLst>
                                        </p:cTn>
                                        <p:tgtEl>
                                          <p:spTgt spid="11"/>
                                        </p:tgtEl>
                                        <p:attrNameLst>
                                          <p:attrName>style.visibility</p:attrName>
                                        </p:attrNameLst>
                                      </p:cBhvr>
                                      <p:to>
                                        <p:strVal val="hidden"/>
                                      </p:to>
                                    </p:set>
                                  </p:childTnLst>
                                </p:cTn>
                              </p:par>
                              <p:par>
                                <p:cTn id="35" presetID="2" presetClass="entr" presetSubtype="2"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250" fill="hold"/>
                                        <p:tgtEl>
                                          <p:spTgt spid="23"/>
                                        </p:tgtEl>
                                        <p:attrNameLst>
                                          <p:attrName>ppt_x</p:attrName>
                                        </p:attrNameLst>
                                      </p:cBhvr>
                                      <p:tavLst>
                                        <p:tav tm="0">
                                          <p:val>
                                            <p:strVal val="1+#ppt_w/2"/>
                                          </p:val>
                                        </p:tav>
                                        <p:tav tm="100000">
                                          <p:val>
                                            <p:strVal val="#ppt_x"/>
                                          </p:val>
                                        </p:tav>
                                      </p:tavLst>
                                    </p:anim>
                                    <p:anim calcmode="lin" valueType="num">
                                      <p:cBhvr additive="base">
                                        <p:cTn id="38" dur="250" fill="hold"/>
                                        <p:tgtEl>
                                          <p:spTgt spid="23"/>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250" fill="hold"/>
                                        <p:tgtEl>
                                          <p:spTgt spid="17"/>
                                        </p:tgtEl>
                                        <p:attrNameLst>
                                          <p:attrName>ppt_x</p:attrName>
                                        </p:attrNameLst>
                                      </p:cBhvr>
                                      <p:tavLst>
                                        <p:tav tm="0">
                                          <p:val>
                                            <p:strVal val="1+#ppt_w/2"/>
                                          </p:val>
                                        </p:tav>
                                        <p:tav tm="100000">
                                          <p:val>
                                            <p:strVal val="#ppt_x"/>
                                          </p:val>
                                        </p:tav>
                                      </p:tavLst>
                                    </p:anim>
                                    <p:anim calcmode="lin" valueType="num">
                                      <p:cBhvr additive="base">
                                        <p:cTn id="42" dur="2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5832144B-4D4D-480A-B080-D208F0261F45}"/>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4E41B940-93C7-8C73-A34F-79D6F3DEB269}"/>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類似度計算プログラムについての調査結果</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7" name="テキスト ボックス 6">
            <a:extLst>
              <a:ext uri="{FF2B5EF4-FFF2-40B4-BE49-F238E27FC236}">
                <a16:creationId xmlns:a16="http://schemas.microsoft.com/office/drawing/2014/main" id="{04CBFC8A-A445-854A-53DF-5B8FEAED7726}"/>
              </a:ext>
            </a:extLst>
          </p:cNvPr>
          <p:cNvSpPr txBox="1"/>
          <p:nvPr/>
        </p:nvSpPr>
        <p:spPr>
          <a:xfrm>
            <a:off x="6363854" y="4658024"/>
            <a:ext cx="5773444" cy="1384995"/>
          </a:xfrm>
          <a:prstGeom prst="rect">
            <a:avLst/>
          </a:prstGeom>
          <a:noFill/>
        </p:spPr>
        <p:txBody>
          <a:bodyPr wrap="square">
            <a:spAutoFit/>
          </a:bodyPr>
          <a:lstStyle/>
          <a:p>
            <a:pPr algn="ctr"/>
            <a:r>
              <a:rPr lang="en-US"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rPr>
              <a:t>TF-IDF</a:t>
            </a:r>
            <a:r>
              <a:rPr lang="ja-JP"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rPr>
              <a:t>の計算に使用する全文書を</a:t>
            </a:r>
            <a:endParaRPr lang="en-US" altLang="ja-JP" sz="2800" kern="100" dirty="0">
              <a:solidFill>
                <a:srgbClr val="000000"/>
              </a:solidFill>
              <a:latin typeface="UD デジタル 教科書体 NK-B" panose="02020700000000000000" pitchFamily="18" charset="-128"/>
              <a:ea typeface="UD デジタル 教科書体 NK-B" panose="02020700000000000000" pitchFamily="18" charset="-128"/>
            </a:endParaRPr>
          </a:p>
          <a:p>
            <a:pPr algn="ctr"/>
            <a:r>
              <a:rPr lang="ja-JP"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rPr>
              <a:t>比較する</a:t>
            </a:r>
            <a:r>
              <a:rPr lang="en-US"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rPr>
              <a:t>2</a:t>
            </a:r>
            <a:r>
              <a:rPr lang="ja-JP"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rPr>
              <a:t>つの文章ではなく</a:t>
            </a:r>
            <a:endParaRPr lang="en-US"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endParaRPr>
          </a:p>
          <a:p>
            <a:pPr algn="ctr"/>
            <a:r>
              <a:rPr lang="ja-JP"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rPr>
              <a:t>全ての文章に変更すべき</a:t>
            </a:r>
            <a:endParaRPr lang="ja-JP" altLang="en-US" sz="2800" dirty="0">
              <a:latin typeface="UD デジタル 教科書体 NK-B" panose="02020700000000000000" pitchFamily="18" charset="-128"/>
              <a:ea typeface="UD デジタル 教科書体 NK-B" panose="02020700000000000000" pitchFamily="18" charset="-128"/>
            </a:endParaRPr>
          </a:p>
        </p:txBody>
      </p:sp>
      <p:sp>
        <p:nvSpPr>
          <p:cNvPr id="10" name="楕円 9">
            <a:extLst>
              <a:ext uri="{FF2B5EF4-FFF2-40B4-BE49-F238E27FC236}">
                <a16:creationId xmlns:a16="http://schemas.microsoft.com/office/drawing/2014/main" id="{E779060B-4FF1-03FB-95B1-6C11B9A73F71}"/>
              </a:ext>
            </a:extLst>
          </p:cNvPr>
          <p:cNvSpPr>
            <a:spLocks noChangeAspect="1"/>
          </p:cNvSpPr>
          <p:nvPr/>
        </p:nvSpPr>
        <p:spPr>
          <a:xfrm>
            <a:off x="46798" y="3988768"/>
            <a:ext cx="2723509" cy="2723509"/>
          </a:xfrm>
          <a:prstGeom prst="ellipse">
            <a:avLst/>
          </a:prstGeom>
          <a:solidFill>
            <a:srgbClr val="97C7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400" b="1" dirty="0">
                <a:latin typeface="UD デジタル 教科書体 NK-B" panose="02020700000000000000" pitchFamily="18" charset="-128"/>
                <a:ea typeface="UD デジタル 教科書体 NK-B" panose="02020700000000000000" pitchFamily="18" charset="-128"/>
              </a:rPr>
              <a:t>助詞</a:t>
            </a:r>
            <a:endParaRPr kumimoji="1" lang="en-US" altLang="ja-JP" sz="4400" b="1" dirty="0">
              <a:latin typeface="UD デジタル 教科書体 NK-B" panose="02020700000000000000" pitchFamily="18" charset="-128"/>
              <a:ea typeface="UD デジタル 教科書体 NK-B" panose="02020700000000000000" pitchFamily="18" charset="-128"/>
            </a:endParaRPr>
          </a:p>
          <a:p>
            <a:pPr algn="ctr"/>
            <a:r>
              <a:rPr kumimoji="1" lang="ja-JP" altLang="en-US" sz="4400" b="1" dirty="0">
                <a:latin typeface="UD デジタル 教科書体 NK-B" panose="02020700000000000000" pitchFamily="18" charset="-128"/>
                <a:ea typeface="UD デジタル 教科書体 NK-B" panose="02020700000000000000" pitchFamily="18" charset="-128"/>
              </a:rPr>
              <a:t>助動詞</a:t>
            </a:r>
          </a:p>
        </p:txBody>
      </p:sp>
      <p:sp>
        <p:nvSpPr>
          <p:cNvPr id="11" name="楕円 10">
            <a:extLst>
              <a:ext uri="{FF2B5EF4-FFF2-40B4-BE49-F238E27FC236}">
                <a16:creationId xmlns:a16="http://schemas.microsoft.com/office/drawing/2014/main" id="{E80526A7-09E4-4632-14D1-F347448D1827}"/>
              </a:ext>
            </a:extLst>
          </p:cNvPr>
          <p:cNvSpPr>
            <a:spLocks noChangeAspect="1"/>
          </p:cNvSpPr>
          <p:nvPr/>
        </p:nvSpPr>
        <p:spPr>
          <a:xfrm>
            <a:off x="4315978" y="4326585"/>
            <a:ext cx="2047876" cy="2047876"/>
          </a:xfrm>
          <a:prstGeom prst="ellipse">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solidFill>
                  <a:schemeClr val="bg1"/>
                </a:solidFill>
                <a:latin typeface="UD デジタル 教科書体 NK-B" panose="02020700000000000000" pitchFamily="18" charset="-128"/>
                <a:ea typeface="UD デジタル 教科書体 NK-B" panose="02020700000000000000" pitchFamily="18" charset="-128"/>
              </a:rPr>
              <a:t>名詞</a:t>
            </a:r>
            <a:endParaRPr kumimoji="1" lang="en-US" altLang="ja-JP" sz="3200" b="1" dirty="0">
              <a:solidFill>
                <a:schemeClr val="bg1"/>
              </a:solidFill>
              <a:latin typeface="UD デジタル 教科書体 NK-B" panose="02020700000000000000" pitchFamily="18" charset="-128"/>
              <a:ea typeface="UD デジタル 教科書体 NK-B" panose="02020700000000000000" pitchFamily="18" charset="-128"/>
            </a:endParaRPr>
          </a:p>
          <a:p>
            <a:pPr algn="ctr"/>
            <a:r>
              <a:rPr kumimoji="1" lang="ja-JP" altLang="en-US" sz="3200" b="1" dirty="0">
                <a:solidFill>
                  <a:schemeClr val="bg1"/>
                </a:solidFill>
                <a:latin typeface="UD デジタル 教科書体 NK-B" panose="02020700000000000000" pitchFamily="18" charset="-128"/>
                <a:ea typeface="UD デジタル 教科書体 NK-B" panose="02020700000000000000" pitchFamily="18" charset="-128"/>
              </a:rPr>
              <a:t>動詞</a:t>
            </a:r>
            <a:endParaRPr kumimoji="1" lang="en-US" altLang="ja-JP" sz="3200" b="1" dirty="0">
              <a:solidFill>
                <a:schemeClr val="bg1"/>
              </a:solidFill>
              <a:latin typeface="UD デジタル 教科書体 NK-B" panose="02020700000000000000" pitchFamily="18" charset="-128"/>
              <a:ea typeface="UD デジタル 教科書体 NK-B" panose="02020700000000000000" pitchFamily="18" charset="-128"/>
            </a:endParaRPr>
          </a:p>
          <a:p>
            <a:pPr algn="ctr"/>
            <a:r>
              <a:rPr lang="ja-JP" altLang="en-US" sz="3200" b="1" dirty="0">
                <a:solidFill>
                  <a:schemeClr val="bg1"/>
                </a:solidFill>
                <a:latin typeface="UD デジタル 教科書体 NK-B" panose="02020700000000000000" pitchFamily="18" charset="-128"/>
                <a:ea typeface="UD デジタル 教科書体 NK-B" panose="02020700000000000000" pitchFamily="18" charset="-128"/>
              </a:rPr>
              <a:t>形容詞</a:t>
            </a:r>
            <a:endParaRPr kumimoji="1" lang="ja-JP" altLang="en-US" sz="32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2" name="L 字 11">
            <a:extLst>
              <a:ext uri="{FF2B5EF4-FFF2-40B4-BE49-F238E27FC236}">
                <a16:creationId xmlns:a16="http://schemas.microsoft.com/office/drawing/2014/main" id="{0F056294-5A58-F9EC-46D9-FEE187FE19C5}"/>
              </a:ext>
            </a:extLst>
          </p:cNvPr>
          <p:cNvSpPr>
            <a:spLocks noChangeAspect="1"/>
          </p:cNvSpPr>
          <p:nvPr/>
        </p:nvSpPr>
        <p:spPr>
          <a:xfrm rot="13500000">
            <a:off x="2453365" y="4645500"/>
            <a:ext cx="1343697" cy="1410046"/>
          </a:xfrm>
          <a:prstGeom prst="corner">
            <a:avLst>
              <a:gd name="adj1" fmla="val 25132"/>
              <a:gd name="adj2" fmla="val 27516"/>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graphicFrame>
            <p:nvGraphicFramePr>
              <p:cNvPr id="13" name="表 5">
                <a:extLst>
                  <a:ext uri="{FF2B5EF4-FFF2-40B4-BE49-F238E27FC236}">
                    <a16:creationId xmlns:a16="http://schemas.microsoft.com/office/drawing/2014/main" id="{46B53497-47E2-1645-357D-AD1BD36ED738}"/>
                  </a:ext>
                </a:extLst>
              </p:cNvPr>
              <p:cNvGraphicFramePr>
                <a:graphicFrameLocks noGrp="1"/>
              </p:cNvGraphicFramePr>
              <p:nvPr>
                <p:extLst>
                  <p:ext uri="{D42A27DB-BD31-4B8C-83A1-F6EECF244321}">
                    <p14:modId xmlns:p14="http://schemas.microsoft.com/office/powerpoint/2010/main" val="3515147255"/>
                  </p:ext>
                </p:extLst>
              </p:nvPr>
            </p:nvGraphicFramePr>
            <p:xfrm>
              <a:off x="0" y="1634328"/>
              <a:ext cx="12192004" cy="2206822"/>
            </p:xfrm>
            <a:graphic>
              <a:graphicData uri="http://schemas.openxmlformats.org/drawingml/2006/table">
                <a:tbl>
                  <a:tblPr firstRow="1" bandRow="1">
                    <a:tableStyleId>{5C22544A-7EE6-4342-B048-85BDC9FD1C3A}</a:tableStyleId>
                  </a:tblPr>
                  <a:tblGrid>
                    <a:gridCol w="1108364">
                      <a:extLst>
                        <a:ext uri="{9D8B030D-6E8A-4147-A177-3AD203B41FA5}">
                          <a16:colId xmlns:a16="http://schemas.microsoft.com/office/drawing/2014/main" val="2810866238"/>
                        </a:ext>
                      </a:extLst>
                    </a:gridCol>
                    <a:gridCol w="1108364">
                      <a:extLst>
                        <a:ext uri="{9D8B030D-6E8A-4147-A177-3AD203B41FA5}">
                          <a16:colId xmlns:a16="http://schemas.microsoft.com/office/drawing/2014/main" val="2692331299"/>
                        </a:ext>
                      </a:extLst>
                    </a:gridCol>
                    <a:gridCol w="1108364">
                      <a:extLst>
                        <a:ext uri="{9D8B030D-6E8A-4147-A177-3AD203B41FA5}">
                          <a16:colId xmlns:a16="http://schemas.microsoft.com/office/drawing/2014/main" val="2789012572"/>
                        </a:ext>
                      </a:extLst>
                    </a:gridCol>
                    <a:gridCol w="1108364">
                      <a:extLst>
                        <a:ext uri="{9D8B030D-6E8A-4147-A177-3AD203B41FA5}">
                          <a16:colId xmlns:a16="http://schemas.microsoft.com/office/drawing/2014/main" val="1279894510"/>
                        </a:ext>
                      </a:extLst>
                    </a:gridCol>
                    <a:gridCol w="1108364">
                      <a:extLst>
                        <a:ext uri="{9D8B030D-6E8A-4147-A177-3AD203B41FA5}">
                          <a16:colId xmlns:a16="http://schemas.microsoft.com/office/drawing/2014/main" val="3592118965"/>
                        </a:ext>
                      </a:extLst>
                    </a:gridCol>
                    <a:gridCol w="1108364">
                      <a:extLst>
                        <a:ext uri="{9D8B030D-6E8A-4147-A177-3AD203B41FA5}">
                          <a16:colId xmlns:a16="http://schemas.microsoft.com/office/drawing/2014/main" val="2535005437"/>
                        </a:ext>
                      </a:extLst>
                    </a:gridCol>
                    <a:gridCol w="1108364">
                      <a:extLst>
                        <a:ext uri="{9D8B030D-6E8A-4147-A177-3AD203B41FA5}">
                          <a16:colId xmlns:a16="http://schemas.microsoft.com/office/drawing/2014/main" val="919816819"/>
                        </a:ext>
                      </a:extLst>
                    </a:gridCol>
                    <a:gridCol w="1108364">
                      <a:extLst>
                        <a:ext uri="{9D8B030D-6E8A-4147-A177-3AD203B41FA5}">
                          <a16:colId xmlns:a16="http://schemas.microsoft.com/office/drawing/2014/main" val="504372929"/>
                        </a:ext>
                      </a:extLst>
                    </a:gridCol>
                    <a:gridCol w="1108364">
                      <a:extLst>
                        <a:ext uri="{9D8B030D-6E8A-4147-A177-3AD203B41FA5}">
                          <a16:colId xmlns:a16="http://schemas.microsoft.com/office/drawing/2014/main" val="3962532000"/>
                        </a:ext>
                      </a:extLst>
                    </a:gridCol>
                    <a:gridCol w="1108364">
                      <a:extLst>
                        <a:ext uri="{9D8B030D-6E8A-4147-A177-3AD203B41FA5}">
                          <a16:colId xmlns:a16="http://schemas.microsoft.com/office/drawing/2014/main" val="1684168168"/>
                        </a:ext>
                      </a:extLst>
                    </a:gridCol>
                    <a:gridCol w="1108364">
                      <a:extLst>
                        <a:ext uri="{9D8B030D-6E8A-4147-A177-3AD203B41FA5}">
                          <a16:colId xmlns:a16="http://schemas.microsoft.com/office/drawing/2014/main" val="3347324560"/>
                        </a:ext>
                      </a:extLst>
                    </a:gridCol>
                  </a:tblGrid>
                  <a:tr h="586822">
                    <a:tc gridSpan="1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800" kern="100" dirty="0">
                              <a:solidFill>
                                <a:srgbClr val="000000"/>
                              </a:solidFill>
                              <a:effectLst/>
                              <a:latin typeface="UD デジタル 教科書体 NK-B" panose="02020700000000000000" pitchFamily="18" charset="-128"/>
                              <a:ea typeface="UD デジタル 教科書体 NK-B" panose="02020700000000000000" pitchFamily="18" charset="-128"/>
                            </a:rPr>
                            <a:t>表</a:t>
                          </a:r>
                          <a:r>
                            <a:rPr lang="en-US"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rPr>
                            <a:t>3.</a:t>
                          </a:r>
                          <a:r>
                            <a:rPr lang="ja-JP" altLang="en-US" sz="2800" kern="100" dirty="0">
                              <a:solidFill>
                                <a:srgbClr val="000000"/>
                              </a:solidFill>
                              <a:effectLst/>
                              <a:latin typeface="UD デジタル 教科書体 NK-B" panose="02020700000000000000" pitchFamily="18" charset="-128"/>
                              <a:ea typeface="UD デジタル 教科書体 NK-B" panose="02020700000000000000" pitchFamily="18" charset="-128"/>
                            </a:rPr>
                            <a:t>　</a:t>
                          </a:r>
                          <a:r>
                            <a:rPr lang="en-US" altLang="ja-JP" sz="2800" kern="100" dirty="0">
                              <a:solidFill>
                                <a:srgbClr val="000000"/>
                              </a:solidFill>
                              <a:effectLst/>
                              <a:latin typeface="UD デジタル 教科書体 NK-B" panose="02020700000000000000" pitchFamily="18" charset="-128"/>
                              <a:ea typeface="UD デジタル 教科書体 NK-B" panose="02020700000000000000" pitchFamily="18" charset="-128"/>
                            </a:rPr>
                            <a:t>IDF</a:t>
                          </a:r>
                          <a:r>
                            <a:rPr lang="ja-JP" altLang="en-US" sz="2800" kern="100" dirty="0">
                              <a:solidFill>
                                <a:srgbClr val="000000"/>
                              </a:solidFill>
                              <a:effectLst/>
                              <a:latin typeface="UD デジタル 教科書体 NK-B" panose="02020700000000000000" pitchFamily="18" charset="-128"/>
                              <a:ea typeface="UD デジタル 教科書体 NK-B" panose="02020700000000000000" pitchFamily="18" charset="-128"/>
                            </a:rPr>
                            <a:t>の有無による</a:t>
                          </a:r>
                          <a14:m>
                            <m:oMath xmlns:m="http://schemas.openxmlformats.org/officeDocument/2006/math">
                              <m:acc>
                                <m:accPr>
                                  <m:chr m:val="⃗"/>
                                  <m:ctrlPr>
                                    <a:rPr lang="ja-JP" altLang="ja-JP" sz="2800" i="1" kern="10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ja-JP" altLang="ja-JP"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ja-JP" sz="2800" i="1">
                                          <a:solidFill>
                                            <a:schemeClr val="tx1"/>
                                          </a:solidFill>
                                          <a:effectLst/>
                                          <a:latin typeface="Cambria Math" panose="02040503050406030204" pitchFamily="18" charset="0"/>
                                          <a:ea typeface="ＭＳ Ｐゴシック" panose="020B0600070205080204" pitchFamily="50" charset="-128"/>
                                          <a:cs typeface="ＭＳ Ｐゴシック" panose="020B0600070205080204" pitchFamily="50" charset="-128"/>
                                        </a:rPr>
                                        <m:t>𝑒</m:t>
                                      </m:r>
                                    </m:e>
                                    <m:sub>
                                      <m:r>
                                        <a:rPr lang="en-US" altLang="ja-JP" sz="2800" i="1" kern="100">
                                          <a:solidFill>
                                            <a:schemeClr val="tx1"/>
                                          </a:solidFill>
                                          <a:effectLst/>
                                          <a:latin typeface="Cambria Math" panose="02040503050406030204" pitchFamily="18" charset="0"/>
                                          <a:ea typeface="ＭＳ Ｐゴシック" panose="020B0600070205080204" pitchFamily="50" charset="-128"/>
                                          <a:cs typeface="ＭＳ Ｐゴシック" panose="020B0600070205080204" pitchFamily="50" charset="-128"/>
                                        </a:rPr>
                                        <m:t>𝐴</m:t>
                                      </m:r>
                                    </m:sub>
                                  </m:sSub>
                                </m:e>
                              </m:acc>
                            </m:oMath>
                          </a14:m>
                          <a:r>
                            <a:rPr lang="ja-JP" altLang="en-US" sz="2800" kern="100" dirty="0">
                              <a:solidFill>
                                <a:schemeClr val="tx1"/>
                              </a:solidFill>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の比較</a:t>
                          </a:r>
                          <a:endParaRPr kumimoji="1" lang="ja-JP" altLang="en-US" sz="2800" dirty="0">
                            <a:latin typeface="UD デジタル 教科書体 NK-B" panose="02020700000000000000" pitchFamily="18" charset="-128"/>
                            <a:ea typeface="UD デジタル 教科書体 NK-B" panose="02020700000000000000" pitchFamily="18" charset="-128"/>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extLst>
                      <a:ext uri="{0D108BD9-81ED-4DB2-BD59-A6C34878D82A}">
                        <a16:rowId xmlns:a16="http://schemas.microsoft.com/office/drawing/2014/main" val="2668230481"/>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リスト</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か</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です</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の</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は</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何</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形</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標準</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次</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関数</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extLst>
                      <a:ext uri="{0D108BD9-81ED-4DB2-BD59-A6C34878D82A}">
                        <a16:rowId xmlns:a16="http://schemas.microsoft.com/office/drawing/2014/main" val="1869052922"/>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無し</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solidFill>
                                <a:srgbClr val="FF5050"/>
                              </a:solidFill>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solidFill>
                                <a:srgbClr val="FF5050"/>
                              </a:solidFill>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491428747"/>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有り</a:t>
                          </a:r>
                        </a:p>
                      </a:txBody>
                      <a:tcPr>
                        <a:lnR w="12700" cap="flat" cmpd="sng" algn="ctr">
                          <a:solidFill>
                            <a:schemeClr val="tx1"/>
                          </a:solidFill>
                          <a:prstDash val="solid"/>
                          <a:round/>
                          <a:headEnd type="none" w="med" len="med"/>
                          <a:tailEnd type="none" w="med" len="med"/>
                        </a:ln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L w="12700" cap="flat" cmpd="sng" algn="ctr">
                          <a:solidFill>
                            <a:schemeClr val="tx1"/>
                          </a:solidFill>
                          <a:prstDash val="solid"/>
                          <a:round/>
                          <a:headEnd type="none" w="med" len="med"/>
                          <a:tailEnd type="none" w="med" len="med"/>
                        </a:lnL>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0.24</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0.24</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extLst>
                      <a:ext uri="{0D108BD9-81ED-4DB2-BD59-A6C34878D82A}">
                        <a16:rowId xmlns:a16="http://schemas.microsoft.com/office/drawing/2014/main" val="2394625347"/>
                      </a:ext>
                    </a:extLst>
                  </a:tr>
                </a:tbl>
              </a:graphicData>
            </a:graphic>
          </p:graphicFrame>
        </mc:Choice>
        <mc:Fallback xmlns="">
          <p:graphicFrame>
            <p:nvGraphicFramePr>
              <p:cNvPr id="13" name="表 5">
                <a:extLst>
                  <a:ext uri="{FF2B5EF4-FFF2-40B4-BE49-F238E27FC236}">
                    <a16:creationId xmlns:a16="http://schemas.microsoft.com/office/drawing/2014/main" id="{46B53497-47E2-1645-357D-AD1BD36ED738}"/>
                  </a:ext>
                </a:extLst>
              </p:cNvPr>
              <p:cNvGraphicFramePr>
                <a:graphicFrameLocks noGrp="1"/>
              </p:cNvGraphicFramePr>
              <p:nvPr>
                <p:extLst>
                  <p:ext uri="{D42A27DB-BD31-4B8C-83A1-F6EECF244321}">
                    <p14:modId xmlns:p14="http://schemas.microsoft.com/office/powerpoint/2010/main" val="3515147255"/>
                  </p:ext>
                </p:extLst>
              </p:nvPr>
            </p:nvGraphicFramePr>
            <p:xfrm>
              <a:off x="0" y="1634328"/>
              <a:ext cx="12192004" cy="2206822"/>
            </p:xfrm>
            <a:graphic>
              <a:graphicData uri="http://schemas.openxmlformats.org/drawingml/2006/table">
                <a:tbl>
                  <a:tblPr firstRow="1" bandRow="1">
                    <a:tableStyleId>{5C22544A-7EE6-4342-B048-85BDC9FD1C3A}</a:tableStyleId>
                  </a:tblPr>
                  <a:tblGrid>
                    <a:gridCol w="1108364">
                      <a:extLst>
                        <a:ext uri="{9D8B030D-6E8A-4147-A177-3AD203B41FA5}">
                          <a16:colId xmlns:a16="http://schemas.microsoft.com/office/drawing/2014/main" val="2810866238"/>
                        </a:ext>
                      </a:extLst>
                    </a:gridCol>
                    <a:gridCol w="1108364">
                      <a:extLst>
                        <a:ext uri="{9D8B030D-6E8A-4147-A177-3AD203B41FA5}">
                          <a16:colId xmlns:a16="http://schemas.microsoft.com/office/drawing/2014/main" val="2692331299"/>
                        </a:ext>
                      </a:extLst>
                    </a:gridCol>
                    <a:gridCol w="1108364">
                      <a:extLst>
                        <a:ext uri="{9D8B030D-6E8A-4147-A177-3AD203B41FA5}">
                          <a16:colId xmlns:a16="http://schemas.microsoft.com/office/drawing/2014/main" val="2789012572"/>
                        </a:ext>
                      </a:extLst>
                    </a:gridCol>
                    <a:gridCol w="1108364">
                      <a:extLst>
                        <a:ext uri="{9D8B030D-6E8A-4147-A177-3AD203B41FA5}">
                          <a16:colId xmlns:a16="http://schemas.microsoft.com/office/drawing/2014/main" val="1279894510"/>
                        </a:ext>
                      </a:extLst>
                    </a:gridCol>
                    <a:gridCol w="1108364">
                      <a:extLst>
                        <a:ext uri="{9D8B030D-6E8A-4147-A177-3AD203B41FA5}">
                          <a16:colId xmlns:a16="http://schemas.microsoft.com/office/drawing/2014/main" val="3592118965"/>
                        </a:ext>
                      </a:extLst>
                    </a:gridCol>
                    <a:gridCol w="1108364">
                      <a:extLst>
                        <a:ext uri="{9D8B030D-6E8A-4147-A177-3AD203B41FA5}">
                          <a16:colId xmlns:a16="http://schemas.microsoft.com/office/drawing/2014/main" val="2535005437"/>
                        </a:ext>
                      </a:extLst>
                    </a:gridCol>
                    <a:gridCol w="1108364">
                      <a:extLst>
                        <a:ext uri="{9D8B030D-6E8A-4147-A177-3AD203B41FA5}">
                          <a16:colId xmlns:a16="http://schemas.microsoft.com/office/drawing/2014/main" val="919816819"/>
                        </a:ext>
                      </a:extLst>
                    </a:gridCol>
                    <a:gridCol w="1108364">
                      <a:extLst>
                        <a:ext uri="{9D8B030D-6E8A-4147-A177-3AD203B41FA5}">
                          <a16:colId xmlns:a16="http://schemas.microsoft.com/office/drawing/2014/main" val="504372929"/>
                        </a:ext>
                      </a:extLst>
                    </a:gridCol>
                    <a:gridCol w="1108364">
                      <a:extLst>
                        <a:ext uri="{9D8B030D-6E8A-4147-A177-3AD203B41FA5}">
                          <a16:colId xmlns:a16="http://schemas.microsoft.com/office/drawing/2014/main" val="3962532000"/>
                        </a:ext>
                      </a:extLst>
                    </a:gridCol>
                    <a:gridCol w="1108364">
                      <a:extLst>
                        <a:ext uri="{9D8B030D-6E8A-4147-A177-3AD203B41FA5}">
                          <a16:colId xmlns:a16="http://schemas.microsoft.com/office/drawing/2014/main" val="1684168168"/>
                        </a:ext>
                      </a:extLst>
                    </a:gridCol>
                    <a:gridCol w="1108364">
                      <a:extLst>
                        <a:ext uri="{9D8B030D-6E8A-4147-A177-3AD203B41FA5}">
                          <a16:colId xmlns:a16="http://schemas.microsoft.com/office/drawing/2014/main" val="3347324560"/>
                        </a:ext>
                      </a:extLst>
                    </a:gridCol>
                  </a:tblGrid>
                  <a:tr h="586822">
                    <a:tc gridSpan="11">
                      <a:txBody>
                        <a:bodyPr/>
                        <a:lstStyle/>
                        <a:p>
                          <a:endParaRPr lang="ja-JP"/>
                        </a:p>
                      </a:txBody>
                      <a:tcPr>
                        <a:blipFill>
                          <a:blip r:embed="rId2"/>
                          <a:stretch>
                            <a:fillRect l="-100" t="-9278" r="-200" b="-298969"/>
                          </a:stretch>
                        </a:blip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tc hMerge="1">
                      <a:txBody>
                        <a:bodyPr/>
                        <a:lstStyle/>
                        <a:p>
                          <a:pPr marL="0" algn="l" defTabSz="914400" rtl="0" eaLnBrk="1" latinLnBrk="0" hangingPunct="1"/>
                          <a:endParaRPr kumimoji="1" lang="ja-JP" altLang="en-US" sz="14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97C7E6"/>
                        </a:solidFill>
                      </a:tcPr>
                    </a:tc>
                    <a:extLst>
                      <a:ext uri="{0D108BD9-81ED-4DB2-BD59-A6C34878D82A}">
                        <a16:rowId xmlns:a16="http://schemas.microsoft.com/office/drawing/2014/main" val="2668230481"/>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リスト</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か</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です</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の</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は</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何</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形</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標準</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次</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tc>
                      <a:txBody>
                        <a:bodyPr/>
                        <a:lstStyle/>
                        <a:p>
                          <a:pPr marL="0" algn="ctr" defTabSz="914400" rtl="0" eaLnBrk="1" latinLnBrk="0" hangingPunct="1"/>
                          <a:r>
                            <a:rPr kumimoji="1" lang="ja-JP"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関数</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B w="12700" cap="flat" cmpd="sng" algn="ctr">
                          <a:solidFill>
                            <a:schemeClr val="tx1"/>
                          </a:solidFill>
                          <a:prstDash val="solid"/>
                          <a:round/>
                          <a:headEnd type="none" w="med" len="med"/>
                          <a:tailEnd type="none" w="med" len="med"/>
                        </a:lnB>
                        <a:solidFill>
                          <a:srgbClr val="DADAE0"/>
                        </a:solidFill>
                      </a:tcPr>
                    </a:tc>
                    <a:extLst>
                      <a:ext uri="{0D108BD9-81ED-4DB2-BD59-A6C34878D82A}">
                        <a16:rowId xmlns:a16="http://schemas.microsoft.com/office/drawing/2014/main" val="1869052922"/>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無し</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solidFill>
                                <a:srgbClr val="FF5050"/>
                              </a:solidFill>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solidFill>
                                <a:srgbClr val="FF5050"/>
                              </a:solidFill>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algn="l" defTabSz="914400" rtl="0" eaLnBrk="1" latinLnBrk="0" hangingPunct="1"/>
                          <a:r>
                            <a:rPr lang="en-US" altLang="ja-JP" sz="2800" dirty="0">
                              <a:effectLst/>
                              <a:latin typeface="UD デジタル 教科書体 NK-B" panose="02020700000000000000" pitchFamily="18" charset="-128"/>
                              <a:ea typeface="UD デジタル 教科書体 NK-B" panose="02020700000000000000" pitchFamily="18" charset="-128"/>
                              <a:cs typeface="ＭＳ Ｐゴシック" panose="020B0600070205080204" pitchFamily="50" charset="-128"/>
                            </a:rPr>
                            <a:t>0.32</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491428747"/>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有り</a:t>
                          </a:r>
                        </a:p>
                      </a:txBody>
                      <a:tcPr>
                        <a:lnR w="12700" cap="flat" cmpd="sng" algn="ctr">
                          <a:solidFill>
                            <a:schemeClr val="tx1"/>
                          </a:solidFill>
                          <a:prstDash val="solid"/>
                          <a:round/>
                          <a:headEnd type="none" w="med" len="med"/>
                          <a:tailEnd type="none" w="med" len="med"/>
                        </a:ln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lnL w="12700" cap="flat" cmpd="sng" algn="ctr">
                          <a:solidFill>
                            <a:schemeClr val="tx1"/>
                          </a:solidFill>
                          <a:prstDash val="solid"/>
                          <a:round/>
                          <a:headEnd type="none" w="med" len="med"/>
                          <a:tailEnd type="none" w="med" len="med"/>
                        </a:lnL>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0.24</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0.24</a:t>
                          </a:r>
                          <a:endParaRPr kumimoji="1" lang="ja-JP" altLang="en-US" sz="2800" b="1" kern="100" dirty="0">
                            <a:solidFill>
                              <a:srgbClr val="FF505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tc>
                      <a:txBody>
                        <a:bodyPr/>
                        <a:lstStyle/>
                        <a:p>
                          <a:pPr marL="0" algn="l" defTabSz="914400" rtl="0" eaLnBrk="1" latinLnBrk="0" hangingPunct="1"/>
                          <a:r>
                            <a:rPr kumimoji="1" lang="en-US" altLang="ja-JP"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rPr>
                            <a:t>0.33</a:t>
                          </a:r>
                          <a:endParaRPr kumimoji="1" lang="ja-JP" altLang="en-US" sz="2800" b="1" kern="100" dirty="0">
                            <a:solidFill>
                              <a:srgbClr val="000000"/>
                            </a:solidFill>
                            <a:effectLst/>
                            <a:latin typeface="UD デジタル 教科書体 NK-B" panose="02020700000000000000" pitchFamily="18" charset="-128"/>
                            <a:ea typeface="UD デジタル 教科書体 NK-B" panose="02020700000000000000" pitchFamily="18" charset="-128"/>
                            <a:cs typeface="+mn-cs"/>
                          </a:endParaRPr>
                        </a:p>
                      </a:txBody>
                      <a:tcPr>
                        <a:solidFill>
                          <a:srgbClr val="DADAE0"/>
                        </a:solidFill>
                      </a:tcPr>
                    </a:tc>
                    <a:extLst>
                      <a:ext uri="{0D108BD9-81ED-4DB2-BD59-A6C34878D82A}">
                        <a16:rowId xmlns:a16="http://schemas.microsoft.com/office/drawing/2014/main" val="2394625347"/>
                      </a:ext>
                    </a:extLst>
                  </a:tr>
                </a:tbl>
              </a:graphicData>
            </a:graphic>
          </p:graphicFrame>
        </mc:Fallback>
      </mc:AlternateContent>
    </p:spTree>
    <p:extLst>
      <p:ext uri="{BB962C8B-B14F-4D97-AF65-F5344CB8AC3E}">
        <p14:creationId xmlns:p14="http://schemas.microsoft.com/office/powerpoint/2010/main" val="4076973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5832144B-4D4D-480A-B080-D208F0261F45}"/>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4E41B940-93C7-8C73-A34F-79D6F3DEB269}"/>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仮説</a:t>
            </a:r>
            <a:endParaRPr lang="ja-JP" altLang="en-US" sz="24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7" name="テキスト ボックス 6">
            <a:extLst>
              <a:ext uri="{FF2B5EF4-FFF2-40B4-BE49-F238E27FC236}">
                <a16:creationId xmlns:a16="http://schemas.microsoft.com/office/drawing/2014/main" id="{FA1F0487-6443-1495-F403-D7F05310F0F3}"/>
              </a:ext>
            </a:extLst>
          </p:cNvPr>
          <p:cNvSpPr txBox="1"/>
          <p:nvPr/>
        </p:nvSpPr>
        <p:spPr>
          <a:xfrm>
            <a:off x="275512" y="2708815"/>
            <a:ext cx="11716378" cy="3293209"/>
          </a:xfrm>
          <a:prstGeom prst="rect">
            <a:avLst/>
          </a:prstGeom>
          <a:noFill/>
        </p:spPr>
        <p:txBody>
          <a:bodyPr wrap="square">
            <a:spAutoFit/>
          </a:bodyPr>
          <a:lstStyle/>
          <a:p>
            <a:r>
              <a:rPr lang="en-US" altLang="ja-JP" sz="4400" dirty="0">
                <a:latin typeface="UD デジタル 教科書体 NK-B" panose="02020700000000000000" pitchFamily="18" charset="-128"/>
                <a:ea typeface="UD デジタル 教科書体 NK-B" panose="02020700000000000000" pitchFamily="18" charset="-128"/>
              </a:rPr>
              <a:t>Watson</a:t>
            </a:r>
            <a:r>
              <a:rPr lang="ja-JP" altLang="en-US" sz="4400" dirty="0">
                <a:latin typeface="UD デジタル 教科書体 NK-B" panose="02020700000000000000" pitchFamily="18" charset="-128"/>
                <a:ea typeface="UD デジタル 教科書体 NK-B" panose="02020700000000000000" pitchFamily="18" charset="-128"/>
              </a:rPr>
              <a:t>は</a:t>
            </a:r>
            <a:endParaRPr lang="en-US" altLang="ja-JP" sz="4400" dirty="0">
              <a:latin typeface="UD デジタル 教科書体 NK-B" panose="02020700000000000000" pitchFamily="18" charset="-128"/>
              <a:ea typeface="UD デジタル 教科書体 NK-B" panose="02020700000000000000" pitchFamily="18" charset="-128"/>
            </a:endParaRPr>
          </a:p>
          <a:p>
            <a:r>
              <a:rPr lang="en-US" altLang="ja-JP" sz="6000" dirty="0">
                <a:latin typeface="UD デジタル 教科書体 NK-B" panose="02020700000000000000" pitchFamily="18" charset="-128"/>
                <a:ea typeface="UD デジタル 教科書体 NK-B" panose="02020700000000000000" pitchFamily="18" charset="-128"/>
              </a:rPr>
              <a:t>TF-IDF</a:t>
            </a:r>
            <a:r>
              <a:rPr lang="ja-JP" altLang="en-US" sz="6000" dirty="0">
                <a:latin typeface="UD デジタル 教科書体 NK-B" panose="02020700000000000000" pitchFamily="18" charset="-128"/>
                <a:ea typeface="UD デジタル 教科書体 NK-B" panose="02020700000000000000" pitchFamily="18" charset="-128"/>
              </a:rPr>
              <a:t>によるベクトル化と</a:t>
            </a:r>
            <a:endParaRPr lang="en-US" altLang="ja-JP" sz="6000" dirty="0">
              <a:latin typeface="UD デジタル 教科書体 NK-B" panose="02020700000000000000" pitchFamily="18" charset="-128"/>
              <a:ea typeface="UD デジタル 教科書体 NK-B" panose="02020700000000000000" pitchFamily="18" charset="-128"/>
            </a:endParaRPr>
          </a:p>
          <a:p>
            <a:r>
              <a:rPr lang="en-US" altLang="ja-JP" sz="6000" dirty="0">
                <a:latin typeface="UD デジタル 教科書体 NK-B" panose="02020700000000000000" pitchFamily="18" charset="-128"/>
                <a:ea typeface="UD デジタル 教科書体 NK-B" panose="02020700000000000000" pitchFamily="18" charset="-128"/>
              </a:rPr>
              <a:t>SVM</a:t>
            </a:r>
            <a:r>
              <a:rPr lang="ja-JP" altLang="en-US" sz="6000" dirty="0">
                <a:latin typeface="UD デジタル 教科書体 NK-B" panose="02020700000000000000" pitchFamily="18" charset="-128"/>
                <a:ea typeface="UD デジタル 教科書体 NK-B" panose="02020700000000000000" pitchFamily="18" charset="-128"/>
              </a:rPr>
              <a:t>による機械学習</a:t>
            </a:r>
            <a:endParaRPr lang="en-US" altLang="ja-JP" sz="6000" dirty="0">
              <a:latin typeface="UD デジタル 教科書体 NK-B" panose="02020700000000000000" pitchFamily="18" charset="-128"/>
              <a:ea typeface="UD デジタル 教科書体 NK-B" panose="02020700000000000000" pitchFamily="18" charset="-128"/>
            </a:endParaRPr>
          </a:p>
          <a:p>
            <a:pPr algn="r"/>
            <a:r>
              <a:rPr lang="ja-JP" altLang="en-US" sz="4400" dirty="0">
                <a:latin typeface="UD デジタル 教科書体 NK-B" panose="02020700000000000000" pitchFamily="18" charset="-128"/>
                <a:ea typeface="UD デジタル 教科書体 NK-B" panose="02020700000000000000" pitchFamily="18" charset="-128"/>
              </a:rPr>
              <a:t>によって再現できる</a:t>
            </a:r>
          </a:p>
        </p:txBody>
      </p:sp>
    </p:spTree>
    <p:extLst>
      <p:ext uri="{BB962C8B-B14F-4D97-AF65-F5344CB8AC3E}">
        <p14:creationId xmlns:p14="http://schemas.microsoft.com/office/powerpoint/2010/main" val="2474685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2"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開発環境：</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Python</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ライブラリ</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3078" name="Picture 6">
            <a:extLst>
              <a:ext uri="{FF2B5EF4-FFF2-40B4-BE49-F238E27FC236}">
                <a16:creationId xmlns:a16="http://schemas.microsoft.com/office/drawing/2014/main" id="{5645694E-1C6D-4D2C-3499-DDF2D3A5E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7299" y="3661787"/>
            <a:ext cx="3577398" cy="1926291"/>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53183A61-40DB-6D88-24AD-922F7CAFF552}"/>
              </a:ext>
            </a:extLst>
          </p:cNvPr>
          <p:cNvSpPr txBox="1"/>
          <p:nvPr/>
        </p:nvSpPr>
        <p:spPr>
          <a:xfrm>
            <a:off x="8069521" y="2061700"/>
            <a:ext cx="4231341" cy="646331"/>
          </a:xfrm>
          <a:prstGeom prst="rect">
            <a:avLst/>
          </a:prstGeom>
          <a:noFill/>
        </p:spPr>
        <p:txBody>
          <a:bodyPr wrap="square" rtlCol="0">
            <a:spAutoFit/>
          </a:bodyPr>
          <a:lstStyle/>
          <a:p>
            <a:pPr algn="ctr"/>
            <a:r>
              <a:rPr lang="en-US" altLang="ja-JP" sz="3600" dirty="0">
                <a:latin typeface="UD デジタル 教科書体 NK-B" panose="02020700000000000000" pitchFamily="18" charset="-128"/>
                <a:ea typeface="UD デジタル 教科書体 NK-B" panose="02020700000000000000" pitchFamily="18" charset="-128"/>
              </a:rPr>
              <a:t>Janome</a:t>
            </a:r>
            <a:endParaRPr kumimoji="1" lang="ja-JP" altLang="en-US" sz="3600" dirty="0">
              <a:latin typeface="UD デジタル 教科書体 NK-B" panose="02020700000000000000" pitchFamily="18" charset="-128"/>
              <a:ea typeface="UD デジタル 教科書体 NK-B" panose="02020700000000000000" pitchFamily="18" charset="-128"/>
            </a:endParaRPr>
          </a:p>
        </p:txBody>
      </p:sp>
      <p:pic>
        <p:nvPicPr>
          <p:cNvPr id="3080" name="Picture 8">
            <a:extLst>
              <a:ext uri="{FF2B5EF4-FFF2-40B4-BE49-F238E27FC236}">
                <a16:creationId xmlns:a16="http://schemas.microsoft.com/office/drawing/2014/main" id="{DDFB1264-79D3-C295-B5F0-588B3D4068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325" y="3353038"/>
            <a:ext cx="2322972" cy="2543788"/>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06952DAB-E63B-494D-A937-8F7B3469D72F}"/>
              </a:ext>
            </a:extLst>
          </p:cNvPr>
          <p:cNvSpPr txBox="1"/>
          <p:nvPr/>
        </p:nvSpPr>
        <p:spPr>
          <a:xfrm>
            <a:off x="-108860" y="2061713"/>
            <a:ext cx="4231341" cy="646331"/>
          </a:xfrm>
          <a:prstGeom prst="rect">
            <a:avLst/>
          </a:prstGeom>
          <a:noFill/>
        </p:spPr>
        <p:txBody>
          <a:bodyPr wrap="square" rtlCol="0">
            <a:spAutoFit/>
          </a:bodyPr>
          <a:lstStyle/>
          <a:p>
            <a:pPr algn="ctr"/>
            <a:r>
              <a:rPr lang="en-US" altLang="ja-JP" sz="3600" dirty="0">
                <a:latin typeface="UD デジタル 教科書体 NK-B" panose="02020700000000000000" pitchFamily="18" charset="-128"/>
                <a:ea typeface="UD デジタル 教科書体 NK-B" panose="02020700000000000000" pitchFamily="18" charset="-128"/>
              </a:rPr>
              <a:t>Python</a:t>
            </a:r>
            <a:r>
              <a:rPr lang="en-US" altLang="ja-JP" sz="2800" dirty="0">
                <a:latin typeface="UD デジタル 教科書体 NK-B" panose="02020700000000000000" pitchFamily="18" charset="-128"/>
                <a:ea typeface="UD デジタル 教科書体 NK-B" panose="02020700000000000000" pitchFamily="18" charset="-128"/>
              </a:rPr>
              <a:t>(3.11.4)</a:t>
            </a:r>
            <a:endParaRPr kumimoji="1" lang="ja-JP" altLang="en-US" sz="2800" dirty="0">
              <a:latin typeface="UD デジタル 教科書体 NK-B" panose="02020700000000000000" pitchFamily="18" charset="-128"/>
              <a:ea typeface="UD デジタル 教科書体 NK-B" panose="02020700000000000000" pitchFamily="18" charset="-128"/>
            </a:endParaRPr>
          </a:p>
        </p:txBody>
      </p:sp>
      <p:sp>
        <p:nvSpPr>
          <p:cNvPr id="16" name="テキスト ボックス 15">
            <a:extLst>
              <a:ext uri="{FF2B5EF4-FFF2-40B4-BE49-F238E27FC236}">
                <a16:creationId xmlns:a16="http://schemas.microsoft.com/office/drawing/2014/main" id="{5D5781B7-6A2D-B948-7D1E-B7CA1E2095F3}"/>
              </a:ext>
            </a:extLst>
          </p:cNvPr>
          <p:cNvSpPr txBox="1"/>
          <p:nvPr/>
        </p:nvSpPr>
        <p:spPr>
          <a:xfrm>
            <a:off x="3980327" y="2061713"/>
            <a:ext cx="4231341" cy="646331"/>
          </a:xfrm>
          <a:prstGeom prst="rect">
            <a:avLst/>
          </a:prstGeom>
          <a:noFill/>
        </p:spPr>
        <p:txBody>
          <a:bodyPr wrap="square" rtlCol="0">
            <a:spAutoFit/>
          </a:bodyPr>
          <a:lstStyle/>
          <a:p>
            <a:pPr algn="ctr"/>
            <a:r>
              <a:rPr lang="en-US" altLang="ja-JP" sz="3600" dirty="0" err="1">
                <a:latin typeface="UD デジタル 教科書体 NK-B" panose="02020700000000000000" pitchFamily="18" charset="-128"/>
                <a:ea typeface="UD デジタル 教科書体 NK-B" panose="02020700000000000000" pitchFamily="18" charset="-128"/>
              </a:rPr>
              <a:t>s</a:t>
            </a:r>
            <a:r>
              <a:rPr kumimoji="1" lang="en-US" altLang="ja-JP" sz="3600" dirty="0" err="1">
                <a:latin typeface="UD デジタル 教科書体 NK-B" panose="02020700000000000000" pitchFamily="18" charset="-128"/>
                <a:ea typeface="UD デジタル 教科書体 NK-B" panose="02020700000000000000" pitchFamily="18" charset="-128"/>
              </a:rPr>
              <a:t>cikitlearn</a:t>
            </a:r>
            <a:endParaRPr kumimoji="1" lang="ja-JP" altLang="en-US" sz="3600" dirty="0">
              <a:latin typeface="UD デジタル 教科書体 NK-B" panose="02020700000000000000" pitchFamily="18" charset="-128"/>
              <a:ea typeface="UD デジタル 教科書体 NK-B" panose="02020700000000000000" pitchFamily="18" charset="-128"/>
            </a:endParaRPr>
          </a:p>
        </p:txBody>
      </p:sp>
      <p:pic>
        <p:nvPicPr>
          <p:cNvPr id="4" name="Picture 2" descr="Windows】退屈なフォルダアイコンを変更してみては？【個性豊かに】 : 0から楽しむパソコン講座のブログ">
            <a:extLst>
              <a:ext uri="{FF2B5EF4-FFF2-40B4-BE49-F238E27FC236}">
                <a16:creationId xmlns:a16="http://schemas.microsoft.com/office/drawing/2014/main" id="{441DD691-7022-CDD1-DE7B-04EE86957D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71191" y="3188957"/>
            <a:ext cx="2628000" cy="287194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グループ化 6">
            <a:extLst>
              <a:ext uri="{FF2B5EF4-FFF2-40B4-BE49-F238E27FC236}">
                <a16:creationId xmlns:a16="http://schemas.microsoft.com/office/drawing/2014/main" id="{969A9BC7-9296-ECC1-A079-2C8E4EC0A107}"/>
              </a:ext>
            </a:extLst>
          </p:cNvPr>
          <p:cNvGrpSpPr/>
          <p:nvPr/>
        </p:nvGrpSpPr>
        <p:grpSpPr>
          <a:xfrm>
            <a:off x="10038584" y="4215978"/>
            <a:ext cx="1913965" cy="1680848"/>
            <a:chOff x="9802914" y="4441425"/>
            <a:chExt cx="1913965" cy="1680848"/>
          </a:xfrm>
        </p:grpSpPr>
        <p:sp>
          <p:nvSpPr>
            <p:cNvPr id="5" name="フローチャート: 結合子 4">
              <a:extLst>
                <a:ext uri="{FF2B5EF4-FFF2-40B4-BE49-F238E27FC236}">
                  <a16:creationId xmlns:a16="http://schemas.microsoft.com/office/drawing/2014/main" id="{35C87C90-47C1-0ED9-FDC6-A4507A3C4DE4}"/>
                </a:ext>
              </a:extLst>
            </p:cNvPr>
            <p:cNvSpPr>
              <a:spLocks noChangeAspect="1"/>
            </p:cNvSpPr>
            <p:nvPr/>
          </p:nvSpPr>
          <p:spPr>
            <a:xfrm>
              <a:off x="9919473" y="4441425"/>
              <a:ext cx="1680848" cy="1680848"/>
            </a:xfrm>
            <a:prstGeom prst="flowChartConnector">
              <a:avLst/>
            </a:prstGeom>
            <a:solidFill>
              <a:schemeClr val="accent3">
                <a:lumMod val="60000"/>
                <a:lumOff val="40000"/>
              </a:schemeClr>
            </a:solidFill>
            <a:ln w="28575">
              <a:solidFill>
                <a:schemeClr val="tx1">
                  <a:lumMod val="50000"/>
                  <a:lumOff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sz="1600"/>
            </a:p>
          </p:txBody>
        </p:sp>
        <p:sp>
          <p:nvSpPr>
            <p:cNvPr id="6" name="テキスト ボックス 5">
              <a:extLst>
                <a:ext uri="{FF2B5EF4-FFF2-40B4-BE49-F238E27FC236}">
                  <a16:creationId xmlns:a16="http://schemas.microsoft.com/office/drawing/2014/main" id="{FAF8C1E5-33B2-D370-179D-C64E8789D9CC}"/>
                </a:ext>
              </a:extLst>
            </p:cNvPr>
            <p:cNvSpPr txBox="1"/>
            <p:nvPr/>
          </p:nvSpPr>
          <p:spPr>
            <a:xfrm>
              <a:off x="9802914" y="4989461"/>
              <a:ext cx="1913965" cy="584775"/>
            </a:xfrm>
            <a:prstGeom prst="rect">
              <a:avLst/>
            </a:prstGeom>
            <a:noFill/>
          </p:spPr>
          <p:txBody>
            <a:bodyPr wrap="square" rtlCol="0">
              <a:spAutoFit/>
            </a:bodyPr>
            <a:lstStyle/>
            <a:p>
              <a:pPr algn="ctr"/>
              <a:r>
                <a:rPr lang="en-US" altLang="ja-JP" sz="3200" dirty="0">
                  <a:latin typeface="Comic Sans MS" panose="030F0702030302020204" pitchFamily="66" charset="0"/>
                  <a:ea typeface="BatangChe" panose="020B0503020000020004" pitchFamily="49" charset="-127"/>
                </a:rPr>
                <a:t>Janome</a:t>
              </a:r>
            </a:p>
          </p:txBody>
        </p:sp>
      </p:grpSp>
    </p:spTree>
    <p:extLst>
      <p:ext uri="{BB962C8B-B14F-4D97-AF65-F5344CB8AC3E}">
        <p14:creationId xmlns:p14="http://schemas.microsoft.com/office/powerpoint/2010/main" val="1775368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Watson</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再現プログラムについて</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6" name="テキスト ボックス 15">
            <a:extLst>
              <a:ext uri="{FF2B5EF4-FFF2-40B4-BE49-F238E27FC236}">
                <a16:creationId xmlns:a16="http://schemas.microsoft.com/office/drawing/2014/main" id="{1A802DDC-355A-E230-BF14-C07B62548A01}"/>
              </a:ext>
            </a:extLst>
          </p:cNvPr>
          <p:cNvSpPr txBox="1"/>
          <p:nvPr/>
        </p:nvSpPr>
        <p:spPr>
          <a:xfrm>
            <a:off x="75402" y="4067196"/>
            <a:ext cx="5715837" cy="646331"/>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ラベル付きのデータを用いる</a:t>
            </a:r>
            <a:endParaRPr lang="ja-JP" altLang="en-US" sz="3600" dirty="0"/>
          </a:p>
        </p:txBody>
      </p:sp>
      <p:sp>
        <p:nvSpPr>
          <p:cNvPr id="2" name="テキスト ボックス 1">
            <a:extLst>
              <a:ext uri="{FF2B5EF4-FFF2-40B4-BE49-F238E27FC236}">
                <a16:creationId xmlns:a16="http://schemas.microsoft.com/office/drawing/2014/main" id="{E8733305-5B13-3A68-654F-124318C77A7C}"/>
              </a:ext>
            </a:extLst>
          </p:cNvPr>
          <p:cNvSpPr txBox="1"/>
          <p:nvPr/>
        </p:nvSpPr>
        <p:spPr>
          <a:xfrm>
            <a:off x="0" y="3142337"/>
            <a:ext cx="6509657" cy="646331"/>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類似度だけでは再現不可</a:t>
            </a:r>
            <a:endParaRPr lang="ja-JP" altLang="en-US" sz="3600" dirty="0"/>
          </a:p>
        </p:txBody>
      </p:sp>
      <p:sp>
        <p:nvSpPr>
          <p:cNvPr id="3" name="二等辺三角形 2">
            <a:extLst>
              <a:ext uri="{FF2B5EF4-FFF2-40B4-BE49-F238E27FC236}">
                <a16:creationId xmlns:a16="http://schemas.microsoft.com/office/drawing/2014/main" id="{02E528C0-B94A-53CF-2467-DD32CE49EB54}"/>
              </a:ext>
            </a:extLst>
          </p:cNvPr>
          <p:cNvSpPr/>
          <p:nvPr/>
        </p:nvSpPr>
        <p:spPr>
          <a:xfrm rot="16200000" flipV="1">
            <a:off x="5066112" y="3876862"/>
            <a:ext cx="2413636" cy="702733"/>
          </a:xfrm>
          <a:prstGeom prst="triangle">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latin typeface="UD デジタル 教科書体 NK-B" panose="02020700000000000000" pitchFamily="18" charset="-128"/>
              <a:ea typeface="UD デジタル 教科書体 NK-B" panose="02020700000000000000" pitchFamily="18" charset="-128"/>
            </a:endParaRPr>
          </a:p>
        </p:txBody>
      </p:sp>
      <p:sp>
        <p:nvSpPr>
          <p:cNvPr id="4" name="テキスト ボックス 3">
            <a:extLst>
              <a:ext uri="{FF2B5EF4-FFF2-40B4-BE49-F238E27FC236}">
                <a16:creationId xmlns:a16="http://schemas.microsoft.com/office/drawing/2014/main" id="{9D8511CF-69B8-E002-4556-B44454EA5AD5}"/>
              </a:ext>
            </a:extLst>
          </p:cNvPr>
          <p:cNvSpPr txBox="1"/>
          <p:nvPr/>
        </p:nvSpPr>
        <p:spPr>
          <a:xfrm>
            <a:off x="6927802" y="3351065"/>
            <a:ext cx="5618058" cy="1754326"/>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非線形クラスタリングの</a:t>
            </a:r>
            <a:endParaRPr lang="en-US" altLang="ja-JP" sz="3600" dirty="0">
              <a:latin typeface="UD デジタル 教科書体 NK-B" panose="02020700000000000000" pitchFamily="18" charset="-128"/>
              <a:ea typeface="UD デジタル 教科書体 NK-B" panose="02020700000000000000" pitchFamily="18" charset="-128"/>
            </a:endParaRPr>
          </a:p>
          <a:p>
            <a:r>
              <a:rPr lang="ja-JP" altLang="en-US" sz="3600" dirty="0">
                <a:latin typeface="UD デジタル 教科書体 NK-B" panose="02020700000000000000" pitchFamily="18" charset="-128"/>
                <a:ea typeface="UD デジタル 教科書体 NK-B" panose="02020700000000000000" pitchFamily="18" charset="-128"/>
              </a:rPr>
              <a:t>アルゴリズムである</a:t>
            </a:r>
            <a:endParaRPr lang="en-US" altLang="ja-JP" sz="3600" dirty="0">
              <a:latin typeface="UD デジタル 教科書体 NK-B" panose="02020700000000000000" pitchFamily="18" charset="-128"/>
              <a:ea typeface="UD デジタル 教科書体 NK-B" panose="02020700000000000000" pitchFamily="18" charset="-128"/>
            </a:endParaRPr>
          </a:p>
          <a:p>
            <a:r>
              <a:rPr lang="en-US" altLang="ja-JP" sz="3600" dirty="0">
                <a:solidFill>
                  <a:srgbClr val="FF5050"/>
                </a:solidFill>
                <a:latin typeface="UD デジタル 教科書体 NK-B" panose="02020700000000000000" pitchFamily="18" charset="-128"/>
                <a:ea typeface="UD デジタル 教科書体 NK-B" panose="02020700000000000000" pitchFamily="18" charset="-128"/>
              </a:rPr>
              <a:t>SVM</a:t>
            </a:r>
            <a:r>
              <a:rPr lang="ja-JP" altLang="en-US" sz="3600" dirty="0">
                <a:latin typeface="UD デジタル 教科書体 NK-B" panose="02020700000000000000" pitchFamily="18" charset="-128"/>
                <a:ea typeface="UD デジタル 教科書体 NK-B" panose="02020700000000000000" pitchFamily="18" charset="-128"/>
              </a:rPr>
              <a:t>での学習</a:t>
            </a:r>
          </a:p>
        </p:txBody>
      </p:sp>
      <p:sp>
        <p:nvSpPr>
          <p:cNvPr id="14" name="テキスト ボックス 13">
            <a:extLst>
              <a:ext uri="{FF2B5EF4-FFF2-40B4-BE49-F238E27FC236}">
                <a16:creationId xmlns:a16="http://schemas.microsoft.com/office/drawing/2014/main" id="{003E3D13-2F6C-0071-4CAB-FAAE83B7F80C}"/>
              </a:ext>
            </a:extLst>
          </p:cNvPr>
          <p:cNvSpPr txBox="1"/>
          <p:nvPr/>
        </p:nvSpPr>
        <p:spPr>
          <a:xfrm>
            <a:off x="75402" y="1829205"/>
            <a:ext cx="6509657" cy="646331"/>
          </a:xfrm>
          <a:prstGeom prst="rect">
            <a:avLst/>
          </a:prstGeom>
          <a:noFill/>
        </p:spPr>
        <p:txBody>
          <a:bodyPr wrap="square">
            <a:spAutoFit/>
          </a:bodyPr>
          <a:lstStyle/>
          <a:p>
            <a:pPr marL="571500" indent="-571500">
              <a:buFont typeface="Wingdings" panose="05000000000000000000" pitchFamily="2" charset="2"/>
              <a:buChar char="u"/>
            </a:pPr>
            <a:r>
              <a:rPr lang="ja-JP" altLang="en-US" sz="3600" dirty="0">
                <a:latin typeface="UD デジタル 教科書体 NK-B" panose="02020700000000000000" pitchFamily="18" charset="-128"/>
                <a:ea typeface="UD デジタル 教科書体 NK-B" panose="02020700000000000000" pitchFamily="18" charset="-128"/>
              </a:rPr>
              <a:t>機械学習の手法について</a:t>
            </a:r>
            <a:endParaRPr lang="ja-JP" altLang="en-US" sz="3600" dirty="0"/>
          </a:p>
        </p:txBody>
      </p:sp>
      <p:sp>
        <p:nvSpPr>
          <p:cNvPr id="5" name="テキスト ボックス 4">
            <a:extLst>
              <a:ext uri="{FF2B5EF4-FFF2-40B4-BE49-F238E27FC236}">
                <a16:creationId xmlns:a16="http://schemas.microsoft.com/office/drawing/2014/main" id="{41E9A55D-35C7-4B20-8755-92AD3A0F3E4A}"/>
              </a:ext>
            </a:extLst>
          </p:cNvPr>
          <p:cNvSpPr txBox="1"/>
          <p:nvPr/>
        </p:nvSpPr>
        <p:spPr>
          <a:xfrm>
            <a:off x="75401" y="4992055"/>
            <a:ext cx="5715837" cy="646331"/>
          </a:xfrm>
          <a:prstGeom prst="rect">
            <a:avLst/>
          </a:prstGeom>
          <a:noFill/>
        </p:spPr>
        <p:txBody>
          <a:bodyPr wrap="square">
            <a:spAutoFit/>
          </a:bodyPr>
          <a:lstStyle/>
          <a:p>
            <a:r>
              <a:rPr lang="en-US" altLang="ja-JP" sz="3600" dirty="0">
                <a:latin typeface="UD デジタル 教科書体 NK-B" panose="02020700000000000000" pitchFamily="18" charset="-128"/>
                <a:ea typeface="UD デジタル 教科書体 NK-B" panose="02020700000000000000" pitchFamily="18" charset="-128"/>
              </a:rPr>
              <a:t>3</a:t>
            </a:r>
            <a:r>
              <a:rPr lang="ja-JP" altLang="en-US" sz="3600" dirty="0">
                <a:latin typeface="UD デジタル 教科書体 NK-B" panose="02020700000000000000" pitchFamily="18" charset="-128"/>
                <a:ea typeface="UD デジタル 教科書体 NK-B" panose="02020700000000000000" pitchFamily="18" charset="-128"/>
              </a:rPr>
              <a:t>種類以上に分類する</a:t>
            </a:r>
            <a:endParaRPr lang="ja-JP" altLang="en-US" sz="3600" dirty="0"/>
          </a:p>
        </p:txBody>
      </p:sp>
    </p:spTree>
    <p:extLst>
      <p:ext uri="{BB962C8B-B14F-4D97-AF65-F5344CB8AC3E}">
        <p14:creationId xmlns:p14="http://schemas.microsoft.com/office/powerpoint/2010/main" val="1801557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Watson</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再現プログラムについて</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5" name="テキスト ボックス 4">
            <a:extLst>
              <a:ext uri="{FF2B5EF4-FFF2-40B4-BE49-F238E27FC236}">
                <a16:creationId xmlns:a16="http://schemas.microsoft.com/office/drawing/2014/main" id="{5AE355D5-54B4-7B3F-5C3A-00123706C9AB}"/>
              </a:ext>
            </a:extLst>
          </p:cNvPr>
          <p:cNvSpPr txBox="1"/>
          <p:nvPr/>
        </p:nvSpPr>
        <p:spPr>
          <a:xfrm>
            <a:off x="679938" y="5003588"/>
            <a:ext cx="10832123" cy="1200329"/>
          </a:xfrm>
          <a:prstGeom prst="rect">
            <a:avLst/>
          </a:prstGeom>
          <a:noFill/>
        </p:spPr>
        <p:txBody>
          <a:bodyPr wrap="square">
            <a:spAutoFit/>
          </a:bodyPr>
          <a:lstStyle/>
          <a:p>
            <a:pPr algn="ctr"/>
            <a:r>
              <a:rPr lang="en-US" altLang="ja-JP" sz="3600" dirty="0">
                <a:latin typeface="UD デジタル 教科書体 NK-B" panose="02020700000000000000" pitchFamily="18" charset="-128"/>
                <a:ea typeface="UD デジタル 教科書体 NK-B" panose="02020700000000000000" pitchFamily="18" charset="-128"/>
              </a:rPr>
              <a:t>TF-IDF</a:t>
            </a:r>
            <a:r>
              <a:rPr lang="ja-JP" altLang="en-US" sz="3600" dirty="0">
                <a:latin typeface="UD デジタル 教科書体 NK-B" panose="02020700000000000000" pitchFamily="18" charset="-128"/>
                <a:ea typeface="UD デジタル 教科書体 NK-B" panose="02020700000000000000" pitchFamily="18" charset="-128"/>
              </a:rPr>
              <a:t>を用いてベクトル化した文章を</a:t>
            </a:r>
            <a:endParaRPr lang="en-US" altLang="ja-JP" sz="3600" dirty="0">
              <a:latin typeface="UD デジタル 教科書体 NK-B" panose="02020700000000000000" pitchFamily="18" charset="-128"/>
              <a:ea typeface="UD デジタル 教科書体 NK-B" panose="02020700000000000000" pitchFamily="18" charset="-128"/>
            </a:endParaRPr>
          </a:p>
          <a:p>
            <a:pPr algn="ctr"/>
            <a:r>
              <a:rPr lang="ja-JP" altLang="en-US" sz="3600" dirty="0">
                <a:latin typeface="UD デジタル 教科書体 NK-B" panose="02020700000000000000" pitchFamily="18" charset="-128"/>
                <a:ea typeface="UD デジタル 教科書体 NK-B" panose="02020700000000000000" pitchFamily="18" charset="-128"/>
              </a:rPr>
              <a:t>トレーニングデータとして使用</a:t>
            </a:r>
            <a:endParaRPr lang="ja-JP" altLang="en-US" sz="3600" dirty="0"/>
          </a:p>
        </p:txBody>
      </p:sp>
      <p:sp>
        <p:nvSpPr>
          <p:cNvPr id="7" name="テキスト ボックス 6">
            <a:extLst>
              <a:ext uri="{FF2B5EF4-FFF2-40B4-BE49-F238E27FC236}">
                <a16:creationId xmlns:a16="http://schemas.microsoft.com/office/drawing/2014/main" id="{9DDB5328-E18D-6382-AF3C-6F3495FF8B60}"/>
              </a:ext>
            </a:extLst>
          </p:cNvPr>
          <p:cNvSpPr txBox="1"/>
          <p:nvPr/>
        </p:nvSpPr>
        <p:spPr>
          <a:xfrm>
            <a:off x="584479" y="3105834"/>
            <a:ext cx="11023042" cy="646331"/>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類似度計算プログラムで再現した特徴を損ないたくない</a:t>
            </a:r>
          </a:p>
        </p:txBody>
      </p:sp>
      <p:sp>
        <p:nvSpPr>
          <p:cNvPr id="6" name="二等辺三角形 5">
            <a:extLst>
              <a:ext uri="{FF2B5EF4-FFF2-40B4-BE49-F238E27FC236}">
                <a16:creationId xmlns:a16="http://schemas.microsoft.com/office/drawing/2014/main" id="{3D936BE4-7393-2F2B-DBC6-BADB0B67671F}"/>
              </a:ext>
            </a:extLst>
          </p:cNvPr>
          <p:cNvSpPr/>
          <p:nvPr/>
        </p:nvSpPr>
        <p:spPr>
          <a:xfrm flipV="1">
            <a:off x="4889181" y="4182842"/>
            <a:ext cx="2413636" cy="702733"/>
          </a:xfrm>
          <a:prstGeom prst="triangle">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latin typeface="UD デジタル 教科書体 NK-B" panose="02020700000000000000" pitchFamily="18" charset="-128"/>
              <a:ea typeface="UD デジタル 教科書体 NK-B" panose="02020700000000000000" pitchFamily="18" charset="-128"/>
            </a:endParaRPr>
          </a:p>
        </p:txBody>
      </p:sp>
      <p:sp>
        <p:nvSpPr>
          <p:cNvPr id="8" name="テキスト ボックス 7">
            <a:extLst>
              <a:ext uri="{FF2B5EF4-FFF2-40B4-BE49-F238E27FC236}">
                <a16:creationId xmlns:a16="http://schemas.microsoft.com/office/drawing/2014/main" id="{1FD9C753-AC6B-E34D-A30F-32CD07BE67F7}"/>
              </a:ext>
            </a:extLst>
          </p:cNvPr>
          <p:cNvSpPr txBox="1"/>
          <p:nvPr/>
        </p:nvSpPr>
        <p:spPr>
          <a:xfrm>
            <a:off x="75402" y="1829205"/>
            <a:ext cx="6509657" cy="646331"/>
          </a:xfrm>
          <a:prstGeom prst="rect">
            <a:avLst/>
          </a:prstGeom>
          <a:noFill/>
        </p:spPr>
        <p:txBody>
          <a:bodyPr wrap="square">
            <a:spAutoFit/>
          </a:bodyPr>
          <a:lstStyle/>
          <a:p>
            <a:pPr marL="571500" indent="-571500">
              <a:buFont typeface="Wingdings" panose="05000000000000000000" pitchFamily="2" charset="2"/>
              <a:buChar char="u"/>
            </a:pPr>
            <a:r>
              <a:rPr lang="ja-JP" altLang="en-US" sz="3600" dirty="0">
                <a:latin typeface="UD デジタル 教科書体 NK-B" panose="02020700000000000000" pitchFamily="18" charset="-128"/>
                <a:ea typeface="UD デジタル 教科書体 NK-B" panose="02020700000000000000" pitchFamily="18" charset="-128"/>
              </a:rPr>
              <a:t>トレーニングデータについて</a:t>
            </a:r>
            <a:endParaRPr lang="ja-JP" altLang="en-US" sz="3600" dirty="0"/>
          </a:p>
        </p:txBody>
      </p:sp>
    </p:spTree>
    <p:extLst>
      <p:ext uri="{BB962C8B-B14F-4D97-AF65-F5344CB8AC3E}">
        <p14:creationId xmlns:p14="http://schemas.microsoft.com/office/powerpoint/2010/main" val="27308754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F08664EF-11B2-594F-BDE6-8A1E64BD9D36}"/>
              </a:ext>
            </a:extLst>
          </p:cNvPr>
          <p:cNvSpPr txBox="1"/>
          <p:nvPr/>
        </p:nvSpPr>
        <p:spPr>
          <a:xfrm>
            <a:off x="952732" y="1213787"/>
            <a:ext cx="8253977" cy="1200329"/>
          </a:xfrm>
          <a:prstGeom prst="rect">
            <a:avLst/>
          </a:prstGeom>
          <a:noFill/>
        </p:spPr>
        <p:txBody>
          <a:bodyPr wrap="square">
            <a:spAutoFit/>
          </a:bodyPr>
          <a:lstStyle/>
          <a:p>
            <a:pPr marL="342900" indent="-342900">
              <a:buFont typeface="Arial" panose="020B0604020202020204" pitchFamily="34" charset="0"/>
              <a:buChar char="•"/>
            </a:pPr>
            <a:r>
              <a:rPr lang="ja-JP" altLang="en-US" sz="2400" dirty="0">
                <a:latin typeface="UD デジタル 教科書体 NK-B" panose="02020700000000000000" pitchFamily="18" charset="-128"/>
                <a:ea typeface="UD デジタル 教科書体 NK-B" panose="02020700000000000000" pitchFamily="18" charset="-128"/>
              </a:rPr>
              <a:t>二次関数は、一般的にどのような形で表されるのですか？</a:t>
            </a:r>
          </a:p>
          <a:p>
            <a:pPr marL="342900" indent="-342900">
              <a:buFont typeface="Arial" panose="020B0604020202020204" pitchFamily="34" charset="0"/>
              <a:buChar char="•"/>
            </a:pPr>
            <a:r>
              <a:rPr lang="ja-JP" altLang="en-US" sz="2400" dirty="0">
                <a:latin typeface="UD デジタル 教科書体 NK-B" panose="02020700000000000000" pitchFamily="18" charset="-128"/>
                <a:ea typeface="UD デジタル 教科書体 NK-B" panose="02020700000000000000" pitchFamily="18" charset="-128"/>
              </a:rPr>
              <a:t>二次関数を表すための一般的な式の形式は何ですか？</a:t>
            </a:r>
          </a:p>
          <a:p>
            <a:pPr marL="342900" indent="-342900">
              <a:buFont typeface="Arial" panose="020B0604020202020204" pitchFamily="34" charset="0"/>
              <a:buChar char="•"/>
            </a:pPr>
            <a:r>
              <a:rPr lang="ja-JP" altLang="en-US" sz="2400" dirty="0">
                <a:latin typeface="UD デジタル 教科書体 NK-B" panose="02020700000000000000" pitchFamily="18" charset="-128"/>
                <a:ea typeface="UD デジタル 教科書体 NK-B" panose="02020700000000000000" pitchFamily="18" charset="-128"/>
              </a:rPr>
              <a:t>二次関数の一般的な表現方法について教えてください。</a:t>
            </a:r>
          </a:p>
        </p:txBody>
      </p:sp>
      <p:sp>
        <p:nvSpPr>
          <p:cNvPr id="7" name="テキスト ボックス 6">
            <a:extLst>
              <a:ext uri="{FF2B5EF4-FFF2-40B4-BE49-F238E27FC236}">
                <a16:creationId xmlns:a16="http://schemas.microsoft.com/office/drawing/2014/main" id="{850F9749-A471-1658-9DD6-89B42F8DC53C}"/>
              </a:ext>
            </a:extLst>
          </p:cNvPr>
          <p:cNvSpPr txBox="1"/>
          <p:nvPr/>
        </p:nvSpPr>
        <p:spPr>
          <a:xfrm>
            <a:off x="474412" y="204178"/>
            <a:ext cx="11023042" cy="646331"/>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二次関数の一般形</a:t>
            </a:r>
          </a:p>
        </p:txBody>
      </p:sp>
      <p:sp>
        <p:nvSpPr>
          <p:cNvPr id="9" name="テキスト ボックス 8">
            <a:extLst>
              <a:ext uri="{FF2B5EF4-FFF2-40B4-BE49-F238E27FC236}">
                <a16:creationId xmlns:a16="http://schemas.microsoft.com/office/drawing/2014/main" id="{3D1A0CE5-80E1-B1D5-6D92-7FEEF906C246}"/>
              </a:ext>
            </a:extLst>
          </p:cNvPr>
          <p:cNvSpPr txBox="1"/>
          <p:nvPr/>
        </p:nvSpPr>
        <p:spPr>
          <a:xfrm>
            <a:off x="9127066" y="850509"/>
            <a:ext cx="2463800" cy="1200329"/>
          </a:xfrm>
          <a:prstGeom prst="rect">
            <a:avLst/>
          </a:prstGeom>
          <a:noFill/>
        </p:spPr>
        <p:txBody>
          <a:bodyPr wrap="square">
            <a:spAutoFit/>
          </a:bodyPr>
          <a:lstStyle/>
          <a:p>
            <a:r>
              <a:rPr lang="en-US" altLang="ja-JP" sz="2400" dirty="0">
                <a:latin typeface="UD デジタル 教科書体 NK-B" panose="02020700000000000000" pitchFamily="18" charset="-128"/>
                <a:ea typeface="UD デジタル 教科書体 NK-B" panose="02020700000000000000" pitchFamily="18" charset="-128"/>
              </a:rPr>
              <a:t>Answer</a:t>
            </a:r>
          </a:p>
          <a:p>
            <a:r>
              <a:rPr lang="en-US" altLang="ja-JP" sz="2400" dirty="0">
                <a:latin typeface="UD デジタル 教科書体 NK-B" panose="02020700000000000000" pitchFamily="18" charset="-128"/>
                <a:ea typeface="UD デジタル 教科書体 NK-B" panose="02020700000000000000" pitchFamily="18" charset="-128"/>
              </a:rPr>
              <a:t>y=ax</a:t>
            </a:r>
            <a:r>
              <a:rPr lang="en-US" altLang="ja-JP" sz="2400" baseline="30000" dirty="0">
                <a:latin typeface="UD デジタル 教科書体 NK-B" panose="02020700000000000000" pitchFamily="18" charset="-128"/>
                <a:ea typeface="UD デジタル 教科書体 NK-B" panose="02020700000000000000" pitchFamily="18" charset="-128"/>
              </a:rPr>
              <a:t>2</a:t>
            </a:r>
            <a:r>
              <a:rPr lang="en-US" altLang="ja-JP" sz="2400" dirty="0">
                <a:latin typeface="UD デジタル 教科書体 NK-B" panose="02020700000000000000" pitchFamily="18" charset="-128"/>
                <a:ea typeface="UD デジタル 教科書体 NK-B" panose="02020700000000000000" pitchFamily="18" charset="-128"/>
              </a:rPr>
              <a:t>+bx+c</a:t>
            </a:r>
          </a:p>
          <a:p>
            <a:r>
              <a:rPr lang="en-US" altLang="ja-JP" sz="2400" dirty="0">
                <a:latin typeface="UD デジタル 教科書体 NK-B" panose="02020700000000000000" pitchFamily="18" charset="-128"/>
                <a:ea typeface="UD デジタル 教科書体 NK-B" panose="02020700000000000000" pitchFamily="18" charset="-128"/>
              </a:rPr>
              <a:t>(a</a:t>
            </a:r>
            <a:r>
              <a:rPr lang="ja-JP" altLang="en-US" sz="2400" dirty="0">
                <a:latin typeface="UD デジタル 教科書体 NK-B" panose="02020700000000000000" pitchFamily="18" charset="-128"/>
                <a:ea typeface="UD デジタル 教科書体 NK-B" panose="02020700000000000000" pitchFamily="18" charset="-128"/>
              </a:rPr>
              <a:t>≠</a:t>
            </a:r>
            <a:r>
              <a:rPr lang="en-US" altLang="ja-JP" sz="2400" dirty="0">
                <a:latin typeface="UD デジタル 教科書体 NK-B" panose="02020700000000000000" pitchFamily="18" charset="-128"/>
                <a:ea typeface="UD デジタル 教科書体 NK-B" panose="02020700000000000000" pitchFamily="18" charset="-128"/>
              </a:rPr>
              <a:t>0) </a:t>
            </a:r>
            <a:endParaRPr lang="ja-JP" altLang="en-US" sz="2400" dirty="0">
              <a:latin typeface="UD デジタル 教科書体 NK-B" panose="02020700000000000000" pitchFamily="18" charset="-128"/>
              <a:ea typeface="UD デジタル 教科書体 NK-B" panose="02020700000000000000" pitchFamily="18" charset="-128"/>
            </a:endParaRPr>
          </a:p>
        </p:txBody>
      </p:sp>
      <p:sp>
        <p:nvSpPr>
          <p:cNvPr id="10" name="楕円 9">
            <a:extLst>
              <a:ext uri="{FF2B5EF4-FFF2-40B4-BE49-F238E27FC236}">
                <a16:creationId xmlns:a16="http://schemas.microsoft.com/office/drawing/2014/main" id="{57901204-C3B2-42A3-B286-BC383801AA41}"/>
              </a:ext>
            </a:extLst>
          </p:cNvPr>
          <p:cNvSpPr/>
          <p:nvPr/>
        </p:nvSpPr>
        <p:spPr>
          <a:xfrm>
            <a:off x="5079721" y="2362656"/>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8D8CE779-115B-115A-9652-7EEA6B4AF716}"/>
              </a:ext>
            </a:extLst>
          </p:cNvPr>
          <p:cNvSpPr/>
          <p:nvPr/>
        </p:nvSpPr>
        <p:spPr>
          <a:xfrm>
            <a:off x="5088186" y="2765875"/>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2095B270-E6BF-6A5F-D3FD-18C971C3D5FC}"/>
              </a:ext>
            </a:extLst>
          </p:cNvPr>
          <p:cNvSpPr/>
          <p:nvPr/>
        </p:nvSpPr>
        <p:spPr>
          <a:xfrm>
            <a:off x="5079721" y="2565857"/>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10EC872E-7449-BC72-385E-80255DB582F7}"/>
              </a:ext>
            </a:extLst>
          </p:cNvPr>
          <p:cNvSpPr txBox="1"/>
          <p:nvPr/>
        </p:nvSpPr>
        <p:spPr>
          <a:xfrm>
            <a:off x="952733" y="4184443"/>
            <a:ext cx="8144702" cy="1200329"/>
          </a:xfrm>
          <a:prstGeom prst="rect">
            <a:avLst/>
          </a:prstGeom>
          <a:noFill/>
        </p:spPr>
        <p:txBody>
          <a:bodyPr wrap="square">
            <a:spAutoFit/>
          </a:bodyPr>
          <a:lstStyle/>
          <a:p>
            <a:pPr marL="342900" indent="-342900">
              <a:buFont typeface="Arial" panose="020B0604020202020204" pitchFamily="34" charset="0"/>
              <a:buChar char="•"/>
            </a:pPr>
            <a:r>
              <a:rPr lang="ja-JP" altLang="en-US" sz="2400" dirty="0">
                <a:latin typeface="UD デジタル 教科書体 NK-B" panose="02020700000000000000" pitchFamily="18" charset="-128"/>
                <a:ea typeface="UD デジタル 教科書体 NK-B" panose="02020700000000000000" pitchFamily="18" charset="-128"/>
              </a:rPr>
              <a:t>導関数の定義は何ですか？</a:t>
            </a:r>
            <a:endParaRPr lang="en-US" altLang="ja-JP" sz="2400" dirty="0">
              <a:latin typeface="UD デジタル 教科書体 NK-B" panose="02020700000000000000" pitchFamily="18" charset="-128"/>
              <a:ea typeface="UD デジタル 教科書体 NK-B" panose="02020700000000000000" pitchFamily="18" charset="-128"/>
            </a:endParaRPr>
          </a:p>
          <a:p>
            <a:pPr marL="342900" indent="-342900">
              <a:buFont typeface="Arial" panose="020B0604020202020204" pitchFamily="34" charset="0"/>
              <a:buChar char="•"/>
            </a:pPr>
            <a:r>
              <a:rPr lang="ja-JP" altLang="en-US" sz="2400" dirty="0">
                <a:latin typeface="UD デジタル 教科書体 NK-B" panose="02020700000000000000" pitchFamily="18" charset="-128"/>
                <a:ea typeface="UD デジタル 教科書体 NK-B" panose="02020700000000000000" pitchFamily="18" charset="-128"/>
              </a:rPr>
              <a:t>導関数をどのように定義しますか？</a:t>
            </a:r>
            <a:endParaRPr lang="en-US" altLang="ja-JP" sz="2400" dirty="0">
              <a:latin typeface="UD デジタル 教科書体 NK-B" panose="02020700000000000000" pitchFamily="18" charset="-128"/>
              <a:ea typeface="UD デジタル 教科書体 NK-B" panose="02020700000000000000" pitchFamily="18" charset="-128"/>
            </a:endParaRPr>
          </a:p>
          <a:p>
            <a:pPr marL="342900" indent="-342900">
              <a:buFont typeface="Arial" panose="020B0604020202020204" pitchFamily="34" charset="0"/>
              <a:buChar char="•"/>
            </a:pPr>
            <a:r>
              <a:rPr lang="ja-JP" altLang="en-US" sz="2400" dirty="0">
                <a:latin typeface="UD デジタル 教科書体 NK-B" panose="02020700000000000000" pitchFamily="18" charset="-128"/>
                <a:ea typeface="UD デジタル 教科書体 NK-B" panose="02020700000000000000" pitchFamily="18" charset="-128"/>
              </a:rPr>
              <a:t>導関数の定義について教えてください。</a:t>
            </a:r>
          </a:p>
        </p:txBody>
      </p:sp>
      <p:sp>
        <p:nvSpPr>
          <p:cNvPr id="20" name="テキスト ボックス 19">
            <a:extLst>
              <a:ext uri="{FF2B5EF4-FFF2-40B4-BE49-F238E27FC236}">
                <a16:creationId xmlns:a16="http://schemas.microsoft.com/office/drawing/2014/main" id="{035AE805-64A5-6F95-2FAE-9D7DF6D003FB}"/>
              </a:ext>
            </a:extLst>
          </p:cNvPr>
          <p:cNvSpPr txBox="1"/>
          <p:nvPr/>
        </p:nvSpPr>
        <p:spPr>
          <a:xfrm>
            <a:off x="381000" y="3178678"/>
            <a:ext cx="11023042" cy="646331"/>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導関数の定義</a:t>
            </a: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63AA845F-58F2-CF48-E2AB-FDD849DFB89E}"/>
                  </a:ext>
                </a:extLst>
              </p:cNvPr>
              <p:cNvSpPr txBox="1"/>
              <p:nvPr/>
            </p:nvSpPr>
            <p:spPr>
              <a:xfrm>
                <a:off x="7476067" y="3825009"/>
                <a:ext cx="4021387" cy="1178400"/>
              </a:xfrm>
              <a:prstGeom prst="rect">
                <a:avLst/>
              </a:prstGeom>
              <a:noFill/>
            </p:spPr>
            <p:txBody>
              <a:bodyPr wrap="square">
                <a:spAutoFit/>
              </a:bodyPr>
              <a:lstStyle/>
              <a:p>
                <a:r>
                  <a:rPr lang="en-US" altLang="ja-JP" sz="2400" dirty="0">
                    <a:latin typeface="UD デジタル 教科書体 NK-B" panose="02020700000000000000" pitchFamily="18" charset="-128"/>
                    <a:ea typeface="UD デジタル 教科書体 NK-B" panose="02020700000000000000" pitchFamily="18" charset="-128"/>
                  </a:rPr>
                  <a:t>Answer</a:t>
                </a:r>
              </a:p>
              <a:p>
                <a:pPr/>
                <a14:m>
                  <m:oMathPara xmlns:m="http://schemas.openxmlformats.org/officeDocument/2006/math">
                    <m:oMathParaPr>
                      <m:jc m:val="centerGroup"/>
                    </m:oMathParaPr>
                    <m:oMath xmlns:m="http://schemas.openxmlformats.org/officeDocument/2006/math">
                      <m:sSup>
                        <m:sSupPr>
                          <m:ctrlPr>
                            <a:rPr lang="en-US" altLang="ja-JP" sz="2400" b="0" i="1" smtClean="0">
                              <a:latin typeface="Cambria Math" panose="02040503050406030204" pitchFamily="18" charset="0"/>
                              <a:ea typeface="UD デジタル 教科書体 NK-B" panose="02020700000000000000" pitchFamily="18" charset="-128"/>
                            </a:rPr>
                          </m:ctrlPr>
                        </m:sSupPr>
                        <m:e>
                          <m:r>
                            <a:rPr lang="en-US" altLang="ja-JP" sz="2400" b="0" i="1" smtClean="0">
                              <a:latin typeface="Cambria Math" panose="02040503050406030204" pitchFamily="18" charset="0"/>
                              <a:ea typeface="UD デジタル 教科書体 NK-B" panose="02020700000000000000" pitchFamily="18" charset="-128"/>
                            </a:rPr>
                            <m:t>𝑓</m:t>
                          </m:r>
                        </m:e>
                        <m:sup>
                          <m:r>
                            <a:rPr lang="en-US" altLang="ja-JP" sz="2400" b="0" i="1" smtClean="0">
                              <a:latin typeface="Cambria Math" panose="02040503050406030204" pitchFamily="18" charset="0"/>
                              <a:ea typeface="UD デジタル 教科書体 NK-B" panose="02020700000000000000" pitchFamily="18" charset="-128"/>
                            </a:rPr>
                            <m:t>′</m:t>
                          </m:r>
                        </m:sup>
                      </m:sSup>
                      <m:d>
                        <m:dPr>
                          <m:ctrlPr>
                            <a:rPr lang="en-US" altLang="ja-JP" sz="2400" b="0" i="1" smtClean="0">
                              <a:latin typeface="Cambria Math" panose="02040503050406030204" pitchFamily="18" charset="0"/>
                              <a:ea typeface="UD デジタル 教科書体 NK-B" panose="02020700000000000000" pitchFamily="18" charset="-128"/>
                            </a:rPr>
                          </m:ctrlPr>
                        </m:dPr>
                        <m:e>
                          <m:r>
                            <a:rPr lang="en-US" altLang="ja-JP" sz="2400" b="0" i="1" smtClean="0">
                              <a:latin typeface="Cambria Math" panose="02040503050406030204" pitchFamily="18" charset="0"/>
                              <a:ea typeface="UD デジタル 教科書体 NK-B" panose="02020700000000000000" pitchFamily="18" charset="-128"/>
                            </a:rPr>
                            <m:t>𝑥</m:t>
                          </m:r>
                        </m:e>
                      </m:d>
                      <m:r>
                        <a:rPr lang="en-US" altLang="ja-JP" sz="2400" b="0" i="1" smtClean="0">
                          <a:latin typeface="Cambria Math" panose="02040503050406030204" pitchFamily="18" charset="0"/>
                          <a:ea typeface="UD デジタル 教科書体 NK-B" panose="02020700000000000000" pitchFamily="18" charset="-128"/>
                        </a:rPr>
                        <m:t>=</m:t>
                      </m:r>
                      <m:func>
                        <m:funcPr>
                          <m:ctrlPr>
                            <a:rPr lang="en-US" altLang="ja-JP" sz="2400" i="1" smtClean="0">
                              <a:latin typeface="Cambria Math" panose="02040503050406030204" pitchFamily="18" charset="0"/>
                              <a:ea typeface="UD デジタル 教科書体 NK-B" panose="02020700000000000000" pitchFamily="18" charset="-128"/>
                            </a:rPr>
                          </m:ctrlPr>
                        </m:funcPr>
                        <m:fName>
                          <m:limLow>
                            <m:limLowPr>
                              <m:ctrlPr>
                                <a:rPr lang="en-US" altLang="ja-JP" sz="2400" i="1" smtClean="0">
                                  <a:latin typeface="Cambria Math" panose="02040503050406030204" pitchFamily="18" charset="0"/>
                                  <a:ea typeface="UD デジタル 教科書体 NK-B" panose="02020700000000000000" pitchFamily="18" charset="-128"/>
                                </a:rPr>
                              </m:ctrlPr>
                            </m:limLowPr>
                            <m:e>
                              <m:r>
                                <m:rPr>
                                  <m:sty m:val="p"/>
                                </m:rPr>
                                <a:rPr lang="en-US" altLang="ja-JP" sz="2400" i="0" smtClean="0">
                                  <a:latin typeface="Cambria Math" panose="02040503050406030204" pitchFamily="18" charset="0"/>
                                  <a:ea typeface="UD デジタル 教科書体 NK-B" panose="02020700000000000000" pitchFamily="18" charset="-128"/>
                                </a:rPr>
                                <m:t>lim</m:t>
                              </m:r>
                            </m:e>
                            <m:lim>
                              <m:r>
                                <a:rPr lang="en-US" altLang="ja-JP" sz="2400" b="0" i="1" smtClean="0">
                                  <a:latin typeface="Cambria Math" panose="02040503050406030204" pitchFamily="18" charset="0"/>
                                  <a:ea typeface="UD デジタル 教科書体 NK-B" panose="02020700000000000000" pitchFamily="18" charset="-128"/>
                                </a:rPr>
                                <m:t>h</m:t>
                              </m:r>
                              <m:r>
                                <a:rPr lang="en-US" altLang="ja-JP" sz="2400" b="0" i="1" smtClean="0">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𝑜</m:t>
                              </m:r>
                            </m:lim>
                          </m:limLow>
                        </m:fName>
                        <m:e>
                          <m:f>
                            <m:fPr>
                              <m:ctrlPr>
                                <a:rPr lang="en-US" altLang="ja-JP" sz="2400" i="1" smtClean="0">
                                  <a:latin typeface="Cambria Math" panose="02040503050406030204" pitchFamily="18" charset="0"/>
                                  <a:ea typeface="UD デジタル 教科書体 NK-B" panose="02020700000000000000" pitchFamily="18" charset="-128"/>
                                </a:rPr>
                              </m:ctrlPr>
                            </m:fPr>
                            <m:num>
                              <m:r>
                                <a:rPr lang="en-US" altLang="ja-JP" sz="2400" b="0" i="1" smtClean="0">
                                  <a:latin typeface="Cambria Math" panose="02040503050406030204" pitchFamily="18" charset="0"/>
                                  <a:ea typeface="UD デジタル 教科書体 NK-B" panose="02020700000000000000" pitchFamily="18" charset="-128"/>
                                </a:rPr>
                                <m:t>𝑓</m:t>
                              </m:r>
                              <m:d>
                                <m:dPr>
                                  <m:ctrlPr>
                                    <a:rPr lang="en-US" altLang="ja-JP" sz="2400" b="0" i="1" smtClean="0">
                                      <a:latin typeface="Cambria Math" panose="02040503050406030204" pitchFamily="18" charset="0"/>
                                      <a:ea typeface="UD デジタル 教科書体 NK-B" panose="02020700000000000000" pitchFamily="18" charset="-128"/>
                                    </a:rPr>
                                  </m:ctrlPr>
                                </m:dPr>
                                <m:e>
                                  <m:r>
                                    <a:rPr lang="en-US" altLang="ja-JP" sz="2400" b="0" i="1" smtClean="0">
                                      <a:latin typeface="Cambria Math" panose="02040503050406030204" pitchFamily="18" charset="0"/>
                                      <a:ea typeface="UD デジタル 教科書体 NK-B" panose="02020700000000000000" pitchFamily="18" charset="-128"/>
                                    </a:rPr>
                                    <m:t>𝑥</m:t>
                                  </m:r>
                                  <m:r>
                                    <a:rPr lang="en-US" altLang="ja-JP" sz="2400" b="0" i="1" smtClean="0">
                                      <a:latin typeface="Cambria Math" panose="02040503050406030204" pitchFamily="18" charset="0"/>
                                      <a:ea typeface="UD デジタル 教科書体 NK-B" panose="02020700000000000000" pitchFamily="18" charset="-128"/>
                                    </a:rPr>
                                    <m:t>+</m:t>
                                  </m:r>
                                  <m:r>
                                    <a:rPr lang="en-US" altLang="ja-JP" sz="2400" b="0" i="1" smtClean="0">
                                      <a:latin typeface="Cambria Math" panose="02040503050406030204" pitchFamily="18" charset="0"/>
                                      <a:ea typeface="UD デジタル 教科書体 NK-B" panose="02020700000000000000" pitchFamily="18" charset="-128"/>
                                    </a:rPr>
                                    <m:t>h</m:t>
                                  </m:r>
                                </m:e>
                              </m:d>
                              <m:r>
                                <a:rPr lang="en-US" altLang="ja-JP" sz="2400" b="0" i="1" smtClean="0">
                                  <a:latin typeface="Cambria Math" panose="02040503050406030204" pitchFamily="18" charset="0"/>
                                  <a:ea typeface="UD デジタル 教科書体 NK-B" panose="02020700000000000000" pitchFamily="18" charset="-128"/>
                                </a:rPr>
                                <m:t>−</m:t>
                              </m:r>
                              <m:r>
                                <a:rPr lang="en-US" altLang="ja-JP" sz="2400" b="0" i="1" smtClean="0">
                                  <a:latin typeface="Cambria Math" panose="02040503050406030204" pitchFamily="18" charset="0"/>
                                  <a:ea typeface="UD デジタル 教科書体 NK-B" panose="02020700000000000000" pitchFamily="18" charset="-128"/>
                                </a:rPr>
                                <m:t>𝑓</m:t>
                              </m:r>
                              <m:r>
                                <a:rPr lang="en-US" altLang="ja-JP" sz="2400" b="0" i="1" smtClean="0">
                                  <a:latin typeface="Cambria Math" panose="02040503050406030204" pitchFamily="18" charset="0"/>
                                  <a:ea typeface="UD デジタル 教科書体 NK-B" panose="02020700000000000000" pitchFamily="18" charset="-128"/>
                                </a:rPr>
                                <m:t>(</m:t>
                              </m:r>
                              <m:r>
                                <a:rPr lang="en-US" altLang="ja-JP" sz="2400" b="0" i="1" smtClean="0">
                                  <a:latin typeface="Cambria Math" panose="02040503050406030204" pitchFamily="18" charset="0"/>
                                  <a:ea typeface="UD デジタル 教科書体 NK-B" panose="02020700000000000000" pitchFamily="18" charset="-128"/>
                                </a:rPr>
                                <m:t>𝑥</m:t>
                              </m:r>
                              <m:r>
                                <a:rPr lang="en-US" altLang="ja-JP" sz="2400" b="0" i="1" smtClean="0">
                                  <a:latin typeface="Cambria Math" panose="02040503050406030204" pitchFamily="18" charset="0"/>
                                  <a:ea typeface="UD デジタル 教科書体 NK-B" panose="02020700000000000000" pitchFamily="18" charset="-128"/>
                                </a:rPr>
                                <m:t>)</m:t>
                              </m:r>
                            </m:num>
                            <m:den>
                              <m:r>
                                <a:rPr lang="en-US" altLang="ja-JP" sz="2400" b="0" i="1" smtClean="0">
                                  <a:latin typeface="Cambria Math" panose="02040503050406030204" pitchFamily="18" charset="0"/>
                                  <a:ea typeface="UD デジタル 教科書体 NK-B" panose="02020700000000000000" pitchFamily="18" charset="-128"/>
                                </a:rPr>
                                <m:t>h</m:t>
                              </m:r>
                            </m:den>
                          </m:f>
                        </m:e>
                      </m:func>
                    </m:oMath>
                  </m:oMathPara>
                </a14:m>
                <a:endParaRPr lang="en-US" altLang="ja-JP" sz="2400" dirty="0">
                  <a:latin typeface="UD デジタル 教科書体 NK-B" panose="02020700000000000000" pitchFamily="18" charset="-128"/>
                  <a:ea typeface="UD デジタル 教科書体 NK-B" panose="02020700000000000000" pitchFamily="18" charset="-128"/>
                </a:endParaRPr>
              </a:p>
            </p:txBody>
          </p:sp>
        </mc:Choice>
        <mc:Fallback xmlns="">
          <p:sp>
            <p:nvSpPr>
              <p:cNvPr id="21" name="テキスト ボックス 20">
                <a:extLst>
                  <a:ext uri="{FF2B5EF4-FFF2-40B4-BE49-F238E27FC236}">
                    <a16:creationId xmlns:a16="http://schemas.microsoft.com/office/drawing/2014/main" id="{63AA845F-58F2-CF48-E2AB-FDD849DFB89E}"/>
                  </a:ext>
                </a:extLst>
              </p:cNvPr>
              <p:cNvSpPr txBox="1">
                <a:spLocks noRot="1" noChangeAspect="1" noMove="1" noResize="1" noEditPoints="1" noAdjustHandles="1" noChangeArrowheads="1" noChangeShapeType="1" noTextEdit="1"/>
              </p:cNvSpPr>
              <p:nvPr/>
            </p:nvSpPr>
            <p:spPr>
              <a:xfrm>
                <a:off x="7476067" y="3825009"/>
                <a:ext cx="4021387" cy="1178400"/>
              </a:xfrm>
              <a:prstGeom prst="rect">
                <a:avLst/>
              </a:prstGeom>
              <a:blipFill>
                <a:blip r:embed="rId2"/>
                <a:stretch>
                  <a:fillRect l="-2273" t="-4124"/>
                </a:stretch>
              </a:blipFill>
            </p:spPr>
            <p:txBody>
              <a:bodyPr/>
              <a:lstStyle/>
              <a:p>
                <a:r>
                  <a:rPr lang="ja-JP" altLang="en-US">
                    <a:noFill/>
                  </a:rPr>
                  <a:t> </a:t>
                </a:r>
              </a:p>
            </p:txBody>
          </p:sp>
        </mc:Fallback>
      </mc:AlternateContent>
      <p:sp>
        <p:nvSpPr>
          <p:cNvPr id="22" name="楕円 21">
            <a:extLst>
              <a:ext uri="{FF2B5EF4-FFF2-40B4-BE49-F238E27FC236}">
                <a16:creationId xmlns:a16="http://schemas.microsoft.com/office/drawing/2014/main" id="{5A55A5C6-CBF5-6A31-2C34-093318AFEDCB}"/>
              </a:ext>
            </a:extLst>
          </p:cNvPr>
          <p:cNvSpPr/>
          <p:nvPr/>
        </p:nvSpPr>
        <p:spPr>
          <a:xfrm>
            <a:off x="4969934" y="5310349"/>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40CFBE73-1AC6-C5D2-20F1-410CB515F06E}"/>
              </a:ext>
            </a:extLst>
          </p:cNvPr>
          <p:cNvSpPr/>
          <p:nvPr/>
        </p:nvSpPr>
        <p:spPr>
          <a:xfrm>
            <a:off x="4978399" y="5713568"/>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55312B57-687F-AB29-F7DF-8E711F03AE72}"/>
              </a:ext>
            </a:extLst>
          </p:cNvPr>
          <p:cNvSpPr/>
          <p:nvPr/>
        </p:nvSpPr>
        <p:spPr>
          <a:xfrm>
            <a:off x="4969934" y="5513550"/>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D8215A91-DE2E-012A-BF35-3D98D0EDBFE3}"/>
              </a:ext>
            </a:extLst>
          </p:cNvPr>
          <p:cNvSpPr/>
          <p:nvPr/>
        </p:nvSpPr>
        <p:spPr>
          <a:xfrm>
            <a:off x="381000" y="41561"/>
            <a:ext cx="11430000" cy="2875628"/>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148D6D80-1173-7DB7-BF0E-9AF1C805DE91}"/>
              </a:ext>
            </a:extLst>
          </p:cNvPr>
          <p:cNvSpPr/>
          <p:nvPr/>
        </p:nvSpPr>
        <p:spPr>
          <a:xfrm>
            <a:off x="381000" y="3036621"/>
            <a:ext cx="11430000" cy="2875628"/>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E9B6C036-30A9-8833-49B5-4F9599CA387C}"/>
              </a:ext>
            </a:extLst>
          </p:cNvPr>
          <p:cNvSpPr/>
          <p:nvPr/>
        </p:nvSpPr>
        <p:spPr>
          <a:xfrm>
            <a:off x="381000" y="6057623"/>
            <a:ext cx="11430000" cy="2875628"/>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BB649990-B420-E667-1AA8-CF6AA8B0DEEC}"/>
              </a:ext>
            </a:extLst>
          </p:cNvPr>
          <p:cNvSpPr txBox="1"/>
          <p:nvPr/>
        </p:nvSpPr>
        <p:spPr>
          <a:xfrm>
            <a:off x="873089" y="768616"/>
            <a:ext cx="6096000" cy="523220"/>
          </a:xfrm>
          <a:prstGeom prst="rect">
            <a:avLst/>
          </a:prstGeom>
          <a:noFill/>
        </p:spPr>
        <p:txBody>
          <a:bodyPr wrap="square">
            <a:spAutoFit/>
          </a:bodyPr>
          <a:lstStyle/>
          <a:p>
            <a:r>
              <a:rPr lang="en-US" altLang="ja-JP" sz="2800" dirty="0">
                <a:latin typeface="UD デジタル 教科書体 NK-B" panose="02020700000000000000" pitchFamily="18" charset="-128"/>
                <a:ea typeface="UD デジタル 教科書体 NK-B" panose="02020700000000000000" pitchFamily="18" charset="-128"/>
              </a:rPr>
              <a:t>Question</a:t>
            </a:r>
          </a:p>
        </p:txBody>
      </p:sp>
      <p:sp>
        <p:nvSpPr>
          <p:cNvPr id="4" name="テキスト ボックス 3">
            <a:extLst>
              <a:ext uri="{FF2B5EF4-FFF2-40B4-BE49-F238E27FC236}">
                <a16:creationId xmlns:a16="http://schemas.microsoft.com/office/drawing/2014/main" id="{3AACBFE4-DC70-2A09-3220-767195EB9E9B}"/>
              </a:ext>
            </a:extLst>
          </p:cNvPr>
          <p:cNvSpPr txBox="1"/>
          <p:nvPr/>
        </p:nvSpPr>
        <p:spPr>
          <a:xfrm>
            <a:off x="952732" y="3705456"/>
            <a:ext cx="6096000" cy="523220"/>
          </a:xfrm>
          <a:prstGeom prst="rect">
            <a:avLst/>
          </a:prstGeom>
          <a:noFill/>
        </p:spPr>
        <p:txBody>
          <a:bodyPr wrap="square">
            <a:spAutoFit/>
          </a:bodyPr>
          <a:lstStyle/>
          <a:p>
            <a:r>
              <a:rPr lang="en-US" altLang="ja-JP" sz="2800" dirty="0">
                <a:latin typeface="UD デジタル 教科書体 NK-B" panose="02020700000000000000" pitchFamily="18" charset="-128"/>
                <a:ea typeface="UD デジタル 教科書体 NK-B" panose="02020700000000000000" pitchFamily="18" charset="-128"/>
              </a:rPr>
              <a:t>Question</a:t>
            </a:r>
          </a:p>
        </p:txBody>
      </p:sp>
    </p:spTree>
    <p:extLst>
      <p:ext uri="{BB962C8B-B14F-4D97-AF65-F5344CB8AC3E}">
        <p14:creationId xmlns:p14="http://schemas.microsoft.com/office/powerpoint/2010/main" val="554607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テキスト ボックス 32">
            <a:extLst>
              <a:ext uri="{FF2B5EF4-FFF2-40B4-BE49-F238E27FC236}">
                <a16:creationId xmlns:a16="http://schemas.microsoft.com/office/drawing/2014/main" id="{F86302AD-AD3F-3DC2-1D3D-F2C9F51AF080}"/>
              </a:ext>
            </a:extLst>
          </p:cNvPr>
          <p:cNvSpPr txBox="1"/>
          <p:nvPr/>
        </p:nvSpPr>
        <p:spPr>
          <a:xfrm>
            <a:off x="458746" y="672488"/>
            <a:ext cx="10556095" cy="1384995"/>
          </a:xfrm>
          <a:prstGeom prst="rect">
            <a:avLst/>
          </a:prstGeom>
          <a:noFill/>
        </p:spPr>
        <p:txBody>
          <a:bodyPr wrap="square">
            <a:spAutoFit/>
          </a:bodyPr>
          <a:lstStyle/>
          <a:p>
            <a:pPr marL="342900" indent="-342900">
              <a:buFont typeface="Arial" panose="020B0604020202020204" pitchFamily="34" charset="0"/>
              <a:buChar char="•"/>
            </a:pPr>
            <a:r>
              <a:rPr lang="ja-JP" altLang="en-US" sz="2800" dirty="0">
                <a:latin typeface="UD デジタル 教科書体 NK-B" panose="02020700000000000000" pitchFamily="18" charset="-128"/>
                <a:ea typeface="UD デジタル 教科書体 NK-B" panose="02020700000000000000" pitchFamily="18" charset="-128"/>
              </a:rPr>
              <a:t>二次関数は、一般的にどのような形で表されるのですか？</a:t>
            </a:r>
          </a:p>
          <a:p>
            <a:pPr marL="342900" indent="-342900">
              <a:buFont typeface="Arial" panose="020B0604020202020204" pitchFamily="34" charset="0"/>
              <a:buChar char="•"/>
            </a:pPr>
            <a:r>
              <a:rPr lang="ja-JP" altLang="en-US" sz="2800" dirty="0">
                <a:latin typeface="UD デジタル 教科書体 NK-B" panose="02020700000000000000" pitchFamily="18" charset="-128"/>
                <a:ea typeface="UD デジタル 教科書体 NK-B" panose="02020700000000000000" pitchFamily="18" charset="-128"/>
              </a:rPr>
              <a:t>二次関数を表すための一般的な式の形式は何ですか？</a:t>
            </a:r>
          </a:p>
          <a:p>
            <a:pPr marL="342900" indent="-342900">
              <a:buFont typeface="Arial" panose="020B0604020202020204" pitchFamily="34" charset="0"/>
              <a:buChar char="•"/>
            </a:pPr>
            <a:r>
              <a:rPr lang="ja-JP" altLang="en-US" sz="2800" dirty="0">
                <a:latin typeface="UD デジタル 教科書体 NK-B" panose="02020700000000000000" pitchFamily="18" charset="-128"/>
                <a:ea typeface="UD デジタル 教科書体 NK-B" panose="02020700000000000000" pitchFamily="18" charset="-128"/>
              </a:rPr>
              <a:t>二次関数の一般的な表現方法について教えてください。</a:t>
            </a:r>
          </a:p>
        </p:txBody>
      </p:sp>
      <p:sp>
        <p:nvSpPr>
          <p:cNvPr id="36" name="テキスト ボックス 35">
            <a:extLst>
              <a:ext uri="{FF2B5EF4-FFF2-40B4-BE49-F238E27FC236}">
                <a16:creationId xmlns:a16="http://schemas.microsoft.com/office/drawing/2014/main" id="{3573C569-F30D-8F2F-8CAC-55CCCD7D893B}"/>
              </a:ext>
            </a:extLst>
          </p:cNvPr>
          <p:cNvSpPr txBox="1"/>
          <p:nvPr/>
        </p:nvSpPr>
        <p:spPr>
          <a:xfrm>
            <a:off x="367862" y="3507856"/>
            <a:ext cx="11077904" cy="2677656"/>
          </a:xfrm>
          <a:prstGeom prst="rect">
            <a:avLst/>
          </a:prstGeom>
          <a:noFill/>
        </p:spPr>
        <p:txBody>
          <a:bodyPr wrap="square">
            <a:spAutoFit/>
          </a:bodyPr>
          <a:lstStyle/>
          <a:p>
            <a:pPr marL="342900" indent="-342900">
              <a:buFont typeface="Arial" panose="020B0604020202020204" pitchFamily="34" charset="0"/>
              <a:buChar char="•"/>
            </a:pP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二</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次</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関数</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は</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一般</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的</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に</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どの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よう</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な</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形</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で</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表さ</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れる</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です</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か</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a:t>
            </a:r>
            <a:r>
              <a:rPr lang="en-US" altLang="ja-JP" sz="2800" dirty="0">
                <a:latin typeface="UD デジタル 教科書体 NK-B" panose="02020700000000000000" pitchFamily="18" charset="-128"/>
                <a:ea typeface="UD デジタル 教科書体 NK-B" panose="02020700000000000000" pitchFamily="18" charset="-128"/>
              </a:rPr>
              <a:t>]</a:t>
            </a:r>
          </a:p>
          <a:p>
            <a:pPr marL="342900" indent="-342900">
              <a:buFont typeface="Arial" panose="020B0604020202020204" pitchFamily="34" charset="0"/>
              <a:buChar char="•"/>
            </a:pP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二</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次</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関数</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を</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表す</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ため</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一般</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的</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な</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式</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形式</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は</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何</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です</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か</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a:t>
            </a: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 </a:t>
            </a:r>
            <a:endParaRPr lang="en-US" altLang="ja-JP" sz="2800" dirty="0">
              <a:latin typeface="UD デジタル 教科書体 NK-B" panose="02020700000000000000" pitchFamily="18" charset="-128"/>
              <a:ea typeface="UD デジタル 教科書体 NK-B" panose="02020700000000000000" pitchFamily="18" charset="-128"/>
            </a:endParaRPr>
          </a:p>
          <a:p>
            <a:pPr marL="342900" indent="-342900">
              <a:buFont typeface="Arial" panose="020B0604020202020204" pitchFamily="34" charset="0"/>
              <a:buChar char="•"/>
            </a:pP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二</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次</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関数</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一般</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的</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な</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表現</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方法</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について</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教え</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て</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ください</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a:t>
            </a: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 </a:t>
            </a:r>
            <a:endParaRPr lang="en-US" altLang="ja-JP" sz="2800" dirty="0">
              <a:latin typeface="UD デジタル 教科書体 NK-B" panose="02020700000000000000" pitchFamily="18" charset="-128"/>
              <a:ea typeface="UD デジタル 教科書体 NK-B" panose="02020700000000000000" pitchFamily="18" charset="-128"/>
            </a:endParaRPr>
          </a:p>
        </p:txBody>
      </p:sp>
      <p:sp>
        <p:nvSpPr>
          <p:cNvPr id="37" name="二等辺三角形 36">
            <a:extLst>
              <a:ext uri="{FF2B5EF4-FFF2-40B4-BE49-F238E27FC236}">
                <a16:creationId xmlns:a16="http://schemas.microsoft.com/office/drawing/2014/main" id="{C24EEEF4-F464-30A5-B248-988C3FD7C48E}"/>
              </a:ext>
            </a:extLst>
          </p:cNvPr>
          <p:cNvSpPr/>
          <p:nvPr/>
        </p:nvSpPr>
        <p:spPr>
          <a:xfrm flipV="1">
            <a:off x="897105" y="2554012"/>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38" name="テキスト ボックス 37">
            <a:extLst>
              <a:ext uri="{FF2B5EF4-FFF2-40B4-BE49-F238E27FC236}">
                <a16:creationId xmlns:a16="http://schemas.microsoft.com/office/drawing/2014/main" id="{FFD63748-6361-D4FB-5633-4906DE15BB28}"/>
              </a:ext>
            </a:extLst>
          </p:cNvPr>
          <p:cNvSpPr txBox="1"/>
          <p:nvPr/>
        </p:nvSpPr>
        <p:spPr>
          <a:xfrm>
            <a:off x="4079559" y="2459504"/>
            <a:ext cx="3486850" cy="769441"/>
          </a:xfrm>
          <a:prstGeom prst="rect">
            <a:avLst/>
          </a:prstGeom>
          <a:noFill/>
        </p:spPr>
        <p:txBody>
          <a:bodyPr wrap="square">
            <a:spAutoFit/>
          </a:bodyPr>
          <a:lstStyle/>
          <a:p>
            <a:r>
              <a:rPr lang="ja-JP" altLang="en-US" sz="4400" dirty="0">
                <a:solidFill>
                  <a:srgbClr val="FF5050"/>
                </a:solidFill>
                <a:latin typeface="UD デジタル 教科書体 NK-B" panose="02020700000000000000" pitchFamily="18" charset="-128"/>
                <a:ea typeface="UD デジタル 教科書体 NK-B" panose="02020700000000000000" pitchFamily="18" charset="-128"/>
              </a:rPr>
              <a:t>分かち書き</a:t>
            </a:r>
          </a:p>
        </p:txBody>
      </p:sp>
    </p:spTree>
    <p:extLst>
      <p:ext uri="{BB962C8B-B14F-4D97-AF65-F5344CB8AC3E}">
        <p14:creationId xmlns:p14="http://schemas.microsoft.com/office/powerpoint/2010/main" val="12579650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テキスト ボックス 35">
            <a:extLst>
              <a:ext uri="{FF2B5EF4-FFF2-40B4-BE49-F238E27FC236}">
                <a16:creationId xmlns:a16="http://schemas.microsoft.com/office/drawing/2014/main" id="{3573C569-F30D-8F2F-8CAC-55CCCD7D893B}"/>
              </a:ext>
            </a:extLst>
          </p:cNvPr>
          <p:cNvSpPr txBox="1"/>
          <p:nvPr/>
        </p:nvSpPr>
        <p:spPr>
          <a:xfrm>
            <a:off x="220717" y="407304"/>
            <a:ext cx="11077904" cy="2677656"/>
          </a:xfrm>
          <a:prstGeom prst="rect">
            <a:avLst/>
          </a:prstGeom>
          <a:noFill/>
        </p:spPr>
        <p:txBody>
          <a:bodyPr wrap="square">
            <a:spAutoFit/>
          </a:bodyPr>
          <a:lstStyle/>
          <a:p>
            <a:pPr marL="342900" indent="-342900">
              <a:buFont typeface="Arial" panose="020B0604020202020204" pitchFamily="34" charset="0"/>
              <a:buChar char="•"/>
            </a:pP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二</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次</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関数</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は</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一般</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的</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に</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どの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よう</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な</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形</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で</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表さ</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れる</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です</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か</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a:t>
            </a:r>
            <a:r>
              <a:rPr lang="en-US" altLang="ja-JP" sz="2800" dirty="0">
                <a:latin typeface="UD デジタル 教科書体 NK-B" panose="02020700000000000000" pitchFamily="18" charset="-128"/>
                <a:ea typeface="UD デジタル 教科書体 NK-B" panose="02020700000000000000" pitchFamily="18" charset="-128"/>
              </a:rPr>
              <a:t>]</a:t>
            </a:r>
          </a:p>
          <a:p>
            <a:pPr marL="342900" indent="-342900">
              <a:buFont typeface="Arial" panose="020B0604020202020204" pitchFamily="34" charset="0"/>
              <a:buChar char="•"/>
            </a:pP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二</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次</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関数</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を</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表す</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ため</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一般</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的</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な</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式</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形式</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は</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何</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です</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か</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a:t>
            </a: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 </a:t>
            </a:r>
            <a:endParaRPr lang="en-US" altLang="ja-JP" sz="2800" dirty="0">
              <a:latin typeface="UD デジタル 教科書体 NK-B" panose="02020700000000000000" pitchFamily="18" charset="-128"/>
              <a:ea typeface="UD デジタル 教科書体 NK-B" panose="02020700000000000000" pitchFamily="18" charset="-128"/>
            </a:endParaRPr>
          </a:p>
          <a:p>
            <a:pPr marL="342900" indent="-342900">
              <a:buFont typeface="Arial" panose="020B0604020202020204" pitchFamily="34" charset="0"/>
              <a:buChar char="•"/>
            </a:pP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二</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次</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関数</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の</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一般</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的</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な</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表現</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方法</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について</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教え</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て</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ください</a:t>
            </a:r>
            <a:r>
              <a:rPr lang="en-US" altLang="ja-JP" sz="2800" dirty="0">
                <a:latin typeface="UD デジタル 教科書体 NK-B" panose="02020700000000000000" pitchFamily="18" charset="-128"/>
                <a:ea typeface="UD デジタル 教科書体 NK-B" panose="02020700000000000000" pitchFamily="18" charset="-128"/>
              </a:rPr>
              <a:t>, </a:t>
            </a:r>
            <a:r>
              <a:rPr lang="ja-JP" altLang="en-US" sz="2800" dirty="0">
                <a:latin typeface="UD デジタル 教科書体 NK-B" panose="02020700000000000000" pitchFamily="18" charset="-128"/>
                <a:ea typeface="UD デジタル 教科書体 NK-B" panose="02020700000000000000" pitchFamily="18" charset="-128"/>
              </a:rPr>
              <a:t>。</a:t>
            </a:r>
            <a:r>
              <a:rPr lang="en-US" altLang="ja-JP" sz="2800" dirty="0">
                <a:latin typeface="UD デジタル 教科書体 NK-B" panose="02020700000000000000" pitchFamily="18" charset="-128"/>
                <a:ea typeface="UD デジタル 教科書体 NK-B" panose="02020700000000000000" pitchFamily="18" charset="-128"/>
              </a:rPr>
              <a:t>]</a:t>
            </a:r>
            <a:r>
              <a:rPr lang="ja-JP" altLang="en-US" sz="2800" dirty="0">
                <a:latin typeface="UD デジタル 教科書体 NK-B" panose="02020700000000000000" pitchFamily="18" charset="-128"/>
                <a:ea typeface="UD デジタル 教科書体 NK-B" panose="02020700000000000000" pitchFamily="18" charset="-128"/>
              </a:rPr>
              <a:t> </a:t>
            </a:r>
            <a:endParaRPr lang="en-US" altLang="ja-JP" sz="2800" dirty="0">
              <a:latin typeface="UD デジタル 教科書体 NK-B" panose="02020700000000000000" pitchFamily="18" charset="-128"/>
              <a:ea typeface="UD デジタル 教科書体 NK-B" panose="02020700000000000000" pitchFamily="18" charset="-128"/>
            </a:endParaRPr>
          </a:p>
        </p:txBody>
      </p:sp>
      <p:sp>
        <p:nvSpPr>
          <p:cNvPr id="3" name="テキスト ボックス 2">
            <a:extLst>
              <a:ext uri="{FF2B5EF4-FFF2-40B4-BE49-F238E27FC236}">
                <a16:creationId xmlns:a16="http://schemas.microsoft.com/office/drawing/2014/main" id="{5B7978BB-55FE-AE5D-C1A2-7CDD44C7EF5F}"/>
              </a:ext>
            </a:extLst>
          </p:cNvPr>
          <p:cNvSpPr txBox="1"/>
          <p:nvPr/>
        </p:nvSpPr>
        <p:spPr>
          <a:xfrm>
            <a:off x="325821" y="4744345"/>
            <a:ext cx="11225048" cy="1569660"/>
          </a:xfrm>
          <a:prstGeom prst="rect">
            <a:avLst/>
          </a:prstGeom>
          <a:noFill/>
        </p:spPr>
        <p:txBody>
          <a:bodyPr wrap="square">
            <a:spAutoFit/>
          </a:bodyPr>
          <a:lstStyle/>
          <a:p>
            <a:r>
              <a:rPr lang="ja-JP" altLang="en-US" sz="3200" dirty="0">
                <a:latin typeface="UD デジタル 教科書体 NK-B" panose="02020700000000000000" pitchFamily="18" charset="-128"/>
                <a:ea typeface="UD デジタル 教科書体 NK-B" panose="02020700000000000000" pitchFamily="18" charset="-128"/>
              </a:rPr>
              <a:t>[、, 。, か, ください, し, ため, て, で, です, どの, な, に, について, の, は, ます, よう, れる, を, 一般, 二, 何, 定義, 導, 式, 形, 形式, 教え, 方法, 次, 的, 表さ, 表す, 表現, 関数, ？]</a:t>
            </a:r>
          </a:p>
        </p:txBody>
      </p:sp>
      <p:sp>
        <p:nvSpPr>
          <p:cNvPr id="4" name="二等辺三角形 3">
            <a:extLst>
              <a:ext uri="{FF2B5EF4-FFF2-40B4-BE49-F238E27FC236}">
                <a16:creationId xmlns:a16="http://schemas.microsoft.com/office/drawing/2014/main" id="{A99A312B-326A-C6D8-36EC-5C3256541B70}"/>
              </a:ext>
            </a:extLst>
          </p:cNvPr>
          <p:cNvSpPr/>
          <p:nvPr/>
        </p:nvSpPr>
        <p:spPr>
          <a:xfrm flipV="1">
            <a:off x="1275478" y="3773041"/>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5" name="テキスト ボックス 4">
            <a:extLst>
              <a:ext uri="{FF2B5EF4-FFF2-40B4-BE49-F238E27FC236}">
                <a16:creationId xmlns:a16="http://schemas.microsoft.com/office/drawing/2014/main" id="{1064B255-37A5-FE7F-E538-C59846CBB12D}"/>
              </a:ext>
            </a:extLst>
          </p:cNvPr>
          <p:cNvSpPr txBox="1"/>
          <p:nvPr/>
        </p:nvSpPr>
        <p:spPr>
          <a:xfrm>
            <a:off x="4457932" y="3678533"/>
            <a:ext cx="2762595" cy="646331"/>
          </a:xfrm>
          <a:prstGeom prst="rect">
            <a:avLst/>
          </a:prstGeom>
          <a:noFill/>
        </p:spPr>
        <p:txBody>
          <a:bodyPr wrap="square">
            <a:spAutoFit/>
          </a:bodyPr>
          <a:lstStyle/>
          <a:p>
            <a:r>
              <a:rPr lang="ja-JP" altLang="en-US" sz="3600" dirty="0">
                <a:solidFill>
                  <a:srgbClr val="FF5050"/>
                </a:solidFill>
                <a:latin typeface="UD デジタル 教科書体 NK-B" panose="02020700000000000000" pitchFamily="18" charset="-128"/>
                <a:ea typeface="UD デジタル 教科書体 NK-B" panose="02020700000000000000" pitchFamily="18" charset="-128"/>
              </a:rPr>
              <a:t>辞書化</a:t>
            </a:r>
          </a:p>
        </p:txBody>
      </p:sp>
      <p:sp>
        <p:nvSpPr>
          <p:cNvPr id="6" name="楕円 5">
            <a:extLst>
              <a:ext uri="{FF2B5EF4-FFF2-40B4-BE49-F238E27FC236}">
                <a16:creationId xmlns:a16="http://schemas.microsoft.com/office/drawing/2014/main" id="{8BCBDC30-ADD1-7FD6-9AB7-BABCA9AF6C97}"/>
              </a:ext>
            </a:extLst>
          </p:cNvPr>
          <p:cNvSpPr/>
          <p:nvPr/>
        </p:nvSpPr>
        <p:spPr>
          <a:xfrm>
            <a:off x="6096000" y="3042125"/>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D358E706-BCCE-AE70-1F9E-5FD4BAB4FC7E}"/>
              </a:ext>
            </a:extLst>
          </p:cNvPr>
          <p:cNvSpPr/>
          <p:nvPr/>
        </p:nvSpPr>
        <p:spPr>
          <a:xfrm>
            <a:off x="6096000" y="3226967"/>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F191D603-2F04-0FF8-E06A-A26A5E1CBAD1}"/>
              </a:ext>
            </a:extLst>
          </p:cNvPr>
          <p:cNvSpPr/>
          <p:nvPr/>
        </p:nvSpPr>
        <p:spPr>
          <a:xfrm>
            <a:off x="6096000" y="3436707"/>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994538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B7978BB-55FE-AE5D-C1A2-7CDD44C7EF5F}"/>
              </a:ext>
            </a:extLst>
          </p:cNvPr>
          <p:cNvSpPr txBox="1"/>
          <p:nvPr/>
        </p:nvSpPr>
        <p:spPr>
          <a:xfrm>
            <a:off x="226705" y="435104"/>
            <a:ext cx="11225048" cy="1569660"/>
          </a:xfrm>
          <a:prstGeom prst="rect">
            <a:avLst/>
          </a:prstGeom>
          <a:noFill/>
        </p:spPr>
        <p:txBody>
          <a:bodyPr wrap="square">
            <a:spAutoFit/>
          </a:bodyPr>
          <a:lstStyle/>
          <a:p>
            <a:r>
              <a:rPr lang="ja-JP" altLang="en-US" sz="3200" dirty="0">
                <a:latin typeface="UD デジタル 教科書体 NK-B" panose="02020700000000000000" pitchFamily="18" charset="-128"/>
                <a:ea typeface="UD デジタル 教科書体 NK-B" panose="02020700000000000000" pitchFamily="18" charset="-128"/>
              </a:rPr>
              <a:t>[</a:t>
            </a:r>
            <a:r>
              <a:rPr lang="ja-JP" altLang="en-US" sz="3200" dirty="0">
                <a:solidFill>
                  <a:srgbClr val="FF5050"/>
                </a:solidFill>
                <a:latin typeface="UD デジタル 教科書体 NK-B" panose="02020700000000000000" pitchFamily="18" charset="-128"/>
                <a:ea typeface="UD デジタル 教科書体 NK-B" panose="02020700000000000000" pitchFamily="18" charset="-128"/>
              </a:rPr>
              <a:t>、</a:t>
            </a:r>
            <a:r>
              <a:rPr lang="ja-JP" altLang="en-US" sz="3200" dirty="0">
                <a:latin typeface="UD デジタル 教科書体 NK-B" panose="02020700000000000000" pitchFamily="18" charset="-128"/>
                <a:ea typeface="UD デジタル 教科書体 NK-B" panose="02020700000000000000" pitchFamily="18" charset="-128"/>
              </a:rPr>
              <a:t>, 。, か, ください, し, ため, て, で, です, どの, な, に, について, の, は, ます, よう, れる, を, 一般, 二, 何, 定義, 導, 式, 形, 形式, 教え, 方法, 次, 的, 表さ, 表す, 表現, 関数, ？]</a:t>
            </a:r>
          </a:p>
        </p:txBody>
      </p:sp>
      <p:sp>
        <p:nvSpPr>
          <p:cNvPr id="4" name="二等辺三角形 3">
            <a:extLst>
              <a:ext uri="{FF2B5EF4-FFF2-40B4-BE49-F238E27FC236}">
                <a16:creationId xmlns:a16="http://schemas.microsoft.com/office/drawing/2014/main" id="{A99A312B-326A-C6D8-36EC-5C3256541B70}"/>
              </a:ext>
            </a:extLst>
          </p:cNvPr>
          <p:cNvSpPr/>
          <p:nvPr/>
        </p:nvSpPr>
        <p:spPr>
          <a:xfrm flipV="1">
            <a:off x="1023230" y="2242911"/>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5" name="テキスト ボックス 4">
            <a:extLst>
              <a:ext uri="{FF2B5EF4-FFF2-40B4-BE49-F238E27FC236}">
                <a16:creationId xmlns:a16="http://schemas.microsoft.com/office/drawing/2014/main" id="{1064B255-37A5-FE7F-E538-C59846CBB12D}"/>
              </a:ext>
            </a:extLst>
          </p:cNvPr>
          <p:cNvSpPr txBox="1"/>
          <p:nvPr/>
        </p:nvSpPr>
        <p:spPr>
          <a:xfrm>
            <a:off x="4226704" y="2242911"/>
            <a:ext cx="4885765" cy="646331"/>
          </a:xfrm>
          <a:prstGeom prst="rect">
            <a:avLst/>
          </a:prstGeom>
          <a:noFill/>
        </p:spPr>
        <p:txBody>
          <a:bodyPr wrap="square">
            <a:spAutoFit/>
          </a:bodyPr>
          <a:lstStyle/>
          <a:p>
            <a:r>
              <a:rPr lang="ja-JP" altLang="en-US" sz="3600" dirty="0">
                <a:solidFill>
                  <a:srgbClr val="FF5050"/>
                </a:solidFill>
                <a:latin typeface="UD デジタル 教科書体 NK-B" panose="02020700000000000000" pitchFamily="18" charset="-128"/>
                <a:ea typeface="UD デジタル 教科書体 NK-B" panose="02020700000000000000" pitchFamily="18" charset="-128"/>
              </a:rPr>
              <a:t>辞書をもとにベクトル化</a:t>
            </a:r>
          </a:p>
        </p:txBody>
      </p:sp>
      <p:sp>
        <p:nvSpPr>
          <p:cNvPr id="11" name="テキスト ボックス 10">
            <a:extLst>
              <a:ext uri="{FF2B5EF4-FFF2-40B4-BE49-F238E27FC236}">
                <a16:creationId xmlns:a16="http://schemas.microsoft.com/office/drawing/2014/main" id="{69D60FF2-0B13-D81B-E662-35AD857AD112}"/>
              </a:ext>
            </a:extLst>
          </p:cNvPr>
          <p:cNvSpPr txBox="1"/>
          <p:nvPr/>
        </p:nvSpPr>
        <p:spPr>
          <a:xfrm>
            <a:off x="94593" y="3079795"/>
            <a:ext cx="11740055" cy="1231106"/>
          </a:xfrm>
          <a:prstGeom prst="rect">
            <a:avLst/>
          </a:prstGeom>
          <a:noFill/>
        </p:spPr>
        <p:txBody>
          <a:bodyPr wrap="square">
            <a:spAutoFit/>
          </a:bodyPr>
          <a:lstStyle/>
          <a:p>
            <a:r>
              <a:rPr lang="ja-JP" altLang="en-US" dirty="0"/>
              <a:t>[</a:t>
            </a:r>
            <a:r>
              <a:rPr lang="ja-JP" altLang="en-US" sz="2000" b="1" dirty="0">
                <a:solidFill>
                  <a:srgbClr val="FF5050"/>
                </a:solidFill>
              </a:rPr>
              <a:t>0.29442619</a:t>
            </a:r>
            <a:r>
              <a:rPr lang="ja-JP" altLang="en-US" dirty="0"/>
              <a:t> 0.         0.17467103 0.         0.         0.  0.         0.29442619 0.20383491 0.24143369 0.20383491 0.24143369  0.         0.15084241 0.20383491 0.         0.24143369 0.29442619  0.         0.20383491 0.20383491 0.         0.         0.  0.         0.29442619 0.         0.         0.         0.20383491  0.20383491 0.29442619 0.         0.         0.13069559 0.17467103]</a:t>
            </a:r>
          </a:p>
        </p:txBody>
      </p:sp>
      <p:sp>
        <p:nvSpPr>
          <p:cNvPr id="13" name="テキスト ボックス 12">
            <a:extLst>
              <a:ext uri="{FF2B5EF4-FFF2-40B4-BE49-F238E27FC236}">
                <a16:creationId xmlns:a16="http://schemas.microsoft.com/office/drawing/2014/main" id="{F9C27D99-8176-5611-1DAC-05E49823BCAA}"/>
              </a:ext>
            </a:extLst>
          </p:cNvPr>
          <p:cNvSpPr txBox="1"/>
          <p:nvPr/>
        </p:nvSpPr>
        <p:spPr>
          <a:xfrm>
            <a:off x="99848" y="4482883"/>
            <a:ext cx="11992304" cy="954107"/>
          </a:xfrm>
          <a:prstGeom prst="rect">
            <a:avLst/>
          </a:prstGeom>
          <a:noFill/>
        </p:spPr>
        <p:txBody>
          <a:bodyPr wrap="square">
            <a:spAutoFit/>
          </a:bodyPr>
          <a:lstStyle/>
          <a:p>
            <a:r>
              <a:rPr lang="ja-JP" altLang="en-US" dirty="0"/>
              <a:t>[</a:t>
            </a:r>
            <a:r>
              <a:rPr lang="ja-JP" altLang="en-US" sz="2000" b="1" dirty="0">
                <a:solidFill>
                  <a:srgbClr val="FF5050"/>
                </a:solidFill>
              </a:rPr>
              <a:t>0</a:t>
            </a:r>
            <a:r>
              <a:rPr lang="ja-JP" altLang="en-US" dirty="0"/>
              <a:t>.         0.         0.18178306 0.         0.         0.30641425  0.         0.         0.21213439 0.         0.21213439 0.  0.         0.31396842 0.21213439 0.         0.         0.  0.25126407 0.21213439 0.21213439 0.25126407 0.         0.  0.30641425 0.         0.30641425 0.         0.         0.21213439  0.21213439 0.         0.30641425 0.         0.13601708 0.18178306]</a:t>
            </a:r>
          </a:p>
        </p:txBody>
      </p:sp>
      <p:sp>
        <p:nvSpPr>
          <p:cNvPr id="15" name="テキスト ボックス 14">
            <a:extLst>
              <a:ext uri="{FF2B5EF4-FFF2-40B4-BE49-F238E27FC236}">
                <a16:creationId xmlns:a16="http://schemas.microsoft.com/office/drawing/2014/main" id="{BAC30D56-9EFE-36F0-85AF-5F63DAEEA445}"/>
              </a:ext>
            </a:extLst>
          </p:cNvPr>
          <p:cNvSpPr txBox="1"/>
          <p:nvPr/>
        </p:nvSpPr>
        <p:spPr>
          <a:xfrm>
            <a:off x="94593" y="5608972"/>
            <a:ext cx="11870702" cy="954107"/>
          </a:xfrm>
          <a:prstGeom prst="rect">
            <a:avLst/>
          </a:prstGeom>
          <a:noFill/>
        </p:spPr>
        <p:txBody>
          <a:bodyPr wrap="square">
            <a:spAutoFit/>
          </a:bodyPr>
          <a:lstStyle/>
          <a:p>
            <a:r>
              <a:rPr lang="ja-JP" altLang="en-US" dirty="0"/>
              <a:t>[</a:t>
            </a:r>
            <a:r>
              <a:rPr lang="ja-JP" altLang="en-US" sz="2000" b="1" dirty="0">
                <a:solidFill>
                  <a:srgbClr val="FF5050"/>
                </a:solidFill>
              </a:rPr>
              <a:t>0</a:t>
            </a:r>
            <a:r>
              <a:rPr lang="ja-JP" altLang="en-US" dirty="0"/>
              <a:t>.         0.28604546 0.         0.28604546 0.         0.  0.28604546 0.         0.         0.         0.24149923 0.  0.28604546 0.17871485 0.         0.         0.         0.  0.         0.24149923 0.24149923 0.         0.         0.  0.         0.         0.         0.28604546 0.34882984 0.24149923  0.24149923 0.         0.         0.34882984 0.15484534 0.        ]</a:t>
            </a:r>
          </a:p>
        </p:txBody>
      </p:sp>
      <p:sp>
        <p:nvSpPr>
          <p:cNvPr id="16" name="楕円 15">
            <a:extLst>
              <a:ext uri="{FF2B5EF4-FFF2-40B4-BE49-F238E27FC236}">
                <a16:creationId xmlns:a16="http://schemas.microsoft.com/office/drawing/2014/main" id="{A02F6F65-C1F6-937C-0EED-FAE0B439EAA5}"/>
              </a:ext>
            </a:extLst>
          </p:cNvPr>
          <p:cNvSpPr/>
          <p:nvPr/>
        </p:nvSpPr>
        <p:spPr>
          <a:xfrm>
            <a:off x="6264166" y="6527397"/>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57B38E69-0673-1B2A-01D8-35D4B579949A}"/>
              </a:ext>
            </a:extLst>
          </p:cNvPr>
          <p:cNvSpPr/>
          <p:nvPr/>
        </p:nvSpPr>
        <p:spPr>
          <a:xfrm>
            <a:off x="6264166" y="6712239"/>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7AE7F49A-050B-1467-1CE4-9E27EB63B423}"/>
              </a:ext>
            </a:extLst>
          </p:cNvPr>
          <p:cNvSpPr/>
          <p:nvPr/>
        </p:nvSpPr>
        <p:spPr>
          <a:xfrm>
            <a:off x="6264166" y="6921979"/>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784800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69D60FF2-0B13-D81B-E662-35AD857AD112}"/>
              </a:ext>
            </a:extLst>
          </p:cNvPr>
          <p:cNvSpPr txBox="1"/>
          <p:nvPr/>
        </p:nvSpPr>
        <p:spPr>
          <a:xfrm>
            <a:off x="104641" y="135628"/>
            <a:ext cx="11740055" cy="1231106"/>
          </a:xfrm>
          <a:prstGeom prst="rect">
            <a:avLst/>
          </a:prstGeom>
          <a:noFill/>
        </p:spPr>
        <p:txBody>
          <a:bodyPr wrap="square">
            <a:spAutoFit/>
          </a:bodyPr>
          <a:lstStyle/>
          <a:p>
            <a:r>
              <a:rPr lang="ja-JP" altLang="en-US" dirty="0"/>
              <a:t>[</a:t>
            </a:r>
            <a:r>
              <a:rPr lang="ja-JP" altLang="en-US" sz="2000" b="1" dirty="0">
                <a:solidFill>
                  <a:srgbClr val="FF5050"/>
                </a:solidFill>
              </a:rPr>
              <a:t>0.29442619</a:t>
            </a:r>
            <a:r>
              <a:rPr lang="ja-JP" altLang="en-US" dirty="0"/>
              <a:t> 0.         0.17467103 0.         0.         0.  0.         0.29442619 0.20383491 0.24143369 0.20383491 0.24143369  0.         0.15084241 0.20383491 0.         0.24143369 0.29442619  0.         0.20383491 0.20383491 0.         0.         0.  0.         0.29442619 0.         0.         0.         0.20383491  0.20383491 0.29442619 0.         0.         0.13069559 0.17467103]</a:t>
            </a:r>
          </a:p>
        </p:txBody>
      </p:sp>
      <p:sp>
        <p:nvSpPr>
          <p:cNvPr id="13" name="テキスト ボックス 12">
            <a:extLst>
              <a:ext uri="{FF2B5EF4-FFF2-40B4-BE49-F238E27FC236}">
                <a16:creationId xmlns:a16="http://schemas.microsoft.com/office/drawing/2014/main" id="{F9C27D99-8176-5611-1DAC-05E49823BCAA}"/>
              </a:ext>
            </a:extLst>
          </p:cNvPr>
          <p:cNvSpPr txBox="1"/>
          <p:nvPr/>
        </p:nvSpPr>
        <p:spPr>
          <a:xfrm>
            <a:off x="109896" y="1538716"/>
            <a:ext cx="11992304" cy="954107"/>
          </a:xfrm>
          <a:prstGeom prst="rect">
            <a:avLst/>
          </a:prstGeom>
          <a:noFill/>
        </p:spPr>
        <p:txBody>
          <a:bodyPr wrap="square">
            <a:spAutoFit/>
          </a:bodyPr>
          <a:lstStyle/>
          <a:p>
            <a:r>
              <a:rPr lang="ja-JP" altLang="en-US" dirty="0"/>
              <a:t>[</a:t>
            </a:r>
            <a:r>
              <a:rPr lang="ja-JP" altLang="en-US" sz="2000" b="1" dirty="0">
                <a:solidFill>
                  <a:srgbClr val="FF5050"/>
                </a:solidFill>
              </a:rPr>
              <a:t>0</a:t>
            </a:r>
            <a:r>
              <a:rPr lang="ja-JP" altLang="en-US" dirty="0"/>
              <a:t>.         0.         0.18178306 0.         0.         0.30641425  0.         0.         0.21213439 0.         0.21213439 0.  0.         0.31396842 0.21213439 0.         0.         0.  0.25126407 0.21213439 0.21213439 0.25126407 0.         0.  0.30641425 0.         0.30641425 0.         0.         0.21213439  0.21213439 0.         0.30641425 0.         0.13601708 0.18178306]</a:t>
            </a:r>
          </a:p>
        </p:txBody>
      </p:sp>
      <p:sp>
        <p:nvSpPr>
          <p:cNvPr id="15" name="テキスト ボックス 14">
            <a:extLst>
              <a:ext uri="{FF2B5EF4-FFF2-40B4-BE49-F238E27FC236}">
                <a16:creationId xmlns:a16="http://schemas.microsoft.com/office/drawing/2014/main" id="{BAC30D56-9EFE-36F0-85AF-5F63DAEEA445}"/>
              </a:ext>
            </a:extLst>
          </p:cNvPr>
          <p:cNvSpPr txBox="1"/>
          <p:nvPr/>
        </p:nvSpPr>
        <p:spPr>
          <a:xfrm>
            <a:off x="104641" y="2664805"/>
            <a:ext cx="11870702" cy="954107"/>
          </a:xfrm>
          <a:prstGeom prst="rect">
            <a:avLst/>
          </a:prstGeom>
          <a:noFill/>
        </p:spPr>
        <p:txBody>
          <a:bodyPr wrap="square">
            <a:spAutoFit/>
          </a:bodyPr>
          <a:lstStyle/>
          <a:p>
            <a:r>
              <a:rPr lang="ja-JP" altLang="en-US" dirty="0"/>
              <a:t>[</a:t>
            </a:r>
            <a:r>
              <a:rPr lang="ja-JP" altLang="en-US" sz="2000" b="1" dirty="0">
                <a:solidFill>
                  <a:srgbClr val="FF5050"/>
                </a:solidFill>
              </a:rPr>
              <a:t>0</a:t>
            </a:r>
            <a:r>
              <a:rPr lang="ja-JP" altLang="en-US" dirty="0"/>
              <a:t>.         0.28604546 0.         0.28604546 0.         0.  0.28604546 0.         0.         0.         0.24149923 0.  0.28604546 0.17871485 0.         0.         0.         0.  0.         0.24149923 0.24149923 0.         0.         0.  0.         0.         0.         0.28604546 0.34882984 0.24149923  0.24149923 0.         0.         0.34882984 0.15484534 0.        ]</a:t>
            </a:r>
          </a:p>
        </p:txBody>
      </p:sp>
      <p:sp>
        <p:nvSpPr>
          <p:cNvPr id="6" name="テキスト ボックス 5">
            <a:extLst>
              <a:ext uri="{FF2B5EF4-FFF2-40B4-BE49-F238E27FC236}">
                <a16:creationId xmlns:a16="http://schemas.microsoft.com/office/drawing/2014/main" id="{49A497BD-ACFB-F80D-6B5F-92AE600A0637}"/>
              </a:ext>
            </a:extLst>
          </p:cNvPr>
          <p:cNvSpPr txBox="1"/>
          <p:nvPr/>
        </p:nvSpPr>
        <p:spPr>
          <a:xfrm>
            <a:off x="1040937" y="4696492"/>
            <a:ext cx="9998109" cy="1569660"/>
          </a:xfrm>
          <a:prstGeom prst="rect">
            <a:avLst/>
          </a:prstGeom>
          <a:noFill/>
        </p:spPr>
        <p:txBody>
          <a:bodyPr wrap="square">
            <a:spAutoFit/>
          </a:bodyPr>
          <a:lstStyle/>
          <a:p>
            <a:pPr algn="ctr"/>
            <a:r>
              <a:rPr lang="ja-JP" altLang="en-US" sz="4800" dirty="0">
                <a:solidFill>
                  <a:srgbClr val="FF5050"/>
                </a:solidFill>
                <a:latin typeface="UD デジタル 教科書体 NK-B" panose="02020700000000000000" pitchFamily="18" charset="-128"/>
                <a:ea typeface="UD デジタル 教科書体 NK-B" panose="02020700000000000000" pitchFamily="18" charset="-128"/>
              </a:rPr>
              <a:t>非線形</a:t>
            </a:r>
            <a:r>
              <a:rPr lang="ja-JP" altLang="en-US" sz="4800" dirty="0">
                <a:latin typeface="UD デジタル 教科書体 NK-B" panose="02020700000000000000" pitchFamily="18" charset="-128"/>
                <a:ea typeface="UD デジタル 教科書体 NK-B" panose="02020700000000000000" pitchFamily="18" charset="-128"/>
              </a:rPr>
              <a:t>クラスタリングのアルゴリズム</a:t>
            </a:r>
            <a:endParaRPr lang="en-US" altLang="ja-JP" sz="4800" dirty="0">
              <a:latin typeface="UD デジタル 教科書体 NK-B" panose="02020700000000000000" pitchFamily="18" charset="-128"/>
              <a:ea typeface="UD デジタル 教科書体 NK-B" panose="02020700000000000000" pitchFamily="18" charset="-128"/>
            </a:endParaRPr>
          </a:p>
          <a:p>
            <a:pPr algn="ctr"/>
            <a:r>
              <a:rPr lang="ja-JP" altLang="en-US" sz="4800" dirty="0">
                <a:latin typeface="UD デジタル 教科書体 NK-B" panose="02020700000000000000" pitchFamily="18" charset="-128"/>
                <a:ea typeface="UD デジタル 教科書体 NK-B" panose="02020700000000000000" pitchFamily="18" charset="-128"/>
              </a:rPr>
              <a:t>を用いて</a:t>
            </a:r>
            <a:r>
              <a:rPr lang="ja-JP" altLang="en-US" sz="4800" dirty="0">
                <a:solidFill>
                  <a:srgbClr val="FF5050"/>
                </a:solidFill>
                <a:latin typeface="UD デジタル 教科書体 NK-B" panose="02020700000000000000" pitchFamily="18" charset="-128"/>
                <a:ea typeface="UD デジタル 教科書体 NK-B" panose="02020700000000000000" pitchFamily="18" charset="-128"/>
              </a:rPr>
              <a:t>分類</a:t>
            </a:r>
            <a:r>
              <a:rPr lang="ja-JP" altLang="en-US" sz="4800" dirty="0">
                <a:latin typeface="UD デジタル 教科書体 NK-B" panose="02020700000000000000" pitchFamily="18" charset="-128"/>
                <a:ea typeface="UD デジタル 教科書体 NK-B" panose="02020700000000000000" pitchFamily="18" charset="-128"/>
              </a:rPr>
              <a:t>（機械学習）</a:t>
            </a:r>
          </a:p>
        </p:txBody>
      </p:sp>
      <p:sp>
        <p:nvSpPr>
          <p:cNvPr id="7" name="二等辺三角形 6">
            <a:extLst>
              <a:ext uri="{FF2B5EF4-FFF2-40B4-BE49-F238E27FC236}">
                <a16:creationId xmlns:a16="http://schemas.microsoft.com/office/drawing/2014/main" id="{CA6A068B-46BF-C3D6-22F8-3007F3845A78}"/>
              </a:ext>
            </a:extLst>
          </p:cNvPr>
          <p:cNvSpPr/>
          <p:nvPr/>
        </p:nvSpPr>
        <p:spPr>
          <a:xfrm flipV="1">
            <a:off x="4593370" y="3858333"/>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16051385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644953E-C08A-BC2F-FA37-707DB3D94F00}"/>
              </a:ext>
            </a:extLst>
          </p:cNvPr>
          <p:cNvSpPr txBox="1"/>
          <p:nvPr/>
        </p:nvSpPr>
        <p:spPr>
          <a:xfrm>
            <a:off x="97174" y="1534087"/>
            <a:ext cx="2184584" cy="830997"/>
          </a:xfrm>
          <a:prstGeom prst="rect">
            <a:avLst/>
          </a:prstGeom>
          <a:noFill/>
        </p:spPr>
        <p:txBody>
          <a:bodyPr wrap="square">
            <a:spAutoFit/>
          </a:bodyPr>
          <a:lstStyle/>
          <a:p>
            <a:pPr algn="ctr"/>
            <a:r>
              <a:rPr lang="en-US" altLang="ja-JP" sz="4800" dirty="0">
                <a:latin typeface="UD デジタル 教科書体 NK-B" panose="02020700000000000000" pitchFamily="18" charset="-128"/>
                <a:ea typeface="UD デジタル 教科書体 NK-B" panose="02020700000000000000" pitchFamily="18" charset="-128"/>
              </a:rPr>
              <a:t>SVM</a:t>
            </a:r>
            <a:endParaRPr lang="ja-JP" altLang="en-US" sz="4800" dirty="0">
              <a:latin typeface="UD デジタル 教科書体 NK-B" panose="02020700000000000000" pitchFamily="18" charset="-128"/>
              <a:ea typeface="UD デジタル 教科書体 NK-B" panose="02020700000000000000" pitchFamily="18" charset="-128"/>
            </a:endParaRPr>
          </a:p>
        </p:txBody>
      </p:sp>
      <p:sp>
        <p:nvSpPr>
          <p:cNvPr id="5" name="テキスト ボックス 4">
            <a:extLst>
              <a:ext uri="{FF2B5EF4-FFF2-40B4-BE49-F238E27FC236}">
                <a16:creationId xmlns:a16="http://schemas.microsoft.com/office/drawing/2014/main" id="{6BF6211E-C9CA-B6E9-BB07-12B9093E1D83}"/>
              </a:ext>
            </a:extLst>
          </p:cNvPr>
          <p:cNvSpPr txBox="1"/>
          <p:nvPr/>
        </p:nvSpPr>
        <p:spPr>
          <a:xfrm>
            <a:off x="7214716" y="1685891"/>
            <a:ext cx="2436727" cy="527391"/>
          </a:xfrm>
          <a:prstGeom prst="rect">
            <a:avLst/>
          </a:prstGeom>
          <a:noFill/>
        </p:spPr>
        <p:txBody>
          <a:bodyPr wrap="square">
            <a:spAutoFit/>
          </a:bodyPr>
          <a:lstStyle/>
          <a:p>
            <a:pPr algn="ctr"/>
            <a:r>
              <a:rPr lang="en-US" altLang="ja-JP" sz="2800" dirty="0">
                <a:latin typeface="UD デジタル 教科書体 NK-B" panose="02020700000000000000" pitchFamily="18" charset="-128"/>
                <a:ea typeface="UD デジタル 教科書体 NK-B" panose="02020700000000000000" pitchFamily="18" charset="-128"/>
              </a:rPr>
              <a:t>Naive Bayes</a:t>
            </a:r>
            <a:endParaRPr lang="ja-JP" altLang="en-US" sz="2800" dirty="0">
              <a:latin typeface="UD デジタル 教科書体 NK-B" panose="02020700000000000000" pitchFamily="18" charset="-128"/>
              <a:ea typeface="UD デジタル 教科書体 NK-B" panose="02020700000000000000" pitchFamily="18" charset="-128"/>
            </a:endParaRPr>
          </a:p>
        </p:txBody>
      </p:sp>
      <p:sp>
        <p:nvSpPr>
          <p:cNvPr id="6" name="テキスト ボックス 5">
            <a:extLst>
              <a:ext uri="{FF2B5EF4-FFF2-40B4-BE49-F238E27FC236}">
                <a16:creationId xmlns:a16="http://schemas.microsoft.com/office/drawing/2014/main" id="{500F920B-7519-B71B-65D6-948B83A27A65}"/>
              </a:ext>
            </a:extLst>
          </p:cNvPr>
          <p:cNvSpPr txBox="1"/>
          <p:nvPr/>
        </p:nvSpPr>
        <p:spPr>
          <a:xfrm>
            <a:off x="9827286" y="1685892"/>
            <a:ext cx="2436727" cy="527391"/>
          </a:xfrm>
          <a:prstGeom prst="rect">
            <a:avLst/>
          </a:prstGeom>
          <a:noFill/>
        </p:spPr>
        <p:txBody>
          <a:bodyPr wrap="square">
            <a:spAutoFit/>
          </a:bodyPr>
          <a:lstStyle/>
          <a:p>
            <a:pPr algn="ctr"/>
            <a:r>
              <a:rPr lang="en-US" altLang="ja-JP" sz="2800" dirty="0">
                <a:latin typeface="UD デジタル 教科書体 NK-B" panose="02020700000000000000" pitchFamily="18" charset="-128"/>
                <a:ea typeface="UD デジタル 教科書体 NK-B" panose="02020700000000000000" pitchFamily="18" charset="-128"/>
              </a:rPr>
              <a:t>k</a:t>
            </a:r>
            <a:r>
              <a:rPr lang="ja-JP" altLang="en-US" sz="2800" dirty="0">
                <a:latin typeface="UD デジタル 教科書体 NK-B" panose="02020700000000000000" pitchFamily="18" charset="-128"/>
                <a:ea typeface="UD デジタル 教科書体 NK-B" panose="02020700000000000000" pitchFamily="18" charset="-128"/>
              </a:rPr>
              <a:t>近傍</a:t>
            </a:r>
          </a:p>
        </p:txBody>
      </p:sp>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非線形クラスタリングアルゴリズム</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9" name="テキスト ボックス 8">
            <a:extLst>
              <a:ext uri="{FF2B5EF4-FFF2-40B4-BE49-F238E27FC236}">
                <a16:creationId xmlns:a16="http://schemas.microsoft.com/office/drawing/2014/main" id="{A7CC1F7C-8535-D1B2-7F2B-2061D9C1B6D9}"/>
              </a:ext>
            </a:extLst>
          </p:cNvPr>
          <p:cNvSpPr txBox="1"/>
          <p:nvPr/>
        </p:nvSpPr>
        <p:spPr>
          <a:xfrm>
            <a:off x="370114" y="3429000"/>
            <a:ext cx="11821886" cy="3170099"/>
          </a:xfrm>
          <a:prstGeom prst="rect">
            <a:avLst/>
          </a:prstGeom>
          <a:noFill/>
        </p:spPr>
        <p:txBody>
          <a:bodyPr wrap="square">
            <a:spAutoFit/>
          </a:bodyPr>
          <a:lstStyle/>
          <a:p>
            <a:r>
              <a:rPr lang="ja-JP" altLang="en-US" sz="4000" dirty="0">
                <a:latin typeface="UD デジタル 教科書体 NK-B" panose="02020700000000000000" pitchFamily="18" charset="-128"/>
                <a:ea typeface="UD デジタル 教科書体 NK-B" panose="02020700000000000000" pitchFamily="18" charset="-128"/>
              </a:rPr>
              <a:t>メリット</a:t>
            </a:r>
            <a:endParaRPr lang="en-US" altLang="ja-JP" sz="4000" dirty="0">
              <a:latin typeface="UD デジタル 教科書体 NK-B" panose="02020700000000000000" pitchFamily="18" charset="-128"/>
              <a:ea typeface="UD デジタル 教科書体 NK-B" panose="02020700000000000000" pitchFamily="18" charset="-128"/>
            </a:endParaRPr>
          </a:p>
          <a:p>
            <a:pPr marL="685800" indent="-6858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a:t>
            </a:r>
            <a:r>
              <a:rPr lang="ja-JP" altLang="en-US" sz="4000" dirty="0">
                <a:solidFill>
                  <a:srgbClr val="FF5050"/>
                </a:solidFill>
                <a:latin typeface="UD デジタル 教科書体 NK-B" panose="02020700000000000000" pitchFamily="18" charset="-128"/>
                <a:ea typeface="UD デジタル 教科書体 NK-B" panose="02020700000000000000" pitchFamily="18" charset="-128"/>
              </a:rPr>
              <a:t>過学習</a:t>
            </a:r>
            <a:r>
              <a:rPr lang="ja-JP" altLang="en-US" sz="4000" dirty="0">
                <a:latin typeface="UD デジタル 教科書体 NK-B" panose="02020700000000000000" pitchFamily="18" charset="-128"/>
                <a:ea typeface="UD デジタル 教科書体 NK-B" panose="02020700000000000000" pitchFamily="18" charset="-128"/>
              </a:rPr>
              <a:t>が起こりにくい</a:t>
            </a:r>
            <a:endParaRPr lang="en-US" altLang="ja-JP" sz="4000" dirty="0">
              <a:latin typeface="UD デジタル 教科書体 NK-B" panose="02020700000000000000" pitchFamily="18" charset="-128"/>
              <a:ea typeface="UD デジタル 教科書体 NK-B" panose="02020700000000000000" pitchFamily="18" charset="-128"/>
            </a:endParaRPr>
          </a:p>
          <a:p>
            <a:pPr marL="685800" indent="-6858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データの</a:t>
            </a:r>
            <a:r>
              <a:rPr lang="ja-JP" altLang="en-US" sz="4000" dirty="0">
                <a:solidFill>
                  <a:srgbClr val="FF5050"/>
                </a:solidFill>
                <a:latin typeface="UD デジタル 教科書体 NK-B" panose="02020700000000000000" pitchFamily="18" charset="-128"/>
                <a:ea typeface="UD デジタル 教科書体 NK-B" panose="02020700000000000000" pitchFamily="18" charset="-128"/>
              </a:rPr>
              <a:t>次元</a:t>
            </a:r>
            <a:r>
              <a:rPr lang="ja-JP" altLang="en-US" sz="4000" dirty="0">
                <a:latin typeface="UD デジタル 教科書体 NK-B" panose="02020700000000000000" pitchFamily="18" charset="-128"/>
                <a:ea typeface="UD デジタル 教科書体 NK-B" panose="02020700000000000000" pitchFamily="18" charset="-128"/>
              </a:rPr>
              <a:t>が大きくなっても識別精度が高い</a:t>
            </a:r>
            <a:endParaRPr lang="en-US" altLang="ja-JP" sz="4000" dirty="0">
              <a:latin typeface="UD デジタル 教科書体 NK-B" panose="02020700000000000000" pitchFamily="18" charset="-128"/>
              <a:ea typeface="UD デジタル 教科書体 NK-B" panose="02020700000000000000" pitchFamily="18" charset="-128"/>
            </a:endParaRPr>
          </a:p>
          <a:p>
            <a:r>
              <a:rPr lang="ja-JP" altLang="en-US" sz="4000" dirty="0">
                <a:latin typeface="UD デジタル 教科書体 NK-B" panose="02020700000000000000" pitchFamily="18" charset="-128"/>
                <a:ea typeface="UD デジタル 教科書体 NK-B" panose="02020700000000000000" pitchFamily="18" charset="-128"/>
              </a:rPr>
              <a:t>デメリット</a:t>
            </a:r>
            <a:endParaRPr lang="en-US" altLang="ja-JP" sz="4000" dirty="0">
              <a:latin typeface="UD デジタル 教科書体 NK-B" panose="02020700000000000000" pitchFamily="18" charset="-128"/>
              <a:ea typeface="UD デジタル 教科書体 NK-B" panose="02020700000000000000" pitchFamily="18" charset="-128"/>
            </a:endParaRPr>
          </a:p>
          <a:p>
            <a:pPr marL="571500" indent="-5715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学習データが増えると計算量が</a:t>
            </a:r>
            <a:r>
              <a:rPr lang="ja-JP" altLang="en-US" sz="4000" dirty="0">
                <a:solidFill>
                  <a:srgbClr val="FF5050"/>
                </a:solidFill>
                <a:latin typeface="UD デジタル 教科書体 NK-B" panose="02020700000000000000" pitchFamily="18" charset="-128"/>
                <a:ea typeface="UD デジタル 教科書体 NK-B" panose="02020700000000000000" pitchFamily="18" charset="-128"/>
              </a:rPr>
              <a:t>膨大</a:t>
            </a:r>
            <a:r>
              <a:rPr lang="ja-JP" altLang="en-US" sz="4000" dirty="0">
                <a:latin typeface="UD デジタル 教科書体 NK-B" panose="02020700000000000000" pitchFamily="18" charset="-128"/>
                <a:ea typeface="UD デジタル 教科書体 NK-B" panose="02020700000000000000" pitchFamily="18" charset="-128"/>
              </a:rPr>
              <a:t>になる</a:t>
            </a:r>
            <a:endParaRPr lang="en-US" altLang="ja-JP" sz="4000" dirty="0">
              <a:latin typeface="UD デジタル 教科書体 NK-B" panose="02020700000000000000" pitchFamily="18" charset="-128"/>
              <a:ea typeface="UD デジタル 教科書体 NK-B" panose="02020700000000000000" pitchFamily="18" charset="-128"/>
            </a:endParaRPr>
          </a:p>
        </p:txBody>
      </p:sp>
      <p:sp>
        <p:nvSpPr>
          <p:cNvPr id="2" name="テキスト ボックス 1">
            <a:extLst>
              <a:ext uri="{FF2B5EF4-FFF2-40B4-BE49-F238E27FC236}">
                <a16:creationId xmlns:a16="http://schemas.microsoft.com/office/drawing/2014/main" id="{40DFFD0D-BD2F-D78B-8D51-72E7D40D5BD4}"/>
              </a:ext>
            </a:extLst>
          </p:cNvPr>
          <p:cNvSpPr txBox="1"/>
          <p:nvPr/>
        </p:nvSpPr>
        <p:spPr>
          <a:xfrm>
            <a:off x="370114" y="2543099"/>
            <a:ext cx="11821886" cy="769441"/>
          </a:xfrm>
          <a:prstGeom prst="rect">
            <a:avLst/>
          </a:prstGeom>
          <a:noFill/>
        </p:spPr>
        <p:txBody>
          <a:bodyPr wrap="square">
            <a:spAutoFit/>
          </a:bodyPr>
          <a:lstStyle/>
          <a:p>
            <a:r>
              <a:rPr lang="ja-JP" altLang="en-US" sz="4400" dirty="0">
                <a:solidFill>
                  <a:srgbClr val="FF5050"/>
                </a:solidFill>
                <a:latin typeface="UD デジタル 教科書体 NK-B" panose="02020700000000000000" pitchFamily="18" charset="-128"/>
                <a:ea typeface="UD デジタル 教科書体 NK-B" panose="02020700000000000000" pitchFamily="18" charset="-128"/>
              </a:rPr>
              <a:t>平面</a:t>
            </a:r>
            <a:r>
              <a:rPr lang="ja-JP" altLang="en-US" sz="4400" dirty="0">
                <a:latin typeface="UD デジタル 教科書体 NK-B" panose="02020700000000000000" pitchFamily="18" charset="-128"/>
                <a:ea typeface="UD デジタル 教科書体 NK-B" panose="02020700000000000000" pitchFamily="18" charset="-128"/>
              </a:rPr>
              <a:t>でデータを</a:t>
            </a:r>
            <a:r>
              <a:rPr lang="ja-JP" altLang="en-US" sz="4400" dirty="0">
                <a:solidFill>
                  <a:srgbClr val="FF5050"/>
                </a:solidFill>
                <a:latin typeface="UD デジタル 教科書体 NK-B" panose="02020700000000000000" pitchFamily="18" charset="-128"/>
                <a:ea typeface="UD デジタル 教科書体 NK-B" panose="02020700000000000000" pitchFamily="18" charset="-128"/>
              </a:rPr>
              <a:t>区切る</a:t>
            </a:r>
            <a:r>
              <a:rPr lang="ja-JP" altLang="en-US" sz="4400" dirty="0">
                <a:latin typeface="UD デジタル 教科書体 NK-B" panose="02020700000000000000" pitchFamily="18" charset="-128"/>
                <a:ea typeface="UD デジタル 教科書体 NK-B" panose="02020700000000000000" pitchFamily="18" charset="-128"/>
              </a:rPr>
              <a:t>アルゴリズム</a:t>
            </a:r>
            <a:endParaRPr lang="en-US" altLang="ja-JP" sz="4400"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190189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644953E-C08A-BC2F-FA37-707DB3D94F00}"/>
              </a:ext>
            </a:extLst>
          </p:cNvPr>
          <p:cNvSpPr txBox="1"/>
          <p:nvPr/>
        </p:nvSpPr>
        <p:spPr>
          <a:xfrm>
            <a:off x="7947505" y="1685892"/>
            <a:ext cx="2184584" cy="523220"/>
          </a:xfrm>
          <a:prstGeom prst="rect">
            <a:avLst/>
          </a:prstGeom>
          <a:noFill/>
        </p:spPr>
        <p:txBody>
          <a:bodyPr wrap="square">
            <a:spAutoFit/>
          </a:bodyPr>
          <a:lstStyle/>
          <a:p>
            <a:pPr algn="ctr"/>
            <a:r>
              <a:rPr lang="en-US" altLang="ja-JP" sz="2800" dirty="0">
                <a:latin typeface="UD デジタル 教科書体 NK-B" panose="02020700000000000000" pitchFamily="18" charset="-128"/>
                <a:ea typeface="UD デジタル 教科書体 NK-B" panose="02020700000000000000" pitchFamily="18" charset="-128"/>
              </a:rPr>
              <a:t>SVM</a:t>
            </a:r>
            <a:endParaRPr lang="ja-JP" altLang="en-US" sz="2800" dirty="0">
              <a:latin typeface="UD デジタル 教科書体 NK-B" panose="02020700000000000000" pitchFamily="18" charset="-128"/>
              <a:ea typeface="UD デジタル 教科書体 NK-B" panose="02020700000000000000" pitchFamily="18" charset="-128"/>
            </a:endParaRPr>
          </a:p>
        </p:txBody>
      </p:sp>
      <p:sp>
        <p:nvSpPr>
          <p:cNvPr id="5" name="テキスト ボックス 4">
            <a:extLst>
              <a:ext uri="{FF2B5EF4-FFF2-40B4-BE49-F238E27FC236}">
                <a16:creationId xmlns:a16="http://schemas.microsoft.com/office/drawing/2014/main" id="{6BF6211E-C9CA-B6E9-BB07-12B9093E1D83}"/>
              </a:ext>
            </a:extLst>
          </p:cNvPr>
          <p:cNvSpPr txBox="1"/>
          <p:nvPr/>
        </p:nvSpPr>
        <p:spPr>
          <a:xfrm>
            <a:off x="0" y="1558170"/>
            <a:ext cx="4270551" cy="830997"/>
          </a:xfrm>
          <a:prstGeom prst="rect">
            <a:avLst/>
          </a:prstGeom>
          <a:noFill/>
        </p:spPr>
        <p:txBody>
          <a:bodyPr wrap="square">
            <a:spAutoFit/>
          </a:bodyPr>
          <a:lstStyle/>
          <a:p>
            <a:pPr algn="ctr"/>
            <a:r>
              <a:rPr lang="en-US" altLang="ja-JP" sz="4800" dirty="0">
                <a:latin typeface="UD デジタル 教科書体 NK-B" panose="02020700000000000000" pitchFamily="18" charset="-128"/>
                <a:ea typeface="UD デジタル 教科書体 NK-B" panose="02020700000000000000" pitchFamily="18" charset="-128"/>
              </a:rPr>
              <a:t>Naive Bayes</a:t>
            </a:r>
            <a:endParaRPr lang="ja-JP" altLang="en-US" sz="4800" dirty="0">
              <a:latin typeface="UD デジタル 教科書体 NK-B" panose="02020700000000000000" pitchFamily="18" charset="-128"/>
              <a:ea typeface="UD デジタル 教科書体 NK-B" panose="02020700000000000000" pitchFamily="18" charset="-128"/>
            </a:endParaRPr>
          </a:p>
        </p:txBody>
      </p:sp>
      <p:sp>
        <p:nvSpPr>
          <p:cNvPr id="6" name="テキスト ボックス 5">
            <a:extLst>
              <a:ext uri="{FF2B5EF4-FFF2-40B4-BE49-F238E27FC236}">
                <a16:creationId xmlns:a16="http://schemas.microsoft.com/office/drawing/2014/main" id="{500F920B-7519-B71B-65D6-948B83A27A65}"/>
              </a:ext>
            </a:extLst>
          </p:cNvPr>
          <p:cNvSpPr txBox="1"/>
          <p:nvPr/>
        </p:nvSpPr>
        <p:spPr>
          <a:xfrm>
            <a:off x="9827286" y="1685892"/>
            <a:ext cx="2436727" cy="527391"/>
          </a:xfrm>
          <a:prstGeom prst="rect">
            <a:avLst/>
          </a:prstGeom>
          <a:noFill/>
        </p:spPr>
        <p:txBody>
          <a:bodyPr wrap="square">
            <a:spAutoFit/>
          </a:bodyPr>
          <a:lstStyle/>
          <a:p>
            <a:pPr algn="ctr"/>
            <a:r>
              <a:rPr lang="en-US" altLang="ja-JP" sz="2800" dirty="0">
                <a:latin typeface="UD デジタル 教科書体 NK-B" panose="02020700000000000000" pitchFamily="18" charset="-128"/>
                <a:ea typeface="UD デジタル 教科書体 NK-B" panose="02020700000000000000" pitchFamily="18" charset="-128"/>
              </a:rPr>
              <a:t>k</a:t>
            </a:r>
            <a:r>
              <a:rPr lang="ja-JP" altLang="en-US" sz="2800" dirty="0">
                <a:latin typeface="UD デジタル 教科書体 NK-B" panose="02020700000000000000" pitchFamily="18" charset="-128"/>
                <a:ea typeface="UD デジタル 教科書体 NK-B" panose="02020700000000000000" pitchFamily="18" charset="-128"/>
              </a:rPr>
              <a:t>近傍</a:t>
            </a:r>
          </a:p>
        </p:txBody>
      </p:sp>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非線形クラスタリングアルゴリズム</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9" name="テキスト ボックス 8">
            <a:extLst>
              <a:ext uri="{FF2B5EF4-FFF2-40B4-BE49-F238E27FC236}">
                <a16:creationId xmlns:a16="http://schemas.microsoft.com/office/drawing/2014/main" id="{A7CC1F7C-8535-D1B2-7F2B-2061D9C1B6D9}"/>
              </a:ext>
            </a:extLst>
          </p:cNvPr>
          <p:cNvSpPr txBox="1"/>
          <p:nvPr/>
        </p:nvSpPr>
        <p:spPr>
          <a:xfrm>
            <a:off x="227802" y="3594969"/>
            <a:ext cx="11821886" cy="3785652"/>
          </a:xfrm>
          <a:prstGeom prst="rect">
            <a:avLst/>
          </a:prstGeom>
          <a:noFill/>
        </p:spPr>
        <p:txBody>
          <a:bodyPr wrap="square">
            <a:spAutoFit/>
          </a:bodyPr>
          <a:lstStyle/>
          <a:p>
            <a:r>
              <a:rPr lang="ja-JP" altLang="en-US" sz="4000" dirty="0">
                <a:latin typeface="UD デジタル 教科書体 NK-B" panose="02020700000000000000" pitchFamily="18" charset="-128"/>
                <a:ea typeface="UD デジタル 教科書体 NK-B" panose="02020700000000000000" pitchFamily="18" charset="-128"/>
              </a:rPr>
              <a:t>メリット</a:t>
            </a:r>
            <a:endParaRPr lang="en-US" altLang="ja-JP" sz="4000" dirty="0">
              <a:latin typeface="UD デジタル 教科書体 NK-B" panose="02020700000000000000" pitchFamily="18" charset="-128"/>
              <a:ea typeface="UD デジタル 教科書体 NK-B" panose="02020700000000000000" pitchFamily="18" charset="-128"/>
            </a:endParaRPr>
          </a:p>
          <a:p>
            <a:pPr marL="685800" indent="-6858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とても</a:t>
            </a:r>
            <a:r>
              <a:rPr lang="ja-JP" altLang="en-US" sz="4000" dirty="0">
                <a:solidFill>
                  <a:srgbClr val="FF5050"/>
                </a:solidFill>
                <a:latin typeface="UD デジタル 教科書体 NK-B" panose="02020700000000000000" pitchFamily="18" charset="-128"/>
                <a:ea typeface="UD デジタル 教科書体 NK-B" panose="02020700000000000000" pitchFamily="18" charset="-128"/>
              </a:rPr>
              <a:t>大きな</a:t>
            </a:r>
            <a:r>
              <a:rPr lang="ja-JP" altLang="en-US" sz="4000" dirty="0">
                <a:latin typeface="UD デジタル 教科書体 NK-B" panose="02020700000000000000" pitchFamily="18" charset="-128"/>
                <a:ea typeface="UD デジタル 教科書体 NK-B" panose="02020700000000000000" pitchFamily="18" charset="-128"/>
              </a:rPr>
              <a:t>データセットに対しても有効</a:t>
            </a:r>
            <a:endParaRPr lang="en-US" altLang="ja-JP" sz="4000" dirty="0">
              <a:latin typeface="UD デジタル 教科書体 NK-B" panose="02020700000000000000" pitchFamily="18" charset="-128"/>
              <a:ea typeface="UD デジタル 教科書体 NK-B" panose="02020700000000000000" pitchFamily="18" charset="-128"/>
            </a:endParaRPr>
          </a:p>
          <a:p>
            <a:pPr marL="685800" indent="-6858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a:t>
            </a:r>
            <a:r>
              <a:rPr lang="ja-JP" altLang="en-US" sz="4000" dirty="0">
                <a:solidFill>
                  <a:srgbClr val="FF5050"/>
                </a:solidFill>
                <a:latin typeface="UD デジタル 教科書体 NK-B" panose="02020700000000000000" pitchFamily="18" charset="-128"/>
                <a:ea typeface="UD デジタル 教科書体 NK-B" panose="02020700000000000000" pitchFamily="18" charset="-128"/>
              </a:rPr>
              <a:t>重要でない</a:t>
            </a:r>
            <a:r>
              <a:rPr lang="ja-JP" altLang="en-US" sz="4000" dirty="0">
                <a:latin typeface="UD デジタル 教科書体 NK-B" panose="02020700000000000000" pitchFamily="18" charset="-128"/>
                <a:ea typeface="UD デジタル 教科書体 NK-B" panose="02020700000000000000" pitchFamily="18" charset="-128"/>
              </a:rPr>
              <a:t>特徴の影響を受けにくい</a:t>
            </a:r>
            <a:endParaRPr lang="en-US" altLang="ja-JP" sz="4000" dirty="0">
              <a:latin typeface="UD デジタル 教科書体 NK-B" panose="02020700000000000000" pitchFamily="18" charset="-128"/>
              <a:ea typeface="UD デジタル 教科書体 NK-B" panose="02020700000000000000" pitchFamily="18" charset="-128"/>
            </a:endParaRPr>
          </a:p>
          <a:p>
            <a:r>
              <a:rPr lang="ja-JP" altLang="en-US" sz="4000" dirty="0">
                <a:latin typeface="UD デジタル 教科書体 NK-B" panose="02020700000000000000" pitchFamily="18" charset="-128"/>
                <a:ea typeface="UD デジタル 教科書体 NK-B" panose="02020700000000000000" pitchFamily="18" charset="-128"/>
              </a:rPr>
              <a:t>デメリット</a:t>
            </a:r>
            <a:endParaRPr lang="en-US" altLang="ja-JP" sz="4000" dirty="0">
              <a:latin typeface="UD デジタル 教科書体 NK-B" panose="02020700000000000000" pitchFamily="18" charset="-128"/>
              <a:ea typeface="UD デジタル 教科書体 NK-B" panose="02020700000000000000" pitchFamily="18" charset="-128"/>
            </a:endParaRPr>
          </a:p>
          <a:p>
            <a:pPr marL="571500" indent="-5715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各特徴量が独立であると仮定する必要がある</a:t>
            </a:r>
            <a:endParaRPr lang="en-US" altLang="ja-JP" sz="4000" dirty="0">
              <a:latin typeface="UD デジタル 教科書体 NK-B" panose="02020700000000000000" pitchFamily="18" charset="-128"/>
              <a:ea typeface="UD デジタル 教科書体 NK-B" panose="02020700000000000000" pitchFamily="18" charset="-128"/>
            </a:endParaRPr>
          </a:p>
          <a:p>
            <a:endParaRPr lang="ja-JP" altLang="en-US" sz="4000" dirty="0">
              <a:latin typeface="UD デジタル 教科書体 NK-B" panose="02020700000000000000" pitchFamily="18" charset="-128"/>
              <a:ea typeface="UD デジタル 教科書体 NK-B" panose="02020700000000000000" pitchFamily="18" charset="-128"/>
            </a:endParaRPr>
          </a:p>
        </p:txBody>
      </p:sp>
      <p:sp>
        <p:nvSpPr>
          <p:cNvPr id="2" name="テキスト ボックス 1">
            <a:extLst>
              <a:ext uri="{FF2B5EF4-FFF2-40B4-BE49-F238E27FC236}">
                <a16:creationId xmlns:a16="http://schemas.microsoft.com/office/drawing/2014/main" id="{035F472B-746A-E81F-7C71-BCBC62857015}"/>
              </a:ext>
            </a:extLst>
          </p:cNvPr>
          <p:cNvSpPr txBox="1"/>
          <p:nvPr/>
        </p:nvSpPr>
        <p:spPr>
          <a:xfrm>
            <a:off x="370114" y="2543099"/>
            <a:ext cx="11821886" cy="769441"/>
          </a:xfrm>
          <a:prstGeom prst="rect">
            <a:avLst/>
          </a:prstGeom>
          <a:noFill/>
        </p:spPr>
        <p:txBody>
          <a:bodyPr wrap="square">
            <a:spAutoFit/>
          </a:bodyPr>
          <a:lstStyle/>
          <a:p>
            <a:r>
              <a:rPr lang="ja-JP" altLang="en-US" sz="4400" dirty="0">
                <a:latin typeface="UD デジタル 教科書体 NK-B" panose="02020700000000000000" pitchFamily="18" charset="-128"/>
                <a:ea typeface="UD デジタル 教科書体 NK-B" panose="02020700000000000000" pitchFamily="18" charset="-128"/>
              </a:rPr>
              <a:t>各クラスである</a:t>
            </a:r>
            <a:r>
              <a:rPr lang="ja-JP" altLang="en-US" sz="4400" dirty="0">
                <a:solidFill>
                  <a:srgbClr val="FF5050"/>
                </a:solidFill>
                <a:latin typeface="UD デジタル 教科書体 NK-B" panose="02020700000000000000" pitchFamily="18" charset="-128"/>
                <a:ea typeface="UD デジタル 教科書体 NK-B" panose="02020700000000000000" pitchFamily="18" charset="-128"/>
              </a:rPr>
              <a:t>確率</a:t>
            </a:r>
            <a:r>
              <a:rPr lang="ja-JP" altLang="en-US" sz="4400" dirty="0">
                <a:latin typeface="UD デジタル 教科書体 NK-B" panose="02020700000000000000" pitchFamily="18" charset="-128"/>
                <a:ea typeface="UD デジタル 教科書体 NK-B" panose="02020700000000000000" pitchFamily="18" charset="-128"/>
              </a:rPr>
              <a:t>を計算するアルゴリズム</a:t>
            </a:r>
            <a:endParaRPr lang="en-US" altLang="ja-JP" sz="4400"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3862537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644953E-C08A-BC2F-FA37-707DB3D94F00}"/>
              </a:ext>
            </a:extLst>
          </p:cNvPr>
          <p:cNvSpPr txBox="1"/>
          <p:nvPr/>
        </p:nvSpPr>
        <p:spPr>
          <a:xfrm>
            <a:off x="7947505" y="1685892"/>
            <a:ext cx="2184584" cy="523220"/>
          </a:xfrm>
          <a:prstGeom prst="rect">
            <a:avLst/>
          </a:prstGeom>
          <a:noFill/>
        </p:spPr>
        <p:txBody>
          <a:bodyPr wrap="square">
            <a:spAutoFit/>
          </a:bodyPr>
          <a:lstStyle/>
          <a:p>
            <a:pPr algn="ctr"/>
            <a:r>
              <a:rPr lang="en-US" altLang="ja-JP" sz="2800" dirty="0">
                <a:latin typeface="UD デジタル 教科書体 NK-B" panose="02020700000000000000" pitchFamily="18" charset="-128"/>
                <a:ea typeface="UD デジタル 教科書体 NK-B" panose="02020700000000000000" pitchFamily="18" charset="-128"/>
              </a:rPr>
              <a:t>SVM</a:t>
            </a:r>
            <a:endParaRPr lang="ja-JP" altLang="en-US" sz="2800" dirty="0">
              <a:latin typeface="UD デジタル 教科書体 NK-B" panose="02020700000000000000" pitchFamily="18" charset="-128"/>
              <a:ea typeface="UD デジタル 教科書体 NK-B" panose="02020700000000000000" pitchFamily="18" charset="-128"/>
            </a:endParaRPr>
          </a:p>
        </p:txBody>
      </p:sp>
      <p:sp>
        <p:nvSpPr>
          <p:cNvPr id="5" name="テキスト ボックス 4">
            <a:extLst>
              <a:ext uri="{FF2B5EF4-FFF2-40B4-BE49-F238E27FC236}">
                <a16:creationId xmlns:a16="http://schemas.microsoft.com/office/drawing/2014/main" id="{6BF6211E-C9CA-B6E9-BB07-12B9093E1D83}"/>
              </a:ext>
            </a:extLst>
          </p:cNvPr>
          <p:cNvSpPr txBox="1"/>
          <p:nvPr/>
        </p:nvSpPr>
        <p:spPr>
          <a:xfrm>
            <a:off x="8892791" y="1678216"/>
            <a:ext cx="4270551" cy="523220"/>
          </a:xfrm>
          <a:prstGeom prst="rect">
            <a:avLst/>
          </a:prstGeom>
          <a:noFill/>
        </p:spPr>
        <p:txBody>
          <a:bodyPr wrap="square">
            <a:spAutoFit/>
          </a:bodyPr>
          <a:lstStyle/>
          <a:p>
            <a:pPr algn="ctr"/>
            <a:r>
              <a:rPr lang="en-US" altLang="ja-JP" sz="2800" dirty="0">
                <a:latin typeface="UD デジタル 教科書体 NK-B" panose="02020700000000000000" pitchFamily="18" charset="-128"/>
                <a:ea typeface="UD デジタル 教科書体 NK-B" panose="02020700000000000000" pitchFamily="18" charset="-128"/>
              </a:rPr>
              <a:t>Naive Bayes</a:t>
            </a:r>
            <a:endParaRPr lang="ja-JP" altLang="en-US" sz="2800" dirty="0">
              <a:latin typeface="UD デジタル 教科書体 NK-B" panose="02020700000000000000" pitchFamily="18" charset="-128"/>
              <a:ea typeface="UD デジタル 教科書体 NK-B" panose="02020700000000000000" pitchFamily="18" charset="-128"/>
            </a:endParaRPr>
          </a:p>
        </p:txBody>
      </p:sp>
      <p:sp>
        <p:nvSpPr>
          <p:cNvPr id="6" name="テキスト ボックス 5">
            <a:extLst>
              <a:ext uri="{FF2B5EF4-FFF2-40B4-BE49-F238E27FC236}">
                <a16:creationId xmlns:a16="http://schemas.microsoft.com/office/drawing/2014/main" id="{500F920B-7519-B71B-65D6-948B83A27A65}"/>
              </a:ext>
            </a:extLst>
          </p:cNvPr>
          <p:cNvSpPr txBox="1"/>
          <p:nvPr/>
        </p:nvSpPr>
        <p:spPr>
          <a:xfrm>
            <a:off x="-795493" y="1558170"/>
            <a:ext cx="4094703" cy="830997"/>
          </a:xfrm>
          <a:prstGeom prst="rect">
            <a:avLst/>
          </a:prstGeom>
          <a:noFill/>
        </p:spPr>
        <p:txBody>
          <a:bodyPr wrap="square">
            <a:spAutoFit/>
          </a:bodyPr>
          <a:lstStyle/>
          <a:p>
            <a:pPr algn="ctr"/>
            <a:r>
              <a:rPr lang="en-US" altLang="ja-JP" sz="4800" dirty="0">
                <a:latin typeface="UD デジタル 教科書体 NK-B" panose="02020700000000000000" pitchFamily="18" charset="-128"/>
                <a:ea typeface="UD デジタル 教科書体 NK-B" panose="02020700000000000000" pitchFamily="18" charset="-128"/>
              </a:rPr>
              <a:t>k</a:t>
            </a:r>
            <a:r>
              <a:rPr lang="ja-JP" altLang="en-US" sz="4800" dirty="0">
                <a:latin typeface="UD デジタル 教科書体 NK-B" panose="02020700000000000000" pitchFamily="18" charset="-128"/>
                <a:ea typeface="UD デジタル 教科書体 NK-B" panose="02020700000000000000" pitchFamily="18" charset="-128"/>
              </a:rPr>
              <a:t>近傍</a:t>
            </a:r>
          </a:p>
        </p:txBody>
      </p:sp>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非線形クラスタリングアルゴリズム</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9" name="テキスト ボックス 8">
            <a:extLst>
              <a:ext uri="{FF2B5EF4-FFF2-40B4-BE49-F238E27FC236}">
                <a16:creationId xmlns:a16="http://schemas.microsoft.com/office/drawing/2014/main" id="{A7CC1F7C-8535-D1B2-7F2B-2061D9C1B6D9}"/>
              </a:ext>
            </a:extLst>
          </p:cNvPr>
          <p:cNvSpPr txBox="1"/>
          <p:nvPr/>
        </p:nvSpPr>
        <p:spPr>
          <a:xfrm>
            <a:off x="185057" y="3429000"/>
            <a:ext cx="11821886" cy="3785652"/>
          </a:xfrm>
          <a:prstGeom prst="rect">
            <a:avLst/>
          </a:prstGeom>
          <a:noFill/>
        </p:spPr>
        <p:txBody>
          <a:bodyPr wrap="square">
            <a:spAutoFit/>
          </a:bodyPr>
          <a:lstStyle/>
          <a:p>
            <a:r>
              <a:rPr lang="ja-JP" altLang="en-US" sz="4000" dirty="0">
                <a:latin typeface="UD デジタル 教科書体 NK-B" panose="02020700000000000000" pitchFamily="18" charset="-128"/>
                <a:ea typeface="UD デジタル 教科書体 NK-B" panose="02020700000000000000" pitchFamily="18" charset="-128"/>
              </a:rPr>
              <a:t>メリット</a:t>
            </a:r>
            <a:endParaRPr lang="en-US" altLang="ja-JP" sz="4000" dirty="0">
              <a:latin typeface="UD デジタル 教科書体 NK-B" panose="02020700000000000000" pitchFamily="18" charset="-128"/>
              <a:ea typeface="UD デジタル 教科書体 NK-B" panose="02020700000000000000" pitchFamily="18" charset="-128"/>
            </a:endParaRPr>
          </a:p>
          <a:p>
            <a:pPr marL="685800" indent="-6858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a:t>
            </a:r>
            <a:r>
              <a:rPr lang="ja-JP" altLang="en-US" sz="4000" dirty="0">
                <a:solidFill>
                  <a:srgbClr val="FF5050"/>
                </a:solidFill>
                <a:latin typeface="UD デジタル 教科書体 NK-B" panose="02020700000000000000" pitchFamily="18" charset="-128"/>
                <a:ea typeface="UD デジタル 教科書体 NK-B" panose="02020700000000000000" pitchFamily="18" charset="-128"/>
              </a:rPr>
              <a:t>単純</a:t>
            </a:r>
            <a:r>
              <a:rPr lang="ja-JP" altLang="en-US" sz="4000" dirty="0">
                <a:latin typeface="UD デジタル 教科書体 NK-B" panose="02020700000000000000" pitchFamily="18" charset="-128"/>
                <a:ea typeface="UD デジタル 教科書体 NK-B" panose="02020700000000000000" pitchFamily="18" charset="-128"/>
              </a:rPr>
              <a:t>かつ明瞭なアルゴリズム</a:t>
            </a:r>
            <a:endParaRPr lang="en-US" altLang="ja-JP" sz="4000" dirty="0">
              <a:latin typeface="UD デジタル 教科書体 NK-B" panose="02020700000000000000" pitchFamily="18" charset="-128"/>
              <a:ea typeface="UD デジタル 教科書体 NK-B" panose="02020700000000000000" pitchFamily="18" charset="-128"/>
            </a:endParaRPr>
          </a:p>
          <a:p>
            <a:pPr marL="685800" indent="-6858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モデルの構築が</a:t>
            </a:r>
            <a:r>
              <a:rPr lang="ja-JP" altLang="en-US" sz="4000" dirty="0">
                <a:solidFill>
                  <a:srgbClr val="FF5050"/>
                </a:solidFill>
                <a:latin typeface="UD デジタル 教科書体 NK-B" panose="02020700000000000000" pitchFamily="18" charset="-128"/>
                <a:ea typeface="UD デジタル 教科書体 NK-B" panose="02020700000000000000" pitchFamily="18" charset="-128"/>
              </a:rPr>
              <a:t>速い</a:t>
            </a:r>
            <a:endParaRPr lang="en-US" altLang="ja-JP" sz="4000" dirty="0">
              <a:solidFill>
                <a:srgbClr val="FF5050"/>
              </a:solidFill>
              <a:latin typeface="UD デジタル 教科書体 NK-B" panose="02020700000000000000" pitchFamily="18" charset="-128"/>
              <a:ea typeface="UD デジタル 教科書体 NK-B" panose="02020700000000000000" pitchFamily="18" charset="-128"/>
            </a:endParaRPr>
          </a:p>
          <a:p>
            <a:r>
              <a:rPr lang="ja-JP" altLang="en-US" sz="4000" dirty="0">
                <a:latin typeface="UD デジタル 教科書体 NK-B" panose="02020700000000000000" pitchFamily="18" charset="-128"/>
                <a:ea typeface="UD デジタル 教科書体 NK-B" panose="02020700000000000000" pitchFamily="18" charset="-128"/>
              </a:rPr>
              <a:t>デメリット</a:t>
            </a:r>
            <a:endParaRPr lang="en-US" altLang="ja-JP" sz="4000" dirty="0">
              <a:latin typeface="UD デジタル 教科書体 NK-B" panose="02020700000000000000" pitchFamily="18" charset="-128"/>
              <a:ea typeface="UD デジタル 教科書体 NK-B" panose="02020700000000000000" pitchFamily="18" charset="-128"/>
            </a:endParaRPr>
          </a:p>
          <a:p>
            <a:pPr marL="571500" indent="-571500">
              <a:buFont typeface="Arial" panose="020B0604020202020204" pitchFamily="34" charset="0"/>
              <a:buChar char="•"/>
            </a:pPr>
            <a:r>
              <a:rPr lang="ja-JP" altLang="en-US" sz="4000" dirty="0">
                <a:latin typeface="UD デジタル 教科書体 NK-B" panose="02020700000000000000" pitchFamily="18" charset="-128"/>
                <a:ea typeface="UD デジタル 教科書体 NK-B" panose="02020700000000000000" pitchFamily="18" charset="-128"/>
              </a:rPr>
              <a:t>　</a:t>
            </a:r>
            <a:r>
              <a:rPr lang="ja-JP" altLang="en-US" sz="4000" dirty="0">
                <a:solidFill>
                  <a:srgbClr val="FF5050"/>
                </a:solidFill>
                <a:latin typeface="UD デジタル 教科書体 NK-B" panose="02020700000000000000" pitchFamily="18" charset="-128"/>
                <a:ea typeface="UD デジタル 教科書体 NK-B" panose="02020700000000000000" pitchFamily="18" charset="-128"/>
              </a:rPr>
              <a:t>局所最適</a:t>
            </a:r>
            <a:r>
              <a:rPr lang="ja-JP" altLang="en-US" sz="4000" dirty="0">
                <a:latin typeface="UD デジタル 教科書体 NK-B" panose="02020700000000000000" pitchFamily="18" charset="-128"/>
                <a:ea typeface="UD デジタル 教科書体 NK-B" panose="02020700000000000000" pitchFamily="18" charset="-128"/>
              </a:rPr>
              <a:t>に陥りやすい</a:t>
            </a:r>
            <a:endParaRPr lang="en-US" altLang="ja-JP" sz="4000" dirty="0">
              <a:latin typeface="UD デジタル 教科書体 NK-B" panose="02020700000000000000" pitchFamily="18" charset="-128"/>
              <a:ea typeface="UD デジタル 教科書体 NK-B" panose="02020700000000000000" pitchFamily="18" charset="-128"/>
            </a:endParaRPr>
          </a:p>
          <a:p>
            <a:endParaRPr lang="ja-JP" altLang="en-US" sz="4000" dirty="0">
              <a:latin typeface="UD デジタル 教科書体 NK-B" panose="02020700000000000000" pitchFamily="18" charset="-128"/>
              <a:ea typeface="UD デジタル 教科書体 NK-B" panose="02020700000000000000" pitchFamily="18" charset="-128"/>
            </a:endParaRPr>
          </a:p>
        </p:txBody>
      </p:sp>
      <p:sp>
        <p:nvSpPr>
          <p:cNvPr id="2" name="テキスト ボックス 1">
            <a:extLst>
              <a:ext uri="{FF2B5EF4-FFF2-40B4-BE49-F238E27FC236}">
                <a16:creationId xmlns:a16="http://schemas.microsoft.com/office/drawing/2014/main" id="{30D5E47D-9710-C965-0705-68EA37E10F0C}"/>
              </a:ext>
            </a:extLst>
          </p:cNvPr>
          <p:cNvSpPr txBox="1"/>
          <p:nvPr/>
        </p:nvSpPr>
        <p:spPr>
          <a:xfrm>
            <a:off x="370114" y="2543099"/>
            <a:ext cx="11821886" cy="769441"/>
          </a:xfrm>
          <a:prstGeom prst="rect">
            <a:avLst/>
          </a:prstGeom>
          <a:noFill/>
        </p:spPr>
        <p:txBody>
          <a:bodyPr wrap="square">
            <a:spAutoFit/>
          </a:bodyPr>
          <a:lstStyle/>
          <a:p>
            <a:r>
              <a:rPr lang="ja-JP" altLang="en-US" sz="4400" dirty="0">
                <a:latin typeface="UD デジタル 教科書体 NK-B" panose="02020700000000000000" pitchFamily="18" charset="-128"/>
                <a:ea typeface="UD デジタル 教科書体 NK-B" panose="02020700000000000000" pitchFamily="18" charset="-128"/>
              </a:rPr>
              <a:t>予測データの周辺で</a:t>
            </a:r>
            <a:r>
              <a:rPr lang="ja-JP" altLang="en-US" sz="4400" dirty="0">
                <a:solidFill>
                  <a:srgbClr val="FF5050"/>
                </a:solidFill>
                <a:latin typeface="UD デジタル 教科書体 NK-B" panose="02020700000000000000" pitchFamily="18" charset="-128"/>
                <a:ea typeface="UD デジタル 教科書体 NK-B" panose="02020700000000000000" pitchFamily="18" charset="-128"/>
              </a:rPr>
              <a:t>多数決</a:t>
            </a:r>
            <a:r>
              <a:rPr lang="ja-JP" altLang="en-US" sz="4400" dirty="0">
                <a:latin typeface="UD デジタル 教科書体 NK-B" panose="02020700000000000000" pitchFamily="18" charset="-128"/>
                <a:ea typeface="UD デジタル 教科書体 NK-B" panose="02020700000000000000" pitchFamily="18" charset="-128"/>
              </a:rPr>
              <a:t>を取るアルゴリズム</a:t>
            </a:r>
            <a:endParaRPr lang="en-US" altLang="ja-JP" sz="4400"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3002483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クラスタリングの評価方法</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2052" name="Picture 4" descr="機械学習の分類評価指標 混同行列と正解率・適合率・再現率・F値 | Yukkuri Machine Learning">
            <a:extLst>
              <a:ext uri="{FF2B5EF4-FFF2-40B4-BE49-F238E27FC236}">
                <a16:creationId xmlns:a16="http://schemas.microsoft.com/office/drawing/2014/main" id="{8C0674CA-0404-47F3-8DBE-905528FB3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767" y="1640541"/>
            <a:ext cx="7936099" cy="5060813"/>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7BAC11FC-E820-5D0F-BB72-FB8D2A9B7279}"/>
              </a:ext>
            </a:extLst>
          </p:cNvPr>
          <p:cNvSpPr txBox="1"/>
          <p:nvPr/>
        </p:nvSpPr>
        <p:spPr>
          <a:xfrm>
            <a:off x="8181870" y="2770564"/>
            <a:ext cx="3011994" cy="3046988"/>
          </a:xfrm>
          <a:prstGeom prst="rect">
            <a:avLst/>
          </a:prstGeom>
          <a:noFill/>
        </p:spPr>
        <p:txBody>
          <a:bodyPr wrap="square">
            <a:spAutoFit/>
          </a:bodyPr>
          <a:lstStyle/>
          <a:p>
            <a:pPr algn="l">
              <a:buFont typeface="Arial" panose="020B0604020202020204" pitchFamily="34" charset="0"/>
              <a:buChar char="•"/>
            </a:pPr>
            <a:r>
              <a:rPr lang="ja-JP" altLang="en-US" sz="4800" dirty="0">
                <a:latin typeface="UD デジタル 教科書体 NK-B" panose="02020700000000000000" pitchFamily="18" charset="-128"/>
                <a:ea typeface="UD デジタル 教科書体 NK-B" panose="02020700000000000000" pitchFamily="18" charset="-128"/>
              </a:rPr>
              <a:t>正解率 </a:t>
            </a:r>
            <a:endParaRPr lang="en-US" altLang="ja-JP" sz="4800" dirty="0">
              <a:latin typeface="UD デジタル 教科書体 NK-B" panose="02020700000000000000" pitchFamily="18" charset="-128"/>
              <a:ea typeface="UD デジタル 教科書体 NK-B" panose="02020700000000000000" pitchFamily="18" charset="-128"/>
            </a:endParaRPr>
          </a:p>
          <a:p>
            <a:pPr>
              <a:buFont typeface="Arial" panose="020B0604020202020204" pitchFamily="34" charset="0"/>
              <a:buChar char="•"/>
            </a:pPr>
            <a:r>
              <a:rPr lang="ja-JP" altLang="en-US" sz="4800" dirty="0">
                <a:latin typeface="UD デジタル 教科書体 NK-B" panose="02020700000000000000" pitchFamily="18" charset="-128"/>
                <a:ea typeface="UD デジタル 教科書体 NK-B" panose="02020700000000000000" pitchFamily="18" charset="-128"/>
              </a:rPr>
              <a:t>適合率 </a:t>
            </a:r>
            <a:endParaRPr lang="en-US" altLang="ja-JP" sz="4800" dirty="0">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latin typeface="UD デジタル 教科書体 NK-B" panose="02020700000000000000" pitchFamily="18" charset="-128"/>
                <a:ea typeface="UD デジタル 教科書体 NK-B" panose="02020700000000000000" pitchFamily="18" charset="-128"/>
              </a:rPr>
              <a:t>再現率 </a:t>
            </a:r>
            <a:endParaRPr lang="en-US" altLang="ja-JP" sz="4800" dirty="0">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en-US" altLang="ja-JP" sz="4800" dirty="0">
                <a:latin typeface="UD デジタル 教科書体 NK-B" panose="02020700000000000000" pitchFamily="18" charset="-128"/>
                <a:ea typeface="UD デジタル 教科書体 NK-B" panose="02020700000000000000" pitchFamily="18" charset="-128"/>
              </a:rPr>
              <a:t>F</a:t>
            </a:r>
            <a:r>
              <a:rPr lang="ja-JP" altLang="en-US" sz="4800" dirty="0">
                <a:latin typeface="UD デジタル 教科書体 NK-B" panose="02020700000000000000" pitchFamily="18" charset="-128"/>
                <a:ea typeface="UD デジタル 教科書体 NK-B" panose="02020700000000000000" pitchFamily="18" charset="-128"/>
              </a:rPr>
              <a:t>値 </a:t>
            </a:r>
          </a:p>
        </p:txBody>
      </p:sp>
    </p:spTree>
    <p:extLst>
      <p:ext uri="{BB962C8B-B14F-4D97-AF65-F5344CB8AC3E}">
        <p14:creationId xmlns:p14="http://schemas.microsoft.com/office/powerpoint/2010/main" val="3749609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クラスタリングの評価方法</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2052" name="Picture 4" descr="機械学習の分類評価指標 混同行列と正解率・適合率・再現率・F値 | Yukkuri Machine Learning">
            <a:extLst>
              <a:ext uri="{FF2B5EF4-FFF2-40B4-BE49-F238E27FC236}">
                <a16:creationId xmlns:a16="http://schemas.microsoft.com/office/drawing/2014/main" id="{8C0674CA-0404-47F3-8DBE-905528FB3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767" y="1640541"/>
            <a:ext cx="7936099" cy="5060813"/>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7BAC11FC-E820-5D0F-BB72-FB8D2A9B7279}"/>
              </a:ext>
            </a:extLst>
          </p:cNvPr>
          <p:cNvSpPr txBox="1"/>
          <p:nvPr/>
        </p:nvSpPr>
        <p:spPr>
          <a:xfrm>
            <a:off x="8181870" y="2770564"/>
            <a:ext cx="3011994" cy="3046988"/>
          </a:xfrm>
          <a:prstGeom prst="rect">
            <a:avLst/>
          </a:prstGeom>
          <a:noFill/>
        </p:spPr>
        <p:txBody>
          <a:bodyPr wrap="square">
            <a:spAutoFit/>
          </a:bodyPr>
          <a:lstStyle/>
          <a:p>
            <a:pPr algn="l">
              <a:buFont typeface="Arial" panose="020B0604020202020204" pitchFamily="34" charset="0"/>
              <a:buChar char="•"/>
            </a:pPr>
            <a:r>
              <a:rPr lang="ja-JP" altLang="en-US" sz="4800" dirty="0">
                <a:latin typeface="UD デジタル 教科書体 NK-B" panose="02020700000000000000" pitchFamily="18" charset="-128"/>
                <a:ea typeface="UD デジタル 教科書体 NK-B" panose="02020700000000000000" pitchFamily="18" charset="-128"/>
              </a:rPr>
              <a:t>正解率 </a:t>
            </a:r>
            <a:endParaRPr lang="en-US" altLang="ja-JP" sz="4800" dirty="0">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精度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再現率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F</a:t>
            </a: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値 </a:t>
            </a:r>
          </a:p>
        </p:txBody>
      </p:sp>
      <p:sp>
        <p:nvSpPr>
          <p:cNvPr id="2" name="楕円 1">
            <a:extLst>
              <a:ext uri="{FF2B5EF4-FFF2-40B4-BE49-F238E27FC236}">
                <a16:creationId xmlns:a16="http://schemas.microsoft.com/office/drawing/2014/main" id="{52AB4E41-304C-1E62-B3E4-7D7F9AD616EB}"/>
              </a:ext>
            </a:extLst>
          </p:cNvPr>
          <p:cNvSpPr/>
          <p:nvPr/>
        </p:nvSpPr>
        <p:spPr>
          <a:xfrm rot="1655660">
            <a:off x="1533055" y="3375022"/>
            <a:ext cx="6066442" cy="1977681"/>
          </a:xfrm>
          <a:prstGeom prst="ellipse">
            <a:avLst/>
          </a:prstGeom>
          <a:noFill/>
          <a:ln w="123825">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98258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クラスタリングの評価方法</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2052" name="Picture 4" descr="機械学習の分類評価指標 混同行列と正解率・適合率・再現率・F値 | Yukkuri Machine Learning">
            <a:extLst>
              <a:ext uri="{FF2B5EF4-FFF2-40B4-BE49-F238E27FC236}">
                <a16:creationId xmlns:a16="http://schemas.microsoft.com/office/drawing/2014/main" id="{8C0674CA-0404-47F3-8DBE-905528FB3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767" y="1640541"/>
            <a:ext cx="7936099" cy="5060813"/>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7BAC11FC-E820-5D0F-BB72-FB8D2A9B7279}"/>
              </a:ext>
            </a:extLst>
          </p:cNvPr>
          <p:cNvSpPr txBox="1"/>
          <p:nvPr/>
        </p:nvSpPr>
        <p:spPr>
          <a:xfrm>
            <a:off x="8181870" y="2770564"/>
            <a:ext cx="3011994" cy="3046988"/>
          </a:xfrm>
          <a:prstGeom prst="rect">
            <a:avLst/>
          </a:prstGeom>
          <a:noFill/>
        </p:spPr>
        <p:txBody>
          <a:bodyPr wrap="square">
            <a:spAutoFit/>
          </a:bodyPr>
          <a:lstStyle/>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正解率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latin typeface="UD デジタル 教科書体 NK-B" panose="02020700000000000000" pitchFamily="18" charset="-128"/>
                <a:ea typeface="UD デジタル 教科書体 NK-B" panose="02020700000000000000" pitchFamily="18" charset="-128"/>
              </a:rPr>
              <a:t>適合率</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再現率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F</a:t>
            </a: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値 </a:t>
            </a:r>
          </a:p>
        </p:txBody>
      </p:sp>
      <p:sp>
        <p:nvSpPr>
          <p:cNvPr id="2" name="楕円 1">
            <a:extLst>
              <a:ext uri="{FF2B5EF4-FFF2-40B4-BE49-F238E27FC236}">
                <a16:creationId xmlns:a16="http://schemas.microsoft.com/office/drawing/2014/main" id="{52AB4E41-304C-1E62-B3E4-7D7F9AD616EB}"/>
              </a:ext>
            </a:extLst>
          </p:cNvPr>
          <p:cNvSpPr/>
          <p:nvPr/>
        </p:nvSpPr>
        <p:spPr>
          <a:xfrm rot="5400000">
            <a:off x="1839956" y="3398166"/>
            <a:ext cx="3183562" cy="2342870"/>
          </a:xfrm>
          <a:prstGeom prst="ellipse">
            <a:avLst/>
          </a:prstGeom>
          <a:noFill/>
          <a:ln w="123825">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30633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クラスタリングの評価方法</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2052" name="Picture 4" descr="機械学習の分類評価指標 混同行列と正解率・適合率・再現率・F値 | Yukkuri Machine Learning">
            <a:extLst>
              <a:ext uri="{FF2B5EF4-FFF2-40B4-BE49-F238E27FC236}">
                <a16:creationId xmlns:a16="http://schemas.microsoft.com/office/drawing/2014/main" id="{8C0674CA-0404-47F3-8DBE-905528FB3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767" y="1640541"/>
            <a:ext cx="7936099" cy="5060813"/>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7BAC11FC-E820-5D0F-BB72-FB8D2A9B7279}"/>
              </a:ext>
            </a:extLst>
          </p:cNvPr>
          <p:cNvSpPr txBox="1"/>
          <p:nvPr/>
        </p:nvSpPr>
        <p:spPr>
          <a:xfrm>
            <a:off x="8181870" y="2770564"/>
            <a:ext cx="3011994" cy="3046988"/>
          </a:xfrm>
          <a:prstGeom prst="rect">
            <a:avLst/>
          </a:prstGeom>
          <a:noFill/>
        </p:spPr>
        <p:txBody>
          <a:bodyPr wrap="square">
            <a:spAutoFit/>
          </a:bodyPr>
          <a:lstStyle/>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正解率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適合率</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latin typeface="UD デジタル 教科書体 NK-B" panose="02020700000000000000" pitchFamily="18" charset="-128"/>
                <a:ea typeface="UD デジタル 教科書体 NK-B" panose="02020700000000000000" pitchFamily="18" charset="-128"/>
              </a:rPr>
              <a:t>再現率</a:t>
            </a: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F</a:t>
            </a: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値 </a:t>
            </a:r>
          </a:p>
        </p:txBody>
      </p:sp>
      <p:sp>
        <p:nvSpPr>
          <p:cNvPr id="2" name="楕円 1">
            <a:extLst>
              <a:ext uri="{FF2B5EF4-FFF2-40B4-BE49-F238E27FC236}">
                <a16:creationId xmlns:a16="http://schemas.microsoft.com/office/drawing/2014/main" id="{52AB4E41-304C-1E62-B3E4-7D7F9AD616EB}"/>
              </a:ext>
            </a:extLst>
          </p:cNvPr>
          <p:cNvSpPr/>
          <p:nvPr/>
        </p:nvSpPr>
        <p:spPr>
          <a:xfrm>
            <a:off x="2246309" y="2770564"/>
            <a:ext cx="4857875" cy="1842275"/>
          </a:xfrm>
          <a:prstGeom prst="ellipse">
            <a:avLst/>
          </a:prstGeom>
          <a:noFill/>
          <a:ln w="123825">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16109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クラスタリングの評価方法</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2052" name="Picture 4" descr="機械学習の分類評価指標 混同行列と正解率・適合率・再現率・F値 | Yukkuri Machine Learning">
            <a:extLst>
              <a:ext uri="{FF2B5EF4-FFF2-40B4-BE49-F238E27FC236}">
                <a16:creationId xmlns:a16="http://schemas.microsoft.com/office/drawing/2014/main" id="{8C0674CA-0404-47F3-8DBE-905528FB3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767" y="1640541"/>
            <a:ext cx="7936099" cy="5060813"/>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7BAC11FC-E820-5D0F-BB72-FB8D2A9B7279}"/>
              </a:ext>
            </a:extLst>
          </p:cNvPr>
          <p:cNvSpPr txBox="1"/>
          <p:nvPr/>
        </p:nvSpPr>
        <p:spPr>
          <a:xfrm>
            <a:off x="8181870" y="2770564"/>
            <a:ext cx="3011994" cy="3046988"/>
          </a:xfrm>
          <a:prstGeom prst="rect">
            <a:avLst/>
          </a:prstGeom>
          <a:noFill/>
        </p:spPr>
        <p:txBody>
          <a:bodyPr wrap="square">
            <a:spAutoFit/>
          </a:bodyPr>
          <a:lstStyle/>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正解率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適合率</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latin typeface="UD デジタル 教科書体 NK-B" panose="02020700000000000000" pitchFamily="18" charset="-128"/>
                <a:ea typeface="UD デジタル 教科書体 NK-B" panose="02020700000000000000" pitchFamily="18" charset="-128"/>
              </a:rPr>
              <a:t>再現率</a:t>
            </a: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F</a:t>
            </a: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値 </a:t>
            </a:r>
          </a:p>
        </p:txBody>
      </p:sp>
      <p:sp>
        <p:nvSpPr>
          <p:cNvPr id="2" name="楕円 1">
            <a:extLst>
              <a:ext uri="{FF2B5EF4-FFF2-40B4-BE49-F238E27FC236}">
                <a16:creationId xmlns:a16="http://schemas.microsoft.com/office/drawing/2014/main" id="{52AB4E41-304C-1E62-B3E4-7D7F9AD616EB}"/>
              </a:ext>
            </a:extLst>
          </p:cNvPr>
          <p:cNvSpPr/>
          <p:nvPr/>
        </p:nvSpPr>
        <p:spPr>
          <a:xfrm>
            <a:off x="2246309" y="2770564"/>
            <a:ext cx="4857875" cy="1842275"/>
          </a:xfrm>
          <a:prstGeom prst="ellipse">
            <a:avLst/>
          </a:prstGeom>
          <a:noFill/>
          <a:ln w="123825">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719893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0C8FC2F-8815-8F77-0EB1-4885C5B34DB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1">
            <a:extLst>
              <a:ext uri="{FF2B5EF4-FFF2-40B4-BE49-F238E27FC236}">
                <a16:creationId xmlns:a16="http://schemas.microsoft.com/office/drawing/2014/main" id="{E7F3700C-B477-D9B1-29C3-68E9AD4D8EBF}"/>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クラスタリングの評価方法</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11" name="テキスト ボックス 10">
            <a:extLst>
              <a:ext uri="{FF2B5EF4-FFF2-40B4-BE49-F238E27FC236}">
                <a16:creationId xmlns:a16="http://schemas.microsoft.com/office/drawing/2014/main" id="{7BAC11FC-E820-5D0F-BB72-FB8D2A9B7279}"/>
              </a:ext>
            </a:extLst>
          </p:cNvPr>
          <p:cNvSpPr txBox="1"/>
          <p:nvPr/>
        </p:nvSpPr>
        <p:spPr>
          <a:xfrm>
            <a:off x="8181870" y="2770564"/>
            <a:ext cx="3011994" cy="3046988"/>
          </a:xfrm>
          <a:prstGeom prst="rect">
            <a:avLst/>
          </a:prstGeom>
          <a:noFill/>
        </p:spPr>
        <p:txBody>
          <a:bodyPr wrap="square">
            <a:spAutoFit/>
          </a:bodyPr>
          <a:lstStyle/>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正解率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適合率</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ja-JP" altLang="en-US"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rPr>
              <a:t>再現率 </a:t>
            </a:r>
            <a:endParaRPr lang="en-US" altLang="ja-JP" sz="4800" dirty="0">
              <a:solidFill>
                <a:schemeClr val="bg1">
                  <a:lumMod val="75000"/>
                </a:schemeClr>
              </a:solidFill>
              <a:latin typeface="UD デジタル 教科書体 NK-B" panose="02020700000000000000" pitchFamily="18" charset="-128"/>
              <a:ea typeface="UD デジタル 教科書体 NK-B" panose="02020700000000000000" pitchFamily="18" charset="-128"/>
            </a:endParaRPr>
          </a:p>
          <a:p>
            <a:pPr algn="l">
              <a:buFont typeface="Arial" panose="020B0604020202020204" pitchFamily="34" charset="0"/>
              <a:buChar char="•"/>
            </a:pPr>
            <a:r>
              <a:rPr lang="en-US" altLang="ja-JP" sz="4800" dirty="0">
                <a:latin typeface="UD デジタル 教科書体 NK-B" panose="02020700000000000000" pitchFamily="18" charset="-128"/>
                <a:ea typeface="UD デジタル 教科書体 NK-B" panose="02020700000000000000" pitchFamily="18" charset="-128"/>
              </a:rPr>
              <a:t>F</a:t>
            </a:r>
            <a:r>
              <a:rPr lang="ja-JP" altLang="en-US" sz="4800" dirty="0">
                <a:latin typeface="UD デジタル 教科書体 NK-B" panose="02020700000000000000" pitchFamily="18" charset="-128"/>
                <a:ea typeface="UD デジタル 教科書体 NK-B" panose="02020700000000000000" pitchFamily="18" charset="-128"/>
              </a:rPr>
              <a:t>値 </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E9E6E114-0416-FE1C-0903-0C253577CDFE}"/>
                  </a:ext>
                </a:extLst>
              </p:cNvPr>
              <p:cNvSpPr txBox="1"/>
              <p:nvPr/>
            </p:nvSpPr>
            <p:spPr>
              <a:xfrm>
                <a:off x="783771" y="3256725"/>
                <a:ext cx="6654520" cy="16635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sz="4800" b="0" i="1" kern="100" smtClean="0">
                          <a:solidFill>
                            <a:srgbClr val="000000"/>
                          </a:solidFill>
                          <a:latin typeface="Cambria Math" panose="02040503050406030204" pitchFamily="18" charset="0"/>
                          <a:ea typeface="UD デジタル 教科書体 NK-B" panose="02020700000000000000" pitchFamily="18" charset="-128"/>
                        </a:rPr>
                        <m:t>𝐹</m:t>
                      </m:r>
                      <m:r>
                        <a:rPr lang="en-US" altLang="ja-JP" sz="4800" b="0" i="1" kern="100" baseline="-25000" smtClean="0">
                          <a:solidFill>
                            <a:srgbClr val="000000"/>
                          </a:solidFill>
                          <a:latin typeface="Cambria Math" panose="02040503050406030204" pitchFamily="18" charset="0"/>
                          <a:ea typeface="UD デジタル 教科書体 NK-B" panose="02020700000000000000" pitchFamily="18" charset="-128"/>
                        </a:rPr>
                        <m:t>1</m:t>
                      </m:r>
                      <m:r>
                        <a:rPr lang="en-US" altLang="ja-JP" sz="4800" b="0" i="1" kern="100" smtClean="0">
                          <a:solidFill>
                            <a:srgbClr val="000000"/>
                          </a:solidFill>
                          <a:latin typeface="Cambria Math" panose="02040503050406030204" pitchFamily="18" charset="0"/>
                          <a:ea typeface="UD デジタル 教科書体 NK-B" panose="02020700000000000000" pitchFamily="18" charset="-128"/>
                        </a:rPr>
                        <m:t>=</m:t>
                      </m:r>
                      <m:f>
                        <m:fPr>
                          <m:ctrlPr>
                            <a:rPr lang="ja-JP" altLang="ja-JP" sz="4800" i="1" kern="100" smtClean="0">
                              <a:solidFill>
                                <a:srgbClr val="000000"/>
                              </a:solidFill>
                              <a:latin typeface="Cambria Math" panose="02040503050406030204" pitchFamily="18" charset="0"/>
                              <a:ea typeface="UD デジタル 教科書体 NK-B" panose="02020700000000000000" pitchFamily="18" charset="-128"/>
                            </a:rPr>
                          </m:ctrlPr>
                        </m:fPr>
                        <m:num>
                          <m:r>
                            <a:rPr lang="ja-JP" altLang="en-US" sz="4800" i="1" kern="100">
                              <a:solidFill>
                                <a:srgbClr val="000000"/>
                              </a:solidFill>
                              <a:latin typeface="Cambria Math" panose="02040503050406030204" pitchFamily="18" charset="0"/>
                              <a:ea typeface="UD デジタル 教科書体 NK-B" panose="02020700000000000000" pitchFamily="18" charset="-128"/>
                            </a:rPr>
                            <m:t>２</m:t>
                          </m:r>
                          <m:r>
                            <a:rPr lang="ja-JP" altLang="en-US" sz="4800" i="1" kern="100">
                              <a:solidFill>
                                <a:srgbClr val="000000"/>
                              </a:solidFill>
                              <a:latin typeface="Cambria Math" panose="02040503050406030204" pitchFamily="18" charset="0"/>
                              <a:ea typeface="UD デジタル 教科書体 NK-B" panose="02020700000000000000" pitchFamily="18" charset="-128"/>
                            </a:rPr>
                            <m:t>∙</m:t>
                          </m:r>
                          <m:r>
                            <a:rPr lang="ja-JP" altLang="en-US" sz="4800" i="1" kern="100">
                              <a:solidFill>
                                <a:srgbClr val="000000"/>
                              </a:solidFill>
                              <a:latin typeface="Cambria Math" panose="02040503050406030204" pitchFamily="18" charset="0"/>
                              <a:ea typeface="UD デジタル 教科書体 NK-B" panose="02020700000000000000" pitchFamily="18" charset="-128"/>
                            </a:rPr>
                            <m:t>適合率</m:t>
                          </m:r>
                          <m:r>
                            <a:rPr lang="ja-JP" altLang="en-US" sz="4800" i="1" kern="100">
                              <a:solidFill>
                                <a:srgbClr val="000000"/>
                              </a:solidFill>
                              <a:latin typeface="Cambria Math" panose="02040503050406030204" pitchFamily="18" charset="0"/>
                              <a:ea typeface="UD デジタル 教科書体 NK-B" panose="02020700000000000000" pitchFamily="18" charset="-128"/>
                            </a:rPr>
                            <m:t>∙</m:t>
                          </m:r>
                          <m:r>
                            <a:rPr lang="ja-JP" altLang="en-US" sz="4800" i="1" kern="100" smtClean="0">
                              <a:solidFill>
                                <a:srgbClr val="000000"/>
                              </a:solidFill>
                              <a:latin typeface="Cambria Math" panose="02040503050406030204" pitchFamily="18" charset="0"/>
                              <a:ea typeface="UD デジタル 教科書体 NK-B" panose="02020700000000000000" pitchFamily="18" charset="-128"/>
                            </a:rPr>
                            <m:t>再現率</m:t>
                          </m:r>
                        </m:num>
                        <m:den>
                          <m:r>
                            <a:rPr lang="ja-JP" altLang="en-US" sz="4800" i="1" kern="100">
                              <a:solidFill>
                                <a:srgbClr val="000000"/>
                              </a:solidFill>
                              <a:latin typeface="Cambria Math" panose="02040503050406030204" pitchFamily="18" charset="0"/>
                              <a:ea typeface="UD デジタル 教科書体 NK-B" panose="02020700000000000000" pitchFamily="18" charset="-128"/>
                            </a:rPr>
                            <m:t>適合率＋再現率</m:t>
                          </m:r>
                        </m:den>
                      </m:f>
                    </m:oMath>
                  </m:oMathPara>
                </a14:m>
                <a:endParaRPr lang="ja-JP" altLang="en-US" sz="4800" dirty="0"/>
              </a:p>
            </p:txBody>
          </p:sp>
        </mc:Choice>
        <mc:Fallback xmlns="">
          <p:sp>
            <p:nvSpPr>
              <p:cNvPr id="5" name="テキスト ボックス 4">
                <a:extLst>
                  <a:ext uri="{FF2B5EF4-FFF2-40B4-BE49-F238E27FC236}">
                    <a16:creationId xmlns:a16="http://schemas.microsoft.com/office/drawing/2014/main" id="{E9E6E114-0416-FE1C-0903-0C253577CDFE}"/>
                  </a:ext>
                </a:extLst>
              </p:cNvPr>
              <p:cNvSpPr txBox="1">
                <a:spLocks noRot="1" noChangeAspect="1" noMove="1" noResize="1" noEditPoints="1" noAdjustHandles="1" noChangeArrowheads="1" noChangeShapeType="1" noTextEdit="1"/>
              </p:cNvSpPr>
              <p:nvPr/>
            </p:nvSpPr>
            <p:spPr>
              <a:xfrm>
                <a:off x="783771" y="3256725"/>
                <a:ext cx="6654520" cy="1663597"/>
              </a:xfrm>
              <a:prstGeom prst="rect">
                <a:avLst/>
              </a:prstGeom>
              <a:blipFill>
                <a:blip r:embed="rId2"/>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36012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9CF27995-B460-884A-8E6A-D926040731CF}"/>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40140193-1591-03E4-A952-FBA87D4E68A6}"/>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データセットの作成</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7" name="テキスト ボックス 6">
            <a:extLst>
              <a:ext uri="{FF2B5EF4-FFF2-40B4-BE49-F238E27FC236}">
                <a16:creationId xmlns:a16="http://schemas.microsoft.com/office/drawing/2014/main" id="{88C79ED3-F5CC-D43B-5A57-A4DF883E042D}"/>
              </a:ext>
            </a:extLst>
          </p:cNvPr>
          <p:cNvSpPr txBox="1"/>
          <p:nvPr/>
        </p:nvSpPr>
        <p:spPr>
          <a:xfrm>
            <a:off x="1453443" y="1807442"/>
            <a:ext cx="9285114" cy="932178"/>
          </a:xfrm>
          <a:prstGeom prst="rect">
            <a:avLst/>
          </a:prstGeom>
          <a:noFill/>
        </p:spPr>
        <p:txBody>
          <a:bodyPr wrap="square">
            <a:spAutoFit/>
          </a:bodyPr>
          <a:lstStyle/>
          <a:p>
            <a:pPr algn="ctr">
              <a:lnSpc>
                <a:spcPct val="150000"/>
              </a:lnSpc>
            </a:pP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数学クイズ作成のためにアンケートを実施</a:t>
            </a:r>
          </a:p>
        </p:txBody>
      </p:sp>
      <p:sp>
        <p:nvSpPr>
          <p:cNvPr id="9" name="二等辺三角形 8">
            <a:extLst>
              <a:ext uri="{FF2B5EF4-FFF2-40B4-BE49-F238E27FC236}">
                <a16:creationId xmlns:a16="http://schemas.microsoft.com/office/drawing/2014/main" id="{98C2B162-7E06-7793-E813-B83C21E131DB}"/>
              </a:ext>
            </a:extLst>
          </p:cNvPr>
          <p:cNvSpPr/>
          <p:nvPr/>
        </p:nvSpPr>
        <p:spPr>
          <a:xfrm flipV="1">
            <a:off x="4714702" y="2906521"/>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10" name="テキスト ボックス 9">
            <a:extLst>
              <a:ext uri="{FF2B5EF4-FFF2-40B4-BE49-F238E27FC236}">
                <a16:creationId xmlns:a16="http://schemas.microsoft.com/office/drawing/2014/main" id="{CE34A575-2C27-237D-7832-C2C00A6ADEF2}"/>
              </a:ext>
            </a:extLst>
          </p:cNvPr>
          <p:cNvSpPr txBox="1"/>
          <p:nvPr/>
        </p:nvSpPr>
        <p:spPr>
          <a:xfrm>
            <a:off x="1453442" y="3505258"/>
            <a:ext cx="9285114" cy="932178"/>
          </a:xfrm>
          <a:prstGeom prst="rect">
            <a:avLst/>
          </a:prstGeom>
          <a:noFill/>
        </p:spPr>
        <p:txBody>
          <a:bodyPr wrap="square">
            <a:spAutoFit/>
          </a:bodyPr>
          <a:lstStyle/>
          <a:p>
            <a:pPr algn="ctr">
              <a:lnSpc>
                <a:spcPct val="150000"/>
              </a:lnSpc>
            </a:pPr>
            <a:r>
              <a:rPr kumimoji="1" lang="en-US" altLang="ja-JP" sz="4000" b="1" kern="1200" dirty="0">
                <a:effectLst/>
                <a:latin typeface="UD デジタル 教科書体 NK-B" panose="02020700000000000000" pitchFamily="18" charset="-128"/>
                <a:ea typeface="UD デジタル 教科書体 NK-B" panose="02020700000000000000" pitchFamily="18" charset="-128"/>
                <a:cs typeface="+mn-cs"/>
              </a:rPr>
              <a:t>10</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個の質問群で計 </a:t>
            </a:r>
            <a:r>
              <a:rPr kumimoji="1" lang="en-US" altLang="ja-JP" sz="4000" b="1" kern="1200" dirty="0">
                <a:effectLst/>
                <a:latin typeface="UD デジタル 教科書体 NK-B" panose="02020700000000000000" pitchFamily="18" charset="-128"/>
                <a:ea typeface="UD デジタル 教科書体 NK-B" panose="02020700000000000000" pitchFamily="18" charset="-128"/>
                <a:cs typeface="+mn-cs"/>
              </a:rPr>
              <a:t>140</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個の質問の作成</a:t>
            </a:r>
          </a:p>
        </p:txBody>
      </p:sp>
      <p:sp>
        <p:nvSpPr>
          <p:cNvPr id="11" name="二等辺三角形 10">
            <a:extLst>
              <a:ext uri="{FF2B5EF4-FFF2-40B4-BE49-F238E27FC236}">
                <a16:creationId xmlns:a16="http://schemas.microsoft.com/office/drawing/2014/main" id="{D296B984-0F24-8B1D-FA25-B35D6780310F}"/>
              </a:ext>
            </a:extLst>
          </p:cNvPr>
          <p:cNvSpPr/>
          <p:nvPr/>
        </p:nvSpPr>
        <p:spPr>
          <a:xfrm flipV="1">
            <a:off x="4714702" y="4604337"/>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12" name="テキスト ボックス 11">
            <a:extLst>
              <a:ext uri="{FF2B5EF4-FFF2-40B4-BE49-F238E27FC236}">
                <a16:creationId xmlns:a16="http://schemas.microsoft.com/office/drawing/2014/main" id="{F9E95668-AC4A-1F70-CB89-419153D55911}"/>
              </a:ext>
            </a:extLst>
          </p:cNvPr>
          <p:cNvSpPr txBox="1"/>
          <p:nvPr/>
        </p:nvSpPr>
        <p:spPr>
          <a:xfrm>
            <a:off x="1453442" y="5203074"/>
            <a:ext cx="9285114" cy="932178"/>
          </a:xfrm>
          <a:prstGeom prst="rect">
            <a:avLst/>
          </a:prstGeom>
          <a:noFill/>
        </p:spPr>
        <p:txBody>
          <a:bodyPr wrap="square">
            <a:spAutoFit/>
          </a:bodyPr>
          <a:lstStyle/>
          <a:p>
            <a:pPr algn="ctr">
              <a:lnSpc>
                <a:spcPct val="150000"/>
              </a:lnSpc>
            </a:pP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トレーニングとテストデータに分割</a:t>
            </a:r>
          </a:p>
        </p:txBody>
      </p:sp>
    </p:spTree>
    <p:extLst>
      <p:ext uri="{BB962C8B-B14F-4D97-AF65-F5344CB8AC3E}">
        <p14:creationId xmlns:p14="http://schemas.microsoft.com/office/powerpoint/2010/main" val="2508991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46CAA437-EEC9-BADE-5F12-716CCFD4C211}"/>
              </a:ext>
            </a:extLst>
          </p:cNvPr>
          <p:cNvGraphicFramePr>
            <a:graphicFrameLocks noGrp="1"/>
          </p:cNvGraphicFramePr>
          <p:nvPr>
            <p:extLst>
              <p:ext uri="{D42A27DB-BD31-4B8C-83A1-F6EECF244321}">
                <p14:modId xmlns:p14="http://schemas.microsoft.com/office/powerpoint/2010/main" val="1137346800"/>
              </p:ext>
            </p:extLst>
          </p:nvPr>
        </p:nvGraphicFramePr>
        <p:xfrm>
          <a:off x="0" y="1296237"/>
          <a:ext cx="12191999" cy="5561761"/>
        </p:xfrm>
        <a:graphic>
          <a:graphicData uri="http://schemas.openxmlformats.org/drawingml/2006/table">
            <a:tbl>
              <a:tblPr>
                <a:tableStyleId>{5940675A-B579-460E-94D1-54222C63F5DA}</a:tableStyleId>
              </a:tblPr>
              <a:tblGrid>
                <a:gridCol w="2368231">
                  <a:extLst>
                    <a:ext uri="{9D8B030D-6E8A-4147-A177-3AD203B41FA5}">
                      <a16:colId xmlns:a16="http://schemas.microsoft.com/office/drawing/2014/main" val="3333913267"/>
                    </a:ext>
                  </a:extLst>
                </a:gridCol>
                <a:gridCol w="2455942">
                  <a:extLst>
                    <a:ext uri="{9D8B030D-6E8A-4147-A177-3AD203B41FA5}">
                      <a16:colId xmlns:a16="http://schemas.microsoft.com/office/drawing/2014/main" val="2024773811"/>
                    </a:ext>
                  </a:extLst>
                </a:gridCol>
                <a:gridCol w="2455942">
                  <a:extLst>
                    <a:ext uri="{9D8B030D-6E8A-4147-A177-3AD203B41FA5}">
                      <a16:colId xmlns:a16="http://schemas.microsoft.com/office/drawing/2014/main" val="24046353"/>
                    </a:ext>
                  </a:extLst>
                </a:gridCol>
                <a:gridCol w="2455942">
                  <a:extLst>
                    <a:ext uri="{9D8B030D-6E8A-4147-A177-3AD203B41FA5}">
                      <a16:colId xmlns:a16="http://schemas.microsoft.com/office/drawing/2014/main" val="2918986031"/>
                    </a:ext>
                  </a:extLst>
                </a:gridCol>
                <a:gridCol w="2455942">
                  <a:extLst>
                    <a:ext uri="{9D8B030D-6E8A-4147-A177-3AD203B41FA5}">
                      <a16:colId xmlns:a16="http://schemas.microsoft.com/office/drawing/2014/main" val="1007614284"/>
                    </a:ext>
                  </a:extLst>
                </a:gridCol>
              </a:tblGrid>
              <a:tr h="1126987">
                <a:tc>
                  <a:txBody>
                    <a:bodyPr/>
                    <a:lstStyle/>
                    <a:p>
                      <a:pPr algn="ctr" fontAlgn="ct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　</a:t>
                      </a:r>
                      <a:endParaRPr lang="ja-JP" alt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正解率</a:t>
                      </a:r>
                      <a:endParaRPr lang="ja-JP" alt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適合率</a:t>
                      </a: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a:t>
                      </a:r>
                      <a:r>
                        <a:rPr lang="en-US" sz="2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再現率</a:t>
                      </a: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a:t>
                      </a:r>
                      <a:r>
                        <a:rPr lang="en-US" sz="2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en-US" sz="2800" u="none" strike="noStrike" dirty="0">
                          <a:effectLst/>
                          <a:latin typeface="UD デジタル 教科書体 NK-B" panose="02020700000000000000" pitchFamily="18" charset="-128"/>
                          <a:ea typeface="UD デジタル 教科書体 NK-B" panose="02020700000000000000" pitchFamily="18" charset="-128"/>
                        </a:rPr>
                        <a:t>F1</a:t>
                      </a: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値</a:t>
                      </a: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a:t>
                      </a:r>
                      <a:r>
                        <a:rPr lang="en-US" sz="2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extLst>
                  <a:ext uri="{0D108BD9-81ED-4DB2-BD59-A6C34878D82A}">
                    <a16:rowId xmlns:a16="http://schemas.microsoft.com/office/drawing/2014/main" val="1890861726"/>
                  </a:ext>
                </a:extLst>
              </a:tr>
              <a:tr h="1126987">
                <a:tc>
                  <a:txBody>
                    <a:bodyPr/>
                    <a:lstStyle/>
                    <a:p>
                      <a:pPr algn="ctr" fontAlgn="ctr"/>
                      <a:r>
                        <a:rPr lang="en-US" sz="2800" u="none" strike="noStrike">
                          <a:effectLst/>
                          <a:latin typeface="UD デジタル 教科書体 NK-B" panose="02020700000000000000" pitchFamily="18" charset="-128"/>
                          <a:ea typeface="UD デジタル 教科書体 NK-B" panose="02020700000000000000" pitchFamily="18" charset="-128"/>
                        </a:rPr>
                        <a:t>SVM</a:t>
                      </a:r>
                      <a:endParaRPr lang="en-US"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0.97143</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0.96667</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0.97500</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0.96571</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1077228806"/>
                  </a:ext>
                </a:extLst>
              </a:tr>
              <a:tr h="1112073">
                <a:tc>
                  <a:txBody>
                    <a:bodyPr/>
                    <a:lstStyle/>
                    <a:p>
                      <a:pPr algn="ctr" fontAlgn="ctr"/>
                      <a:r>
                        <a:rPr lang="en-US" sz="2800" u="none" strike="noStrike">
                          <a:effectLst/>
                          <a:latin typeface="UD デジタル 教科書体 NK-B" panose="02020700000000000000" pitchFamily="18" charset="-128"/>
                          <a:ea typeface="UD デジタル 教科書体 NK-B" panose="02020700000000000000" pitchFamily="18" charset="-128"/>
                        </a:rPr>
                        <a:t>Naive Bayes</a:t>
                      </a:r>
                      <a:endParaRPr lang="en-US"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0.88571</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0.90167</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0.89667</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0.88127</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3376440437"/>
                  </a:ext>
                </a:extLst>
              </a:tr>
              <a:tr h="1083641">
                <a:tc>
                  <a:txBody>
                    <a:bodyPr/>
                    <a:lstStyle/>
                    <a:p>
                      <a:pPr algn="ctr" fontAlgn="ctr"/>
                      <a:r>
                        <a:rPr lang="en-US" sz="2800" u="none" strike="noStrike">
                          <a:effectLst/>
                          <a:latin typeface="UD デジタル 教科書体 NK-B" panose="02020700000000000000" pitchFamily="18" charset="-128"/>
                          <a:ea typeface="UD デジタル 教科書体 NK-B" panose="02020700000000000000" pitchFamily="18" charset="-128"/>
                        </a:rPr>
                        <a:t>K</a:t>
                      </a:r>
                      <a:r>
                        <a:rPr lang="ja-JP" altLang="en-US" sz="2800" u="none" strike="noStrike">
                          <a:effectLst/>
                          <a:latin typeface="UD デジタル 教科書体 NK-B" panose="02020700000000000000" pitchFamily="18" charset="-128"/>
                          <a:ea typeface="UD デジタル 教科書体 NK-B" panose="02020700000000000000" pitchFamily="18" charset="-128"/>
                        </a:rPr>
                        <a:t>近傍</a:t>
                      </a:r>
                      <a:endParaRPr lang="ja-JP" altLang="en-US"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0.97143</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0.97500</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0.97500</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0.97143</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733465633"/>
                  </a:ext>
                </a:extLst>
              </a:tr>
              <a:tr h="1112073">
                <a:tc>
                  <a:txBody>
                    <a:bodyPr/>
                    <a:lstStyle/>
                    <a:p>
                      <a:pPr algn="ctr" fontAlgn="ctr"/>
                      <a:r>
                        <a:rPr lang="en-US" sz="2800" u="none" strike="noStrike" dirty="0">
                          <a:effectLst/>
                          <a:latin typeface="UD デジタル 教科書体 NK-B" panose="02020700000000000000" pitchFamily="18" charset="-128"/>
                          <a:ea typeface="UD デジタル 教科書体 NK-B" panose="02020700000000000000" pitchFamily="18" charset="-128"/>
                        </a:rPr>
                        <a:t>Watson Assistant</a:t>
                      </a:r>
                      <a:endParaRPr 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0.94286</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0.95000</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0.94167</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0.93662</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3279823073"/>
                  </a:ext>
                </a:extLst>
              </a:tr>
            </a:tbl>
          </a:graphicData>
        </a:graphic>
      </p:graphicFrame>
      <p:sp>
        <p:nvSpPr>
          <p:cNvPr id="8" name="テキスト ボックス 7">
            <a:extLst>
              <a:ext uri="{FF2B5EF4-FFF2-40B4-BE49-F238E27FC236}">
                <a16:creationId xmlns:a16="http://schemas.microsoft.com/office/drawing/2014/main" id="{49C41A08-A5E2-29AC-38C3-5F532174A111}"/>
              </a:ext>
            </a:extLst>
          </p:cNvPr>
          <p:cNvSpPr txBox="1"/>
          <p:nvPr/>
        </p:nvSpPr>
        <p:spPr>
          <a:xfrm>
            <a:off x="1858507" y="150126"/>
            <a:ext cx="8474985" cy="932178"/>
          </a:xfrm>
          <a:prstGeom prst="rect">
            <a:avLst/>
          </a:prstGeom>
          <a:noFill/>
        </p:spPr>
        <p:txBody>
          <a:bodyPr wrap="square">
            <a:spAutoFit/>
          </a:bodyPr>
          <a:lstStyle/>
          <a:p>
            <a:pPr algn="ctr">
              <a:lnSpc>
                <a:spcPct val="150000"/>
              </a:lnSpc>
            </a:pPr>
            <a:r>
              <a:rPr kumimoji="1" lang="ja-JP" altLang="en-US" sz="4000" b="1" kern="1200" dirty="0">
                <a:effectLst/>
                <a:latin typeface="UD デジタル 教科書体 NK-B" panose="02020700000000000000" pitchFamily="18" charset="-128"/>
                <a:ea typeface="UD デジタル 教科書体 NK-B" panose="02020700000000000000" pitchFamily="18" charset="-128"/>
              </a:rPr>
              <a:t>表</a:t>
            </a:r>
            <a:r>
              <a:rPr lang="en-US" altLang="ja-JP" sz="4000" b="1" dirty="0">
                <a:latin typeface="UD デジタル 教科書体 NK-B" panose="02020700000000000000" pitchFamily="18" charset="-128"/>
                <a:ea typeface="UD デジタル 教科書体 NK-B" panose="02020700000000000000" pitchFamily="18" charset="-128"/>
              </a:rPr>
              <a:t>1</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　各アルゴリズムの精度</a:t>
            </a:r>
          </a:p>
        </p:txBody>
      </p:sp>
    </p:spTree>
    <p:extLst>
      <p:ext uri="{BB962C8B-B14F-4D97-AF65-F5344CB8AC3E}">
        <p14:creationId xmlns:p14="http://schemas.microsoft.com/office/powerpoint/2010/main" val="14180519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46CAA437-EEC9-BADE-5F12-716CCFD4C211}"/>
              </a:ext>
            </a:extLst>
          </p:cNvPr>
          <p:cNvGraphicFramePr>
            <a:graphicFrameLocks noGrp="1"/>
          </p:cNvGraphicFramePr>
          <p:nvPr>
            <p:extLst>
              <p:ext uri="{D42A27DB-BD31-4B8C-83A1-F6EECF244321}">
                <p14:modId xmlns:p14="http://schemas.microsoft.com/office/powerpoint/2010/main" val="3040986057"/>
              </p:ext>
            </p:extLst>
          </p:nvPr>
        </p:nvGraphicFramePr>
        <p:xfrm>
          <a:off x="0" y="1296237"/>
          <a:ext cx="12191999" cy="5561761"/>
        </p:xfrm>
        <a:graphic>
          <a:graphicData uri="http://schemas.openxmlformats.org/drawingml/2006/table">
            <a:tbl>
              <a:tblPr>
                <a:tableStyleId>{5940675A-B579-460E-94D1-54222C63F5DA}</a:tableStyleId>
              </a:tblPr>
              <a:tblGrid>
                <a:gridCol w="2368231">
                  <a:extLst>
                    <a:ext uri="{9D8B030D-6E8A-4147-A177-3AD203B41FA5}">
                      <a16:colId xmlns:a16="http://schemas.microsoft.com/office/drawing/2014/main" val="3333913267"/>
                    </a:ext>
                  </a:extLst>
                </a:gridCol>
                <a:gridCol w="2455942">
                  <a:extLst>
                    <a:ext uri="{9D8B030D-6E8A-4147-A177-3AD203B41FA5}">
                      <a16:colId xmlns:a16="http://schemas.microsoft.com/office/drawing/2014/main" val="2024773811"/>
                    </a:ext>
                  </a:extLst>
                </a:gridCol>
                <a:gridCol w="2455942">
                  <a:extLst>
                    <a:ext uri="{9D8B030D-6E8A-4147-A177-3AD203B41FA5}">
                      <a16:colId xmlns:a16="http://schemas.microsoft.com/office/drawing/2014/main" val="24046353"/>
                    </a:ext>
                  </a:extLst>
                </a:gridCol>
                <a:gridCol w="2455942">
                  <a:extLst>
                    <a:ext uri="{9D8B030D-6E8A-4147-A177-3AD203B41FA5}">
                      <a16:colId xmlns:a16="http://schemas.microsoft.com/office/drawing/2014/main" val="2918986031"/>
                    </a:ext>
                  </a:extLst>
                </a:gridCol>
                <a:gridCol w="2455942">
                  <a:extLst>
                    <a:ext uri="{9D8B030D-6E8A-4147-A177-3AD203B41FA5}">
                      <a16:colId xmlns:a16="http://schemas.microsoft.com/office/drawing/2014/main" val="1007614284"/>
                    </a:ext>
                  </a:extLst>
                </a:gridCol>
              </a:tblGrid>
              <a:tr h="1126987">
                <a:tc>
                  <a:txBody>
                    <a:bodyPr/>
                    <a:lstStyle/>
                    <a:p>
                      <a:pPr algn="ctr" fontAlgn="ct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　</a:t>
                      </a:r>
                      <a:endParaRPr lang="ja-JP" alt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正解率</a:t>
                      </a:r>
                      <a:endParaRPr lang="ja-JP" alt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適合率</a:t>
                      </a: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a:t>
                      </a:r>
                      <a:r>
                        <a:rPr lang="en-US" sz="2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再現率</a:t>
                      </a: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a:t>
                      </a:r>
                      <a:r>
                        <a:rPr lang="en-US" sz="2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en-US" sz="2800" u="none" strike="noStrike" dirty="0">
                          <a:effectLst/>
                          <a:latin typeface="UD デジタル 教科書体 NK-B" panose="02020700000000000000" pitchFamily="18" charset="-128"/>
                          <a:ea typeface="UD デジタル 教科書体 NK-B" panose="02020700000000000000" pitchFamily="18" charset="-128"/>
                        </a:rPr>
                        <a:t>F1</a:t>
                      </a:r>
                      <a:r>
                        <a:rPr lang="ja-JP" altLang="en-US" sz="2800" u="none" strike="noStrike" dirty="0">
                          <a:effectLst/>
                          <a:latin typeface="UD デジタル 教科書体 NK-B" panose="02020700000000000000" pitchFamily="18" charset="-128"/>
                          <a:ea typeface="UD デジタル 教科書体 NK-B" panose="02020700000000000000" pitchFamily="18" charset="-128"/>
                        </a:rPr>
                        <a:t>値</a:t>
                      </a: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a:t>
                      </a:r>
                      <a:r>
                        <a:rPr lang="en-US" sz="2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extLst>
                  <a:ext uri="{0D108BD9-81ED-4DB2-BD59-A6C34878D82A}">
                    <a16:rowId xmlns:a16="http://schemas.microsoft.com/office/drawing/2014/main" val="1890861726"/>
                  </a:ext>
                </a:extLst>
              </a:tr>
              <a:tr h="1126987">
                <a:tc>
                  <a:txBody>
                    <a:bodyPr/>
                    <a:lstStyle/>
                    <a:p>
                      <a:pPr algn="ctr" fontAlgn="ctr"/>
                      <a:r>
                        <a:rPr lang="en-US" sz="4000" u="none" strike="noStrike" dirty="0">
                          <a:effectLst/>
                          <a:latin typeface="UD デジタル 教科書体 NK-B" panose="02020700000000000000" pitchFamily="18" charset="-128"/>
                          <a:ea typeface="UD デジタル 教科書体 NK-B" panose="02020700000000000000" pitchFamily="18" charset="-128"/>
                        </a:rPr>
                        <a:t>SVM</a:t>
                      </a:r>
                      <a:endParaRPr lang="en-US"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4000" u="none" strike="noStrike" dirty="0">
                          <a:effectLst/>
                          <a:latin typeface="UD デジタル 教科書体 NK-B" panose="02020700000000000000" pitchFamily="18" charset="-128"/>
                          <a:ea typeface="UD デジタル 教科書体 NK-B" panose="02020700000000000000" pitchFamily="18" charset="-128"/>
                        </a:rPr>
                        <a:t>0.97143</a:t>
                      </a:r>
                      <a:endParaRPr lang="en-US" altLang="ja-JP"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4000" u="none" strike="noStrike" dirty="0">
                          <a:effectLst/>
                          <a:latin typeface="UD デジタル 教科書体 NK-B" panose="02020700000000000000" pitchFamily="18" charset="-128"/>
                          <a:ea typeface="UD デジタル 教科書体 NK-B" panose="02020700000000000000" pitchFamily="18" charset="-128"/>
                        </a:rPr>
                        <a:t>0.96667</a:t>
                      </a:r>
                      <a:endParaRPr lang="en-US" altLang="ja-JP"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4000" u="none" strike="noStrike" dirty="0">
                          <a:effectLst/>
                          <a:latin typeface="UD デジタル 教科書体 NK-B" panose="02020700000000000000" pitchFamily="18" charset="-128"/>
                          <a:ea typeface="UD デジタル 教科書体 NK-B" panose="02020700000000000000" pitchFamily="18" charset="-128"/>
                        </a:rPr>
                        <a:t>0.97500</a:t>
                      </a:r>
                      <a:endParaRPr lang="en-US" altLang="ja-JP"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4000" u="none" strike="noStrike" dirty="0">
                          <a:effectLst/>
                          <a:latin typeface="UD デジタル 教科書体 NK-B" panose="02020700000000000000" pitchFamily="18" charset="-128"/>
                          <a:ea typeface="UD デジタル 教科書体 NK-B" panose="02020700000000000000" pitchFamily="18" charset="-128"/>
                        </a:rPr>
                        <a:t>0.96571</a:t>
                      </a:r>
                      <a:endParaRPr lang="en-US" altLang="ja-JP"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extLst>
                  <a:ext uri="{0D108BD9-81ED-4DB2-BD59-A6C34878D82A}">
                    <a16:rowId xmlns:a16="http://schemas.microsoft.com/office/drawing/2014/main" val="1077228806"/>
                  </a:ext>
                </a:extLst>
              </a:tr>
              <a:tr h="1112073">
                <a:tc>
                  <a:txBody>
                    <a:bodyPr/>
                    <a:lstStyle/>
                    <a:p>
                      <a:pPr algn="ctr" fontAlgn="ctr"/>
                      <a:r>
                        <a:rPr lang="en-US" sz="2800" u="none" strike="noStrike">
                          <a:effectLst/>
                          <a:latin typeface="UD デジタル 教科書体 NK-B" panose="02020700000000000000" pitchFamily="18" charset="-128"/>
                          <a:ea typeface="UD デジタル 教科書体 NK-B" panose="02020700000000000000" pitchFamily="18" charset="-128"/>
                        </a:rPr>
                        <a:t>Naive Bayes</a:t>
                      </a:r>
                      <a:endParaRPr lang="en-US"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0.88571</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0.90167</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0.89667</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0.88127</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3376440437"/>
                  </a:ext>
                </a:extLst>
              </a:tr>
              <a:tr h="1083641">
                <a:tc>
                  <a:txBody>
                    <a:bodyPr/>
                    <a:lstStyle/>
                    <a:p>
                      <a:pPr algn="ctr" fontAlgn="ctr"/>
                      <a:r>
                        <a:rPr lang="en-US" sz="4000" u="none" strike="noStrike" dirty="0">
                          <a:effectLst/>
                          <a:latin typeface="UD デジタル 教科書体 NK-B" panose="02020700000000000000" pitchFamily="18" charset="-128"/>
                          <a:ea typeface="UD デジタル 教科書体 NK-B" panose="02020700000000000000" pitchFamily="18" charset="-128"/>
                        </a:rPr>
                        <a:t>K</a:t>
                      </a:r>
                      <a:r>
                        <a:rPr lang="ja-JP" altLang="en-US" sz="4000" u="none" strike="noStrike" dirty="0">
                          <a:effectLst/>
                          <a:latin typeface="UD デジタル 教科書体 NK-B" panose="02020700000000000000" pitchFamily="18" charset="-128"/>
                          <a:ea typeface="UD デジタル 教科書体 NK-B" panose="02020700000000000000" pitchFamily="18" charset="-128"/>
                        </a:rPr>
                        <a:t>近傍</a:t>
                      </a:r>
                      <a:endParaRPr lang="ja-JP" altLang="en-US"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4000" u="none" strike="noStrike" dirty="0">
                          <a:effectLst/>
                          <a:latin typeface="UD デジタル 教科書体 NK-B" panose="02020700000000000000" pitchFamily="18" charset="-128"/>
                          <a:ea typeface="UD デジタル 教科書体 NK-B" panose="02020700000000000000" pitchFamily="18" charset="-128"/>
                        </a:rPr>
                        <a:t>0.97143</a:t>
                      </a:r>
                      <a:endParaRPr lang="en-US" altLang="ja-JP"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4000" u="none" strike="noStrike" dirty="0">
                          <a:effectLst/>
                          <a:latin typeface="UD デジタル 教科書体 NK-B" panose="02020700000000000000" pitchFamily="18" charset="-128"/>
                          <a:ea typeface="UD デジタル 教科書体 NK-B" panose="02020700000000000000" pitchFamily="18" charset="-128"/>
                        </a:rPr>
                        <a:t>0.97500</a:t>
                      </a:r>
                      <a:endParaRPr lang="en-US" altLang="ja-JP"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4000" u="none" strike="noStrike" dirty="0">
                          <a:effectLst/>
                          <a:latin typeface="UD デジタル 教科書体 NK-B" panose="02020700000000000000" pitchFamily="18" charset="-128"/>
                          <a:ea typeface="UD デジタル 教科書体 NK-B" panose="02020700000000000000" pitchFamily="18" charset="-128"/>
                        </a:rPr>
                        <a:t>0.97500</a:t>
                      </a:r>
                      <a:endParaRPr lang="en-US" altLang="ja-JP"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4000" u="none" strike="noStrike" dirty="0">
                          <a:effectLst/>
                          <a:latin typeface="UD デジタル 教科書体 NK-B" panose="02020700000000000000" pitchFamily="18" charset="-128"/>
                          <a:ea typeface="UD デジタル 教科書体 NK-B" panose="02020700000000000000" pitchFamily="18" charset="-128"/>
                        </a:rPr>
                        <a:t>0.97143</a:t>
                      </a:r>
                      <a:endParaRPr lang="en-US" altLang="ja-JP" sz="4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extLst>
                  <a:ext uri="{0D108BD9-81ED-4DB2-BD59-A6C34878D82A}">
                    <a16:rowId xmlns:a16="http://schemas.microsoft.com/office/drawing/2014/main" val="733465633"/>
                  </a:ext>
                </a:extLst>
              </a:tr>
              <a:tr h="1112073">
                <a:tc>
                  <a:txBody>
                    <a:bodyPr/>
                    <a:lstStyle/>
                    <a:p>
                      <a:pPr algn="ctr" fontAlgn="ctr"/>
                      <a:r>
                        <a:rPr lang="en-US" sz="2800" u="none" strike="noStrike" dirty="0">
                          <a:effectLst/>
                          <a:latin typeface="UD デジタル 教科書体 NK-B" panose="02020700000000000000" pitchFamily="18" charset="-128"/>
                          <a:ea typeface="UD デジタル 教科書体 NK-B" panose="02020700000000000000" pitchFamily="18" charset="-128"/>
                        </a:rPr>
                        <a:t>Watson Assistant</a:t>
                      </a:r>
                      <a:endParaRPr lang="en-US"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0.94286</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0.95000</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0.94167</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0.93662</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3279823073"/>
                  </a:ext>
                </a:extLst>
              </a:tr>
            </a:tbl>
          </a:graphicData>
        </a:graphic>
      </p:graphicFrame>
      <p:sp>
        <p:nvSpPr>
          <p:cNvPr id="8" name="テキスト ボックス 7">
            <a:extLst>
              <a:ext uri="{FF2B5EF4-FFF2-40B4-BE49-F238E27FC236}">
                <a16:creationId xmlns:a16="http://schemas.microsoft.com/office/drawing/2014/main" id="{49C41A08-A5E2-29AC-38C3-5F532174A111}"/>
              </a:ext>
            </a:extLst>
          </p:cNvPr>
          <p:cNvSpPr txBox="1"/>
          <p:nvPr/>
        </p:nvSpPr>
        <p:spPr>
          <a:xfrm>
            <a:off x="1858507" y="150126"/>
            <a:ext cx="8474985" cy="932178"/>
          </a:xfrm>
          <a:prstGeom prst="rect">
            <a:avLst/>
          </a:prstGeom>
          <a:noFill/>
        </p:spPr>
        <p:txBody>
          <a:bodyPr wrap="square">
            <a:spAutoFit/>
          </a:bodyPr>
          <a:lstStyle/>
          <a:p>
            <a:pPr algn="ctr">
              <a:lnSpc>
                <a:spcPct val="150000"/>
              </a:lnSpc>
            </a:pPr>
            <a:r>
              <a:rPr kumimoji="1" lang="ja-JP" altLang="en-US" sz="4000" b="1" kern="1200" dirty="0">
                <a:effectLst/>
                <a:latin typeface="UD デジタル 教科書体 NK-B" panose="02020700000000000000" pitchFamily="18" charset="-128"/>
                <a:ea typeface="UD デジタル 教科書体 NK-B" panose="02020700000000000000" pitchFamily="18" charset="-128"/>
              </a:rPr>
              <a:t>表</a:t>
            </a:r>
            <a:r>
              <a:rPr lang="en-US" altLang="ja-JP" sz="4000" b="1" dirty="0">
                <a:latin typeface="UD デジタル 教科書体 NK-B" panose="02020700000000000000" pitchFamily="18" charset="-128"/>
                <a:ea typeface="UD デジタル 教科書体 NK-B" panose="02020700000000000000" pitchFamily="18" charset="-128"/>
              </a:rPr>
              <a:t>1</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　各アルゴリズムの精度</a:t>
            </a:r>
          </a:p>
        </p:txBody>
      </p:sp>
    </p:spTree>
    <p:extLst>
      <p:ext uri="{BB962C8B-B14F-4D97-AF65-F5344CB8AC3E}">
        <p14:creationId xmlns:p14="http://schemas.microsoft.com/office/powerpoint/2010/main" val="17882702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46CAA437-EEC9-BADE-5F12-716CCFD4C211}"/>
              </a:ext>
            </a:extLst>
          </p:cNvPr>
          <p:cNvGraphicFramePr>
            <a:graphicFrameLocks noGrp="1"/>
          </p:cNvGraphicFramePr>
          <p:nvPr>
            <p:extLst>
              <p:ext uri="{D42A27DB-BD31-4B8C-83A1-F6EECF244321}">
                <p14:modId xmlns:p14="http://schemas.microsoft.com/office/powerpoint/2010/main" val="1095806937"/>
              </p:ext>
            </p:extLst>
          </p:nvPr>
        </p:nvGraphicFramePr>
        <p:xfrm>
          <a:off x="0" y="1212933"/>
          <a:ext cx="6943412" cy="5743965"/>
        </p:xfrm>
        <a:graphic>
          <a:graphicData uri="http://schemas.openxmlformats.org/drawingml/2006/table">
            <a:tbl>
              <a:tblPr>
                <a:tableStyleId>{5940675A-B579-460E-94D1-54222C63F5DA}</a:tableStyleId>
              </a:tblPr>
              <a:tblGrid>
                <a:gridCol w="1348720">
                  <a:extLst>
                    <a:ext uri="{9D8B030D-6E8A-4147-A177-3AD203B41FA5}">
                      <a16:colId xmlns:a16="http://schemas.microsoft.com/office/drawing/2014/main" val="3333913267"/>
                    </a:ext>
                  </a:extLst>
                </a:gridCol>
                <a:gridCol w="1398673">
                  <a:extLst>
                    <a:ext uri="{9D8B030D-6E8A-4147-A177-3AD203B41FA5}">
                      <a16:colId xmlns:a16="http://schemas.microsoft.com/office/drawing/2014/main" val="2024773811"/>
                    </a:ext>
                  </a:extLst>
                </a:gridCol>
                <a:gridCol w="1398673">
                  <a:extLst>
                    <a:ext uri="{9D8B030D-6E8A-4147-A177-3AD203B41FA5}">
                      <a16:colId xmlns:a16="http://schemas.microsoft.com/office/drawing/2014/main" val="24046353"/>
                    </a:ext>
                  </a:extLst>
                </a:gridCol>
                <a:gridCol w="1398673">
                  <a:extLst>
                    <a:ext uri="{9D8B030D-6E8A-4147-A177-3AD203B41FA5}">
                      <a16:colId xmlns:a16="http://schemas.microsoft.com/office/drawing/2014/main" val="2918986031"/>
                    </a:ext>
                  </a:extLst>
                </a:gridCol>
                <a:gridCol w="1398673">
                  <a:extLst>
                    <a:ext uri="{9D8B030D-6E8A-4147-A177-3AD203B41FA5}">
                      <a16:colId xmlns:a16="http://schemas.microsoft.com/office/drawing/2014/main" val="1007614284"/>
                    </a:ext>
                  </a:extLst>
                </a:gridCol>
              </a:tblGrid>
              <a:tr h="1262421">
                <a:tc>
                  <a:txBody>
                    <a:bodyPr/>
                    <a:lstStyle/>
                    <a:p>
                      <a:pPr algn="ctr"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　</a:t>
                      </a:r>
                      <a:endParaRPr lang="ja-JP" alt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chemeClr val="bg1">
                        <a:lumMod val="75000"/>
                      </a:schemeClr>
                    </a:solidFill>
                  </a:tcPr>
                </a:tc>
                <a:tc>
                  <a:txBody>
                    <a:bodyPr/>
                    <a:lstStyle/>
                    <a:p>
                      <a:pPr algn="ctr"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正解率</a:t>
                      </a:r>
                      <a:endParaRPr lang="ja-JP" alt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chemeClr val="bg1">
                        <a:lumMod val="75000"/>
                      </a:schemeClr>
                    </a:solidFill>
                  </a:tcPr>
                </a:tc>
                <a:tc>
                  <a:txBody>
                    <a:bodyPr/>
                    <a:lstStyle/>
                    <a:p>
                      <a:pPr algn="ctr"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適合率</a:t>
                      </a: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a:t>
                      </a:r>
                      <a:r>
                        <a:rPr lang="en-US" sz="1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chemeClr val="bg1">
                        <a:lumMod val="75000"/>
                      </a:schemeClr>
                    </a:solidFill>
                  </a:tcPr>
                </a:tc>
                <a:tc>
                  <a:txBody>
                    <a:bodyPr/>
                    <a:lstStyle/>
                    <a:p>
                      <a:pPr algn="ctr"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再現率</a:t>
                      </a: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a:t>
                      </a:r>
                      <a:r>
                        <a:rPr lang="en-US" sz="1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chemeClr val="bg1">
                        <a:lumMod val="75000"/>
                      </a:schemeClr>
                    </a:solidFill>
                  </a:tcPr>
                </a:tc>
                <a:tc>
                  <a:txBody>
                    <a:bodyPr/>
                    <a:lstStyle/>
                    <a:p>
                      <a:pPr algn="ctr" fontAlgn="ctr"/>
                      <a:r>
                        <a:rPr lang="en-US" sz="1800" u="none" strike="noStrike" dirty="0">
                          <a:effectLst/>
                          <a:latin typeface="UD デジタル 教科書体 NK-B" panose="02020700000000000000" pitchFamily="18" charset="-128"/>
                          <a:ea typeface="UD デジタル 教科書体 NK-B" panose="02020700000000000000" pitchFamily="18" charset="-128"/>
                        </a:rPr>
                        <a:t>F1</a:t>
                      </a: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値</a:t>
                      </a: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a:t>
                      </a:r>
                      <a:r>
                        <a:rPr lang="en-US" sz="1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chemeClr val="bg1">
                        <a:lumMod val="75000"/>
                      </a:schemeClr>
                    </a:solidFill>
                  </a:tcPr>
                </a:tc>
                <a:extLst>
                  <a:ext uri="{0D108BD9-81ED-4DB2-BD59-A6C34878D82A}">
                    <a16:rowId xmlns:a16="http://schemas.microsoft.com/office/drawing/2014/main" val="1890861726"/>
                  </a:ext>
                </a:extLst>
              </a:tr>
              <a:tr h="1171605">
                <a:tc>
                  <a:txBody>
                    <a:bodyPr/>
                    <a:lstStyle/>
                    <a:p>
                      <a:pPr algn="ctr" fontAlgn="ctr"/>
                      <a:r>
                        <a:rPr lang="en-US" sz="2400" u="none" strike="noStrike" dirty="0">
                          <a:effectLst/>
                          <a:latin typeface="UD デジタル 教科書体 NK-B" panose="02020700000000000000" pitchFamily="18" charset="-128"/>
                          <a:ea typeface="UD デジタル 教科書体 NK-B" panose="02020700000000000000" pitchFamily="18" charset="-128"/>
                        </a:rPr>
                        <a:t>SVM</a:t>
                      </a:r>
                      <a:endParaRPr 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tc>
                  <a:txBody>
                    <a:bodyPr/>
                    <a:lstStyle/>
                    <a:p>
                      <a:pPr algn="ctr" fontAlgn="ctr"/>
                      <a:r>
                        <a:rPr lang="en-US" altLang="ja-JP" sz="2000" b="0" u="none" strike="noStrike" dirty="0">
                          <a:effectLst/>
                          <a:latin typeface="UD デジタル 教科書体 NK-B" panose="02020700000000000000" pitchFamily="18" charset="-128"/>
                          <a:ea typeface="UD デジタル 教科書体 NK-B" panose="02020700000000000000" pitchFamily="18" charset="-128"/>
                        </a:rPr>
                        <a:t>0.97143</a:t>
                      </a:r>
                      <a:endParaRPr lang="en-US" altLang="ja-JP"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tc>
                  <a:txBody>
                    <a:bodyPr/>
                    <a:lstStyle/>
                    <a:p>
                      <a:pPr algn="ctr" fontAlgn="ctr"/>
                      <a:r>
                        <a:rPr lang="en-US" altLang="ja-JP" sz="2000" b="0" u="none" strike="noStrike" dirty="0">
                          <a:effectLst/>
                          <a:latin typeface="UD デジタル 教科書体 NK-B" panose="02020700000000000000" pitchFamily="18" charset="-128"/>
                          <a:ea typeface="UD デジタル 教科書体 NK-B" panose="02020700000000000000" pitchFamily="18" charset="-128"/>
                        </a:rPr>
                        <a:t>0.96667</a:t>
                      </a:r>
                      <a:endParaRPr lang="en-US" altLang="ja-JP"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tc>
                  <a:txBody>
                    <a:bodyPr/>
                    <a:lstStyle/>
                    <a:p>
                      <a:pPr algn="ctr" fontAlgn="ctr"/>
                      <a:r>
                        <a:rPr lang="en-US" altLang="ja-JP" sz="2000" b="0" u="none" strike="noStrike" dirty="0">
                          <a:effectLst/>
                          <a:latin typeface="UD デジタル 教科書体 NK-B" panose="02020700000000000000" pitchFamily="18" charset="-128"/>
                          <a:ea typeface="UD デジタル 教科書体 NK-B" panose="02020700000000000000" pitchFamily="18" charset="-128"/>
                        </a:rPr>
                        <a:t>0.97500</a:t>
                      </a:r>
                      <a:endParaRPr lang="en-US" altLang="ja-JP"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tc>
                  <a:txBody>
                    <a:bodyPr/>
                    <a:lstStyle/>
                    <a:p>
                      <a:pPr algn="ctr" fontAlgn="ctr"/>
                      <a:r>
                        <a:rPr lang="en-US" altLang="ja-JP" sz="2000" b="0" u="none" strike="noStrike" dirty="0">
                          <a:effectLst/>
                          <a:latin typeface="UD デジタル 教科書体 NK-B" panose="02020700000000000000" pitchFamily="18" charset="-128"/>
                          <a:ea typeface="UD デジタル 教科書体 NK-B" panose="02020700000000000000" pitchFamily="18" charset="-128"/>
                        </a:rPr>
                        <a:t>0.96571</a:t>
                      </a:r>
                      <a:endParaRPr lang="en-US" altLang="ja-JP"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extLst>
                  <a:ext uri="{0D108BD9-81ED-4DB2-BD59-A6C34878D82A}">
                    <a16:rowId xmlns:a16="http://schemas.microsoft.com/office/drawing/2014/main" val="1077228806"/>
                  </a:ext>
                </a:extLst>
              </a:tr>
              <a:tr h="1069167">
                <a:tc>
                  <a:txBody>
                    <a:bodyPr/>
                    <a:lstStyle/>
                    <a:p>
                      <a:pPr algn="ctr" fontAlgn="ctr"/>
                      <a:r>
                        <a:rPr lang="en-US" sz="1800" u="none" strike="noStrike">
                          <a:effectLst/>
                          <a:latin typeface="UD デジタル 教科書体 NK-B" panose="02020700000000000000" pitchFamily="18" charset="-128"/>
                          <a:ea typeface="UD デジタル 教科書体 NK-B" panose="02020700000000000000" pitchFamily="18" charset="-128"/>
                        </a:rPr>
                        <a:t>Naive Bayes</a:t>
                      </a:r>
                      <a:endParaRPr lang="en-US" sz="1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tc>
                  <a:txBody>
                    <a:bodyPr/>
                    <a:lstStyle/>
                    <a:p>
                      <a:pPr algn="ct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0.88571</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tc>
                  <a:txBody>
                    <a:bodyPr/>
                    <a:lstStyle/>
                    <a:p>
                      <a:pPr algn="ct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0.90167</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tc>
                  <a:txBody>
                    <a:bodyPr/>
                    <a:lstStyle/>
                    <a:p>
                      <a:pPr algn="ct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0.89667</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tc>
                  <a:txBody>
                    <a:bodyPr/>
                    <a:lstStyle/>
                    <a:p>
                      <a:pPr algn="ctr" fontAlgn="ctr"/>
                      <a:r>
                        <a:rPr lang="en-US" altLang="ja-JP" sz="1800" u="none" strike="noStrike">
                          <a:effectLst/>
                          <a:latin typeface="UD デジタル 教科書体 NK-B" panose="02020700000000000000" pitchFamily="18" charset="-128"/>
                          <a:ea typeface="UD デジタル 教科書体 NK-B" panose="02020700000000000000" pitchFamily="18" charset="-128"/>
                        </a:rPr>
                        <a:t>0.88127</a:t>
                      </a:r>
                      <a:endParaRPr lang="en-US" altLang="ja-JP" sz="1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extLst>
                  <a:ext uri="{0D108BD9-81ED-4DB2-BD59-A6C34878D82A}">
                    <a16:rowId xmlns:a16="http://schemas.microsoft.com/office/drawing/2014/main" val="3376440437"/>
                  </a:ext>
                </a:extLst>
              </a:tr>
              <a:tr h="1171605">
                <a:tc>
                  <a:txBody>
                    <a:bodyPr/>
                    <a:lstStyle/>
                    <a:p>
                      <a:pPr algn="ctr" fontAlgn="ctr"/>
                      <a:r>
                        <a:rPr lang="en-US" sz="2400" u="none" strike="noStrike" dirty="0">
                          <a:effectLst/>
                          <a:latin typeface="UD デジタル 教科書体 NK-B" panose="02020700000000000000" pitchFamily="18" charset="-128"/>
                          <a:ea typeface="UD デジタル 教科書体 NK-B" panose="02020700000000000000" pitchFamily="18" charset="-128"/>
                        </a:rPr>
                        <a:t>K</a:t>
                      </a:r>
                      <a:r>
                        <a:rPr lang="ja-JP" altLang="en-US" sz="2400" u="none" strike="noStrike" dirty="0">
                          <a:effectLst/>
                          <a:latin typeface="UD デジタル 教科書体 NK-B" panose="02020700000000000000" pitchFamily="18" charset="-128"/>
                          <a:ea typeface="UD デジタル 教科書体 NK-B" panose="02020700000000000000" pitchFamily="18" charset="-128"/>
                        </a:rPr>
                        <a:t>近傍</a:t>
                      </a:r>
                      <a:endParaRPr lang="ja-JP" alt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tc>
                  <a:txBody>
                    <a:bodyPr/>
                    <a:lstStyle/>
                    <a:p>
                      <a:pPr algn="ctr" fontAlgn="ct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0.97143</a:t>
                      </a:r>
                      <a:endParaRPr lang="en-US" altLang="ja-JP"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tc>
                  <a:txBody>
                    <a:bodyPr/>
                    <a:lstStyle/>
                    <a:p>
                      <a:pPr algn="ctr" fontAlgn="ct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0.97500</a:t>
                      </a:r>
                      <a:endParaRPr lang="en-US" altLang="ja-JP"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tc>
                  <a:txBody>
                    <a:bodyPr/>
                    <a:lstStyle/>
                    <a:p>
                      <a:pPr algn="ctr" fontAlgn="ct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0.97500</a:t>
                      </a:r>
                      <a:endParaRPr lang="en-US" altLang="ja-JP"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tc>
                  <a:txBody>
                    <a:bodyPr/>
                    <a:lstStyle/>
                    <a:p>
                      <a:pPr algn="ctr" fontAlgn="ct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0.97143</a:t>
                      </a:r>
                      <a:endParaRPr lang="en-US" altLang="ja-JP"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solidFill>
                      <a:srgbClr val="97C7E6"/>
                    </a:solidFill>
                  </a:tcPr>
                </a:tc>
                <a:extLst>
                  <a:ext uri="{0D108BD9-81ED-4DB2-BD59-A6C34878D82A}">
                    <a16:rowId xmlns:a16="http://schemas.microsoft.com/office/drawing/2014/main" val="733465633"/>
                  </a:ext>
                </a:extLst>
              </a:tr>
              <a:tr h="1069167">
                <a:tc>
                  <a:txBody>
                    <a:bodyPr/>
                    <a:lstStyle/>
                    <a:p>
                      <a:pPr algn="ctr" fontAlgn="ctr"/>
                      <a:r>
                        <a:rPr lang="en-US" sz="1800" u="none" strike="noStrike" dirty="0">
                          <a:effectLst/>
                          <a:latin typeface="UD デジタル 教科書体 NK-B" panose="02020700000000000000" pitchFamily="18" charset="-128"/>
                          <a:ea typeface="UD デジタル 教科書体 NK-B" panose="02020700000000000000" pitchFamily="18" charset="-128"/>
                        </a:rPr>
                        <a:t>Watson Assistant</a:t>
                      </a:r>
                      <a:endParaRPr 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tc>
                  <a:txBody>
                    <a:bodyPr/>
                    <a:lstStyle/>
                    <a:p>
                      <a:pPr algn="ct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0.94286</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tc>
                  <a:txBody>
                    <a:bodyPr/>
                    <a:lstStyle/>
                    <a:p>
                      <a:pPr algn="ct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0.95000</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tc>
                  <a:txBody>
                    <a:bodyPr/>
                    <a:lstStyle/>
                    <a:p>
                      <a:pPr algn="ct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0.94167</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tc>
                  <a:txBody>
                    <a:bodyPr/>
                    <a:lstStyle/>
                    <a:p>
                      <a:pPr algn="ct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0.93662</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7684" marR="7684" marT="7684" marB="0" anchor="ctr"/>
                </a:tc>
                <a:extLst>
                  <a:ext uri="{0D108BD9-81ED-4DB2-BD59-A6C34878D82A}">
                    <a16:rowId xmlns:a16="http://schemas.microsoft.com/office/drawing/2014/main" val="3279823073"/>
                  </a:ext>
                </a:extLst>
              </a:tr>
            </a:tbl>
          </a:graphicData>
        </a:graphic>
      </p:graphicFrame>
      <p:sp>
        <p:nvSpPr>
          <p:cNvPr id="8" name="テキスト ボックス 7">
            <a:extLst>
              <a:ext uri="{FF2B5EF4-FFF2-40B4-BE49-F238E27FC236}">
                <a16:creationId xmlns:a16="http://schemas.microsoft.com/office/drawing/2014/main" id="{49C41A08-A5E2-29AC-38C3-5F532174A111}"/>
              </a:ext>
            </a:extLst>
          </p:cNvPr>
          <p:cNvSpPr txBox="1"/>
          <p:nvPr/>
        </p:nvSpPr>
        <p:spPr>
          <a:xfrm>
            <a:off x="-765787" y="280755"/>
            <a:ext cx="8474985" cy="932178"/>
          </a:xfrm>
          <a:prstGeom prst="rect">
            <a:avLst/>
          </a:prstGeom>
          <a:noFill/>
        </p:spPr>
        <p:txBody>
          <a:bodyPr wrap="square">
            <a:spAutoFit/>
          </a:bodyPr>
          <a:lstStyle/>
          <a:p>
            <a:pPr algn="ctr">
              <a:lnSpc>
                <a:spcPct val="150000"/>
              </a:lnSpc>
            </a:pPr>
            <a:r>
              <a:rPr kumimoji="1" lang="ja-JP" altLang="en-US" sz="4000" b="1" kern="1200" dirty="0">
                <a:effectLst/>
                <a:latin typeface="UD デジタル 教科書体 NK-B" panose="02020700000000000000" pitchFamily="18" charset="-128"/>
                <a:ea typeface="UD デジタル 教科書体 NK-B" panose="02020700000000000000" pitchFamily="18" charset="-128"/>
              </a:rPr>
              <a:t>表</a:t>
            </a:r>
            <a:r>
              <a:rPr lang="en-US" altLang="ja-JP" sz="4000" b="1" dirty="0">
                <a:latin typeface="UD デジタル 教科書体 NK-B" panose="02020700000000000000" pitchFamily="18" charset="-128"/>
                <a:ea typeface="UD デジタル 教科書体 NK-B" panose="02020700000000000000" pitchFamily="18" charset="-128"/>
              </a:rPr>
              <a:t>1</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　各アルゴリズムの精度</a:t>
            </a:r>
          </a:p>
        </p:txBody>
      </p:sp>
      <p:sp>
        <p:nvSpPr>
          <p:cNvPr id="2" name="テキスト ボックス 1">
            <a:extLst>
              <a:ext uri="{FF2B5EF4-FFF2-40B4-BE49-F238E27FC236}">
                <a16:creationId xmlns:a16="http://schemas.microsoft.com/office/drawing/2014/main" id="{F55D658B-2692-BD4A-0D54-E98379356330}"/>
              </a:ext>
            </a:extLst>
          </p:cNvPr>
          <p:cNvSpPr txBox="1"/>
          <p:nvPr/>
        </p:nvSpPr>
        <p:spPr>
          <a:xfrm>
            <a:off x="6943412" y="1944143"/>
            <a:ext cx="5248588" cy="4224939"/>
          </a:xfrm>
          <a:prstGeom prst="rect">
            <a:avLst/>
          </a:prstGeom>
          <a:noFill/>
        </p:spPr>
        <p:txBody>
          <a:bodyPr wrap="square">
            <a:spAutoFit/>
          </a:bodyPr>
          <a:lstStyle/>
          <a:p>
            <a:pPr algn="ctr">
              <a:lnSpc>
                <a:spcPct val="150000"/>
              </a:lnSpc>
            </a:pPr>
            <a:r>
              <a:rPr kumimoji="1" lang="en-US" altLang="ja-JP" sz="6000" b="1" kern="12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SVM</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と</a:t>
            </a:r>
            <a:r>
              <a:rPr kumimoji="1" lang="en-US" altLang="ja-JP" sz="6000" b="1" kern="12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K</a:t>
            </a:r>
            <a:r>
              <a:rPr kumimoji="1" lang="ja-JP" altLang="en-US" sz="6000" b="1" kern="12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近傍</a:t>
            </a:r>
            <a:endParaRPr lang="en-US" altLang="ja-JP" sz="1200" b="1" dirty="0">
              <a:solidFill>
                <a:srgbClr val="FF5050"/>
              </a:solidFill>
              <a:latin typeface="UD デジタル 教科書体 NK-B" panose="02020700000000000000" pitchFamily="18" charset="-128"/>
              <a:ea typeface="UD デジタル 教科書体 NK-B" panose="02020700000000000000" pitchFamily="18" charset="-128"/>
            </a:endParaRPr>
          </a:p>
          <a:p>
            <a:pPr algn="ctr">
              <a:lnSpc>
                <a:spcPct val="150000"/>
              </a:lnSpc>
            </a:pPr>
            <a:endParaRPr kumimoji="1" lang="en-US" altLang="ja-JP" sz="1100" b="1" kern="1200" dirty="0">
              <a:effectLst/>
              <a:latin typeface="UD デジタル 教科書体 NK-B" panose="02020700000000000000" pitchFamily="18" charset="-128"/>
              <a:ea typeface="UD デジタル 教科書体 NK-B" panose="02020700000000000000" pitchFamily="18" charset="-128"/>
              <a:cs typeface="+mn-cs"/>
            </a:endParaRPr>
          </a:p>
          <a:p>
            <a:pPr algn="ctr">
              <a:lnSpc>
                <a:spcPct val="150000"/>
              </a:lnSpc>
            </a:pPr>
            <a:r>
              <a:rPr kumimoji="1" lang="en-US" altLang="ja-JP" sz="4800" b="1" kern="1200" dirty="0">
                <a:effectLst/>
                <a:latin typeface="UD デジタル 教科書体 NK-B" panose="02020700000000000000" pitchFamily="18" charset="-128"/>
                <a:ea typeface="UD デジタル 教科書体 NK-B" panose="02020700000000000000" pitchFamily="18" charset="-128"/>
                <a:cs typeface="+mn-cs"/>
              </a:rPr>
              <a:t>Watson</a:t>
            </a:r>
            <a:r>
              <a:rPr kumimoji="1" lang="ja-JP" altLang="en-US" sz="4800" b="1" kern="1200" dirty="0">
                <a:effectLst/>
                <a:latin typeface="UD デジタル 教科書体 NK-B" panose="02020700000000000000" pitchFamily="18" charset="-128"/>
                <a:ea typeface="UD デジタル 教科書体 NK-B" panose="02020700000000000000" pitchFamily="18" charset="-128"/>
                <a:cs typeface="+mn-cs"/>
              </a:rPr>
              <a:t>よりも</a:t>
            </a:r>
            <a:endParaRPr kumimoji="1" lang="en-US" altLang="ja-JP" sz="4800" b="1" kern="1200" dirty="0">
              <a:effectLst/>
              <a:latin typeface="UD デジタル 教科書体 NK-B" panose="02020700000000000000" pitchFamily="18" charset="-128"/>
              <a:ea typeface="UD デジタル 教科書体 NK-B" panose="02020700000000000000" pitchFamily="18" charset="-128"/>
              <a:cs typeface="+mn-cs"/>
            </a:endParaRPr>
          </a:p>
          <a:p>
            <a:pPr algn="ctr">
              <a:lnSpc>
                <a:spcPct val="150000"/>
              </a:lnSpc>
            </a:pPr>
            <a:r>
              <a:rPr kumimoji="1" lang="ja-JP" altLang="en-US" sz="6600" b="1" kern="12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高い</a:t>
            </a:r>
            <a:r>
              <a:rPr kumimoji="1" lang="ja-JP" altLang="en-US" sz="6600" b="1" kern="1200" dirty="0">
                <a:effectLst/>
                <a:latin typeface="UD デジタル 教科書体 NK-B" panose="02020700000000000000" pitchFamily="18" charset="-128"/>
                <a:ea typeface="UD デジタル 教科書体 NK-B" panose="02020700000000000000" pitchFamily="18" charset="-128"/>
                <a:cs typeface="+mn-cs"/>
              </a:rPr>
              <a:t>精度</a:t>
            </a:r>
          </a:p>
        </p:txBody>
      </p:sp>
    </p:spTree>
    <p:extLst>
      <p:ext uri="{BB962C8B-B14F-4D97-AF65-F5344CB8AC3E}">
        <p14:creationId xmlns:p14="http://schemas.microsoft.com/office/powerpoint/2010/main" val="4933220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D5D0511F-8730-14B1-0A49-D4B3FC42FD87}"/>
              </a:ext>
            </a:extLst>
          </p:cNvPr>
          <p:cNvGraphicFramePr>
            <a:graphicFrameLocks noGrp="1"/>
          </p:cNvGraphicFramePr>
          <p:nvPr>
            <p:extLst>
              <p:ext uri="{D42A27DB-BD31-4B8C-83A1-F6EECF244321}">
                <p14:modId xmlns:p14="http://schemas.microsoft.com/office/powerpoint/2010/main" val="647127962"/>
              </p:ext>
            </p:extLst>
          </p:nvPr>
        </p:nvGraphicFramePr>
        <p:xfrm>
          <a:off x="0" y="1557496"/>
          <a:ext cx="12192001" cy="5300504"/>
        </p:xfrm>
        <a:graphic>
          <a:graphicData uri="http://schemas.openxmlformats.org/drawingml/2006/table">
            <a:tbl>
              <a:tblPr>
                <a:tableStyleId>{5940675A-B579-460E-94D1-54222C63F5DA}</a:tableStyleId>
              </a:tblPr>
              <a:tblGrid>
                <a:gridCol w="2257778">
                  <a:extLst>
                    <a:ext uri="{9D8B030D-6E8A-4147-A177-3AD203B41FA5}">
                      <a16:colId xmlns:a16="http://schemas.microsoft.com/office/drawing/2014/main" val="3273057130"/>
                    </a:ext>
                  </a:extLst>
                </a:gridCol>
                <a:gridCol w="6853019">
                  <a:extLst>
                    <a:ext uri="{9D8B030D-6E8A-4147-A177-3AD203B41FA5}">
                      <a16:colId xmlns:a16="http://schemas.microsoft.com/office/drawing/2014/main" val="48086012"/>
                    </a:ext>
                  </a:extLst>
                </a:gridCol>
                <a:gridCol w="1540602">
                  <a:extLst>
                    <a:ext uri="{9D8B030D-6E8A-4147-A177-3AD203B41FA5}">
                      <a16:colId xmlns:a16="http://schemas.microsoft.com/office/drawing/2014/main" val="2973103807"/>
                    </a:ext>
                  </a:extLst>
                </a:gridCol>
                <a:gridCol w="1540602">
                  <a:extLst>
                    <a:ext uri="{9D8B030D-6E8A-4147-A177-3AD203B41FA5}">
                      <a16:colId xmlns:a16="http://schemas.microsoft.com/office/drawing/2014/main" val="3139293860"/>
                    </a:ext>
                  </a:extLst>
                </a:gridCol>
              </a:tblGrid>
              <a:tr h="607106">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アルゴリズム</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間違えた質問</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回答ラベル</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正解ラベル</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extLst>
                  <a:ext uri="{0D108BD9-81ED-4DB2-BD59-A6C34878D82A}">
                    <a16:rowId xmlns:a16="http://schemas.microsoft.com/office/drawing/2014/main" val="250805291"/>
                  </a:ext>
                </a:extLst>
              </a:tr>
              <a:tr h="607106">
                <a:tc>
                  <a:txBody>
                    <a:bodyPr/>
                    <a:lstStyle/>
                    <a:p>
                      <a:pPr algn="ctr" fontAlgn="ctr"/>
                      <a:r>
                        <a:rPr lang="en-US" sz="2400" u="none" strike="noStrike" dirty="0">
                          <a:effectLst/>
                          <a:latin typeface="UD デジタル 教科書体 NK-B" panose="02020700000000000000" pitchFamily="18" charset="-128"/>
                          <a:ea typeface="UD デジタル 教科書体 NK-B" panose="02020700000000000000" pitchFamily="18" charset="-128"/>
                        </a:rPr>
                        <a:t>SVM</a:t>
                      </a:r>
                      <a:endParaRPr 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000" u="none" strike="noStrike">
                          <a:effectLst/>
                          <a:latin typeface="UD デジタル 教科書体 NK-B" panose="02020700000000000000" pitchFamily="18" charset="-128"/>
                          <a:ea typeface="UD デジタル 教科書体 NK-B" panose="02020700000000000000" pitchFamily="18" charset="-128"/>
                        </a:rPr>
                        <a:t>SSS</a:t>
                      </a:r>
                      <a:r>
                        <a:rPr lang="ja-JP" altLang="en-US" sz="2000" u="none" strike="noStrike">
                          <a:effectLst/>
                          <a:latin typeface="UD デジタル 教科書体 NK-B" panose="02020700000000000000" pitchFamily="18" charset="-128"/>
                          <a:ea typeface="UD デジタル 教科書体 NK-B" panose="02020700000000000000" pitchFamily="18" charset="-128"/>
                        </a:rPr>
                        <a:t>、</a:t>
                      </a:r>
                      <a:r>
                        <a:rPr lang="en-US" altLang="ja-JP" sz="2000" u="none" strike="noStrike">
                          <a:effectLst/>
                          <a:latin typeface="UD デジタル 教科書体 NK-B" panose="02020700000000000000" pitchFamily="18" charset="-128"/>
                          <a:ea typeface="UD デジタル 教科書体 NK-B" panose="02020700000000000000" pitchFamily="18" charset="-128"/>
                        </a:rPr>
                        <a:t>SAS</a:t>
                      </a:r>
                      <a:r>
                        <a:rPr lang="ja-JP" altLang="en-US" sz="2000" u="none" strike="noStrike">
                          <a:effectLst/>
                          <a:latin typeface="UD デジタル 教科書体 NK-B" panose="02020700000000000000" pitchFamily="18" charset="-128"/>
                          <a:ea typeface="UD デジタル 教科書体 NK-B" panose="02020700000000000000" pitchFamily="18" charset="-128"/>
                        </a:rPr>
                        <a:t>、</a:t>
                      </a:r>
                      <a:r>
                        <a:rPr lang="en-US" altLang="ja-JP" sz="2000" u="none" strike="noStrike">
                          <a:effectLst/>
                          <a:latin typeface="UD デジタル 教科書体 NK-B" panose="02020700000000000000" pitchFamily="18" charset="-128"/>
                          <a:ea typeface="UD デジタル 教科書体 NK-B" panose="02020700000000000000" pitchFamily="18" charset="-128"/>
                        </a:rPr>
                        <a:t>ASA</a:t>
                      </a:r>
                      <a:r>
                        <a:rPr lang="ja-JP" altLang="en-US" sz="2000" u="none" strike="noStrike">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0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6</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a:effectLst/>
                          <a:latin typeface="UD デジタル 教科書体 NK-B" panose="02020700000000000000" pitchFamily="18" charset="-128"/>
                          <a:ea typeface="UD デジタル 教科書体 NK-B" panose="02020700000000000000" pitchFamily="18" charset="-128"/>
                        </a:rPr>
                        <a:t>3</a:t>
                      </a:r>
                      <a:endParaRPr lang="en-US" altLang="ja-JP" sz="32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1956180300"/>
                  </a:ext>
                </a:extLst>
              </a:tr>
              <a:tr h="583756">
                <a:tc rowSpan="4">
                  <a:txBody>
                    <a:bodyPr/>
                    <a:lstStyle/>
                    <a:p>
                      <a:pPr algn="ctr" fontAlgn="ctr"/>
                      <a:r>
                        <a:rPr lang="en-US" sz="2400" u="none" strike="noStrike" dirty="0">
                          <a:effectLst/>
                          <a:latin typeface="UD デジタル 教科書体 NK-B" panose="02020700000000000000" pitchFamily="18" charset="-128"/>
                          <a:ea typeface="UD デジタル 教科書体 NK-B" panose="02020700000000000000" pitchFamily="18" charset="-128"/>
                        </a:rPr>
                        <a:t>Naive Bayes</a:t>
                      </a:r>
                      <a:endParaRPr 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000" u="none" strike="noStrike">
                          <a:effectLst/>
                          <a:latin typeface="UD デジタル 教科書体 NK-B" panose="02020700000000000000" pitchFamily="18" charset="-128"/>
                          <a:ea typeface="UD デジタル 教科書体 NK-B" panose="02020700000000000000" pitchFamily="18" charset="-128"/>
                        </a:rPr>
                        <a:t>SSS</a:t>
                      </a:r>
                      <a:r>
                        <a:rPr lang="ja-JP" altLang="en-US" sz="2000" u="none" strike="noStrike">
                          <a:effectLst/>
                          <a:latin typeface="UD デジタル 教科書体 NK-B" panose="02020700000000000000" pitchFamily="18" charset="-128"/>
                          <a:ea typeface="UD デジタル 教科書体 NK-B" panose="02020700000000000000" pitchFamily="18" charset="-128"/>
                        </a:rPr>
                        <a:t>、</a:t>
                      </a:r>
                      <a:r>
                        <a:rPr lang="en-US" altLang="ja-JP" sz="2000" u="none" strike="noStrike">
                          <a:effectLst/>
                          <a:latin typeface="UD デジタル 教科書体 NK-B" panose="02020700000000000000" pitchFamily="18" charset="-128"/>
                          <a:ea typeface="UD デジタル 教科書体 NK-B" panose="02020700000000000000" pitchFamily="18" charset="-128"/>
                        </a:rPr>
                        <a:t>SAS</a:t>
                      </a:r>
                      <a:r>
                        <a:rPr lang="ja-JP" altLang="en-US" sz="2000" u="none" strike="noStrike">
                          <a:effectLst/>
                          <a:latin typeface="UD デジタル 教科書体 NK-B" panose="02020700000000000000" pitchFamily="18" charset="-128"/>
                          <a:ea typeface="UD デジタル 教科書体 NK-B" panose="02020700000000000000" pitchFamily="18" charset="-128"/>
                        </a:rPr>
                        <a:t>、</a:t>
                      </a:r>
                      <a:r>
                        <a:rPr lang="en-US" altLang="ja-JP" sz="2000" u="none" strike="noStrike">
                          <a:effectLst/>
                          <a:latin typeface="UD デジタル 教科書体 NK-B" panose="02020700000000000000" pitchFamily="18" charset="-128"/>
                          <a:ea typeface="UD デジタル 教科書体 NK-B" panose="02020700000000000000" pitchFamily="18" charset="-128"/>
                        </a:rPr>
                        <a:t>ASA</a:t>
                      </a:r>
                      <a:r>
                        <a:rPr lang="ja-JP" altLang="en-US" sz="2000" u="none" strike="noStrike">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0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9</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a:effectLst/>
                          <a:latin typeface="UD デジタル 教科書体 NK-B" panose="02020700000000000000" pitchFamily="18" charset="-128"/>
                          <a:ea typeface="UD デジタル 教科書体 NK-B" panose="02020700000000000000" pitchFamily="18" charset="-128"/>
                        </a:rPr>
                        <a:t>3</a:t>
                      </a:r>
                      <a:endParaRPr lang="en-US" altLang="ja-JP" sz="32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619227486"/>
                  </a:ext>
                </a:extLst>
              </a:tr>
              <a:tr h="583756">
                <a:tc vMerge="1">
                  <a:txBody>
                    <a:bodyPr/>
                    <a:lstStyle/>
                    <a:p>
                      <a:endParaRPr kumimoji="1" lang="ja-JP" altLang="en-US"/>
                    </a:p>
                  </a:txBody>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三角形の合同条件をすべて書きなさい。</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5</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a:effectLst/>
                          <a:latin typeface="UD デジタル 教科書体 NK-B" panose="02020700000000000000" pitchFamily="18" charset="-128"/>
                          <a:ea typeface="UD デジタル 教科書体 NK-B" panose="02020700000000000000" pitchFamily="18" charset="-128"/>
                        </a:rPr>
                        <a:t>3</a:t>
                      </a:r>
                      <a:endParaRPr lang="en-US" altLang="ja-JP" sz="32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181330254"/>
                  </a:ext>
                </a:extLst>
              </a:tr>
              <a:tr h="583756">
                <a:tc vMerge="1">
                  <a:txBody>
                    <a:bodyPr/>
                    <a:lstStyle/>
                    <a:p>
                      <a:endParaRPr kumimoji="1" lang="ja-JP" altLang="en-US"/>
                    </a:p>
                  </a:txBody>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共通因数とは何か簡潔に答えて？</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7</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a:effectLst/>
                          <a:latin typeface="UD デジタル 教科書体 NK-B" panose="02020700000000000000" pitchFamily="18" charset="-128"/>
                          <a:ea typeface="UD デジタル 教科書体 NK-B" panose="02020700000000000000" pitchFamily="18" charset="-128"/>
                        </a:rPr>
                        <a:t>4</a:t>
                      </a:r>
                      <a:endParaRPr lang="en-US" altLang="ja-JP" sz="32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1220109499"/>
                  </a:ext>
                </a:extLst>
              </a:tr>
              <a:tr h="583756">
                <a:tc vMerge="1">
                  <a:txBody>
                    <a:bodyPr/>
                    <a:lstStyle/>
                    <a:p>
                      <a:endParaRPr kumimoji="1" lang="ja-JP" altLang="en-US"/>
                    </a:p>
                  </a:txBody>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三平方の定理を式とともに説明せよ。</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10</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5</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1857760359"/>
                  </a:ext>
                </a:extLst>
              </a:tr>
              <a:tr h="583756">
                <a:tc>
                  <a:txBody>
                    <a:bodyPr/>
                    <a:lstStyle/>
                    <a:p>
                      <a:pPr algn="ctr" fontAlgn="ctr"/>
                      <a:r>
                        <a:rPr lang="en-US" sz="2400" u="none" strike="noStrike">
                          <a:effectLst/>
                          <a:latin typeface="UD デジタル 教科書体 NK-B" panose="02020700000000000000" pitchFamily="18" charset="-128"/>
                          <a:ea typeface="UD デジタル 教科書体 NK-B" panose="02020700000000000000" pitchFamily="18" charset="-128"/>
                        </a:rPr>
                        <a:t>K</a:t>
                      </a:r>
                      <a:r>
                        <a:rPr lang="ja-JP" altLang="en-US" sz="2400" u="none" strike="noStrike">
                          <a:effectLst/>
                          <a:latin typeface="UD デジタル 教科書体 NK-B" panose="02020700000000000000" pitchFamily="18" charset="-128"/>
                          <a:ea typeface="UD デジタル 教科書体 NK-B" panose="02020700000000000000" pitchFamily="18" charset="-128"/>
                        </a:rPr>
                        <a:t>近傍</a:t>
                      </a:r>
                      <a:endParaRPr lang="ja-JP" altLang="en-US" sz="24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a:effectLst/>
                          <a:latin typeface="UD デジタル 教科書体 NK-B" panose="02020700000000000000" pitchFamily="18" charset="-128"/>
                          <a:ea typeface="UD デジタル 教科書体 NK-B" panose="02020700000000000000" pitchFamily="18" charset="-128"/>
                        </a:rPr>
                        <a:t>1</a:t>
                      </a:r>
                      <a:endParaRPr lang="en-US" altLang="ja-JP" sz="32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4291610184"/>
                  </a:ext>
                </a:extLst>
              </a:tr>
              <a:tr h="583756">
                <a:tc rowSpan="2">
                  <a:txBody>
                    <a:bodyPr/>
                    <a:lstStyle/>
                    <a:p>
                      <a:pPr algn="ctr" fontAlgn="ctr"/>
                      <a:r>
                        <a:rPr lang="en-US" sz="2400" u="none" strike="noStrike">
                          <a:effectLst/>
                          <a:latin typeface="UD デジタル 教科書体 NK-B" panose="02020700000000000000" pitchFamily="18" charset="-128"/>
                          <a:ea typeface="UD デジタル 教科書体 NK-B" panose="02020700000000000000" pitchFamily="18" charset="-128"/>
                        </a:rPr>
                        <a:t>Watson Assistant</a:t>
                      </a:r>
                      <a:endParaRPr lang="en-US" sz="24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7</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230688608"/>
                  </a:ext>
                </a:extLst>
              </a:tr>
              <a:tr h="583756">
                <a:tc vMerge="1">
                  <a:txBody>
                    <a:bodyPr/>
                    <a:lstStyle/>
                    <a:p>
                      <a:endParaRPr kumimoji="1" lang="ja-JP" altLang="en-US"/>
                    </a:p>
                  </a:txBody>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実数解を持つ二次関数の解の存在確認の方法を教えて</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1</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200" u="none" strike="noStrike" dirty="0">
                          <a:effectLst/>
                          <a:latin typeface="UD デジタル 教科書体 NK-B" panose="02020700000000000000" pitchFamily="18" charset="-128"/>
                          <a:ea typeface="UD デジタル 教科書体 NK-B" panose="02020700000000000000" pitchFamily="18" charset="-128"/>
                        </a:rPr>
                        <a:t>9</a:t>
                      </a:r>
                      <a:endParaRPr lang="en-US" altLang="ja-JP" sz="32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1045693398"/>
                  </a:ext>
                </a:extLst>
              </a:tr>
            </a:tbl>
          </a:graphicData>
        </a:graphic>
      </p:graphicFrame>
      <p:sp>
        <p:nvSpPr>
          <p:cNvPr id="5" name="テキスト ボックス 4">
            <a:extLst>
              <a:ext uri="{FF2B5EF4-FFF2-40B4-BE49-F238E27FC236}">
                <a16:creationId xmlns:a16="http://schemas.microsoft.com/office/drawing/2014/main" id="{275418A9-7FB9-2C94-898B-3FBE536FE7BE}"/>
              </a:ext>
            </a:extLst>
          </p:cNvPr>
          <p:cNvSpPr txBox="1"/>
          <p:nvPr/>
        </p:nvSpPr>
        <p:spPr>
          <a:xfrm>
            <a:off x="1858507" y="290804"/>
            <a:ext cx="8474985" cy="932178"/>
          </a:xfrm>
          <a:prstGeom prst="rect">
            <a:avLst/>
          </a:prstGeom>
          <a:noFill/>
        </p:spPr>
        <p:txBody>
          <a:bodyPr wrap="square">
            <a:spAutoFit/>
          </a:bodyPr>
          <a:lstStyle/>
          <a:p>
            <a:pPr algn="ctr">
              <a:lnSpc>
                <a:spcPct val="150000"/>
              </a:lnSpc>
            </a:pPr>
            <a:r>
              <a:rPr kumimoji="1" lang="ja-JP" altLang="en-US" sz="4000" b="1" kern="1200" dirty="0">
                <a:effectLst/>
                <a:latin typeface="UD デジタル 教科書体 NK-B" panose="02020700000000000000" pitchFamily="18" charset="-128"/>
                <a:ea typeface="UD デジタル 教科書体 NK-B" panose="02020700000000000000" pitchFamily="18" charset="-128"/>
              </a:rPr>
              <a:t>表</a:t>
            </a:r>
            <a:r>
              <a:rPr kumimoji="1" lang="en-US" altLang="ja-JP" sz="4000" b="1" kern="1200" dirty="0">
                <a:effectLst/>
                <a:latin typeface="UD デジタル 教科書体 NK-B" panose="02020700000000000000" pitchFamily="18" charset="-128"/>
                <a:ea typeface="UD デジタル 教科書体 NK-B" panose="02020700000000000000" pitchFamily="18" charset="-128"/>
              </a:rPr>
              <a:t>2</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　各アルゴリズムの間違えた問題</a:t>
            </a:r>
          </a:p>
        </p:txBody>
      </p:sp>
    </p:spTree>
    <p:extLst>
      <p:ext uri="{BB962C8B-B14F-4D97-AF65-F5344CB8AC3E}">
        <p14:creationId xmlns:p14="http://schemas.microsoft.com/office/powerpoint/2010/main" val="4005985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D5D0511F-8730-14B1-0A49-D4B3FC42FD87}"/>
              </a:ext>
            </a:extLst>
          </p:cNvPr>
          <p:cNvGraphicFramePr>
            <a:graphicFrameLocks noGrp="1"/>
          </p:cNvGraphicFramePr>
          <p:nvPr>
            <p:extLst>
              <p:ext uri="{D42A27DB-BD31-4B8C-83A1-F6EECF244321}">
                <p14:modId xmlns:p14="http://schemas.microsoft.com/office/powerpoint/2010/main" val="529365432"/>
              </p:ext>
            </p:extLst>
          </p:nvPr>
        </p:nvGraphicFramePr>
        <p:xfrm>
          <a:off x="0" y="1557496"/>
          <a:ext cx="12192001" cy="5335873"/>
        </p:xfrm>
        <a:graphic>
          <a:graphicData uri="http://schemas.openxmlformats.org/drawingml/2006/table">
            <a:tbl>
              <a:tblPr>
                <a:tableStyleId>{5940675A-B579-460E-94D1-54222C63F5DA}</a:tableStyleId>
              </a:tblPr>
              <a:tblGrid>
                <a:gridCol w="1537398">
                  <a:extLst>
                    <a:ext uri="{9D8B030D-6E8A-4147-A177-3AD203B41FA5}">
                      <a16:colId xmlns:a16="http://schemas.microsoft.com/office/drawing/2014/main" val="3273057130"/>
                    </a:ext>
                  </a:extLst>
                </a:gridCol>
                <a:gridCol w="5687367">
                  <a:extLst>
                    <a:ext uri="{9D8B030D-6E8A-4147-A177-3AD203B41FA5}">
                      <a16:colId xmlns:a16="http://schemas.microsoft.com/office/drawing/2014/main" val="48086012"/>
                    </a:ext>
                  </a:extLst>
                </a:gridCol>
                <a:gridCol w="2592475">
                  <a:extLst>
                    <a:ext uri="{9D8B030D-6E8A-4147-A177-3AD203B41FA5}">
                      <a16:colId xmlns:a16="http://schemas.microsoft.com/office/drawing/2014/main" val="2973103807"/>
                    </a:ext>
                  </a:extLst>
                </a:gridCol>
                <a:gridCol w="2374761">
                  <a:extLst>
                    <a:ext uri="{9D8B030D-6E8A-4147-A177-3AD203B41FA5}">
                      <a16:colId xmlns:a16="http://schemas.microsoft.com/office/drawing/2014/main" val="3139293860"/>
                    </a:ext>
                  </a:extLst>
                </a:gridCol>
              </a:tblGrid>
              <a:tr h="607106">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アルゴリズム</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間違えた質問</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回答ラベル</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正解ラベル</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extLst>
                  <a:ext uri="{0D108BD9-81ED-4DB2-BD59-A6C34878D82A}">
                    <a16:rowId xmlns:a16="http://schemas.microsoft.com/office/drawing/2014/main" val="250805291"/>
                  </a:ext>
                </a:extLst>
              </a:tr>
              <a:tr h="607106">
                <a:tc>
                  <a:txBody>
                    <a:bodyPr/>
                    <a:lstStyle/>
                    <a:p>
                      <a:pPr algn="ctr" fontAlgn="ctr"/>
                      <a:r>
                        <a:rPr lang="en-US" sz="2400" u="none" strike="noStrike" dirty="0">
                          <a:effectLst/>
                          <a:latin typeface="UD デジタル 教科書体 NK-B" panose="02020700000000000000" pitchFamily="18" charset="-128"/>
                          <a:ea typeface="UD デジタル 教科書体 NK-B" panose="02020700000000000000" pitchFamily="18" charset="-128"/>
                        </a:rPr>
                        <a:t>SVM</a:t>
                      </a:r>
                      <a:endParaRPr 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000" u="none" strike="noStrike">
                          <a:effectLst/>
                          <a:latin typeface="UD デジタル 教科書体 NK-B" panose="02020700000000000000" pitchFamily="18" charset="-128"/>
                          <a:ea typeface="UD デジタル 教科書体 NK-B" panose="02020700000000000000" pitchFamily="18" charset="-128"/>
                        </a:rPr>
                        <a:t>SSS</a:t>
                      </a:r>
                      <a:r>
                        <a:rPr lang="ja-JP" altLang="en-US" sz="2000" u="none" strike="noStrike">
                          <a:effectLst/>
                          <a:latin typeface="UD デジタル 教科書体 NK-B" panose="02020700000000000000" pitchFamily="18" charset="-128"/>
                          <a:ea typeface="UD デジタル 教科書体 NK-B" panose="02020700000000000000" pitchFamily="18" charset="-128"/>
                        </a:rPr>
                        <a:t>、</a:t>
                      </a:r>
                      <a:r>
                        <a:rPr lang="en-US" altLang="ja-JP" sz="2000" u="none" strike="noStrike">
                          <a:effectLst/>
                          <a:latin typeface="UD デジタル 教科書体 NK-B" panose="02020700000000000000" pitchFamily="18" charset="-128"/>
                          <a:ea typeface="UD デジタル 教科書体 NK-B" panose="02020700000000000000" pitchFamily="18" charset="-128"/>
                        </a:rPr>
                        <a:t>SAS</a:t>
                      </a:r>
                      <a:r>
                        <a:rPr lang="ja-JP" altLang="en-US" sz="2000" u="none" strike="noStrike">
                          <a:effectLst/>
                          <a:latin typeface="UD デジタル 教科書体 NK-B" panose="02020700000000000000" pitchFamily="18" charset="-128"/>
                          <a:ea typeface="UD デジタル 教科書体 NK-B" panose="02020700000000000000" pitchFamily="18" charset="-128"/>
                        </a:rPr>
                        <a:t>、</a:t>
                      </a:r>
                      <a:r>
                        <a:rPr lang="en-US" altLang="ja-JP" sz="2000" u="none" strike="noStrike">
                          <a:effectLst/>
                          <a:latin typeface="UD デジタル 教科書体 NK-B" panose="02020700000000000000" pitchFamily="18" charset="-128"/>
                          <a:ea typeface="UD デジタル 教科書体 NK-B" panose="02020700000000000000" pitchFamily="18" charset="-128"/>
                        </a:rPr>
                        <a:t>ASA</a:t>
                      </a:r>
                      <a:r>
                        <a:rPr lang="ja-JP" altLang="en-US" sz="2000" u="none" strike="noStrike">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0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6</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3600" u="none" strike="noStrike">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956180300"/>
                  </a:ext>
                </a:extLst>
              </a:tr>
              <a:tr h="583756">
                <a:tc rowSpan="4">
                  <a:txBody>
                    <a:bodyPr/>
                    <a:lstStyle/>
                    <a:p>
                      <a:pPr algn="ctr" fontAlgn="ctr"/>
                      <a:r>
                        <a:rPr lang="en-US" sz="2400" u="none" strike="noStrike" dirty="0">
                          <a:effectLst/>
                          <a:latin typeface="UD デジタル 教科書体 NK-B" panose="02020700000000000000" pitchFamily="18" charset="-128"/>
                          <a:ea typeface="UD デジタル 教科書体 NK-B" panose="02020700000000000000" pitchFamily="18" charset="-128"/>
                        </a:rPr>
                        <a:t>Naive Bayes</a:t>
                      </a:r>
                      <a:endParaRPr 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000" u="none" strike="noStrike">
                          <a:effectLst/>
                          <a:latin typeface="UD デジタル 教科書体 NK-B" panose="02020700000000000000" pitchFamily="18" charset="-128"/>
                          <a:ea typeface="UD デジタル 教科書体 NK-B" panose="02020700000000000000" pitchFamily="18" charset="-128"/>
                        </a:rPr>
                        <a:t>SSS</a:t>
                      </a:r>
                      <a:r>
                        <a:rPr lang="ja-JP" altLang="en-US" sz="2000" u="none" strike="noStrike">
                          <a:effectLst/>
                          <a:latin typeface="UD デジタル 教科書体 NK-B" panose="02020700000000000000" pitchFamily="18" charset="-128"/>
                          <a:ea typeface="UD デジタル 教科書体 NK-B" panose="02020700000000000000" pitchFamily="18" charset="-128"/>
                        </a:rPr>
                        <a:t>、</a:t>
                      </a:r>
                      <a:r>
                        <a:rPr lang="en-US" altLang="ja-JP" sz="2000" u="none" strike="noStrike">
                          <a:effectLst/>
                          <a:latin typeface="UD デジタル 教科書体 NK-B" panose="02020700000000000000" pitchFamily="18" charset="-128"/>
                          <a:ea typeface="UD デジタル 教科書体 NK-B" panose="02020700000000000000" pitchFamily="18" charset="-128"/>
                        </a:rPr>
                        <a:t>SAS</a:t>
                      </a:r>
                      <a:r>
                        <a:rPr lang="ja-JP" altLang="en-US" sz="2000" u="none" strike="noStrike">
                          <a:effectLst/>
                          <a:latin typeface="UD デジタル 教科書体 NK-B" panose="02020700000000000000" pitchFamily="18" charset="-128"/>
                          <a:ea typeface="UD デジタル 教科書体 NK-B" panose="02020700000000000000" pitchFamily="18" charset="-128"/>
                        </a:rPr>
                        <a:t>、</a:t>
                      </a:r>
                      <a:r>
                        <a:rPr lang="en-US" altLang="ja-JP" sz="2000" u="none" strike="noStrike">
                          <a:effectLst/>
                          <a:latin typeface="UD デジタル 教科書体 NK-B" panose="02020700000000000000" pitchFamily="18" charset="-128"/>
                          <a:ea typeface="UD デジタル 教科書体 NK-B" panose="02020700000000000000" pitchFamily="18" charset="-128"/>
                        </a:rPr>
                        <a:t>ASA</a:t>
                      </a:r>
                      <a:r>
                        <a:rPr lang="ja-JP" altLang="en-US" sz="2000" u="none" strike="noStrike">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0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9</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619227486"/>
                  </a:ext>
                </a:extLst>
              </a:tr>
              <a:tr h="583756">
                <a:tc vMerge="1">
                  <a:txBody>
                    <a:bodyPr/>
                    <a:lstStyle/>
                    <a:p>
                      <a:endParaRPr kumimoji="1" lang="ja-JP" altLang="en-US"/>
                    </a:p>
                  </a:txBody>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三角形の合同条件をすべて書きなさい。</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5</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81330254"/>
                  </a:ext>
                </a:extLst>
              </a:tr>
              <a:tr h="583756">
                <a:tc vMerge="1">
                  <a:txBody>
                    <a:bodyPr/>
                    <a:lstStyle/>
                    <a:p>
                      <a:endParaRPr kumimoji="1" lang="ja-JP" altLang="en-US"/>
                    </a:p>
                  </a:txBody>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共通因数とは何か簡潔に答えて？</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7</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4</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220109499"/>
                  </a:ext>
                </a:extLst>
              </a:tr>
              <a:tr h="583756">
                <a:tc vMerge="1">
                  <a:txBody>
                    <a:bodyPr/>
                    <a:lstStyle/>
                    <a:p>
                      <a:endParaRPr kumimoji="1" lang="ja-JP" altLang="en-US"/>
                    </a:p>
                  </a:txBody>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三平方の定理を式とともに説明せよ。</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10</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5</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857760359"/>
                  </a:ext>
                </a:extLst>
              </a:tr>
              <a:tr h="583756">
                <a:tc>
                  <a:txBody>
                    <a:bodyPr/>
                    <a:lstStyle/>
                    <a:p>
                      <a:pPr algn="ctr" fontAlgn="ctr"/>
                      <a:r>
                        <a:rPr lang="en-US" sz="2400" u="none" strike="noStrike">
                          <a:effectLst/>
                          <a:latin typeface="UD デジタル 教科書体 NK-B" panose="02020700000000000000" pitchFamily="18" charset="-128"/>
                          <a:ea typeface="UD デジタル 教科書体 NK-B" panose="02020700000000000000" pitchFamily="18" charset="-128"/>
                        </a:rPr>
                        <a:t>K</a:t>
                      </a:r>
                      <a:r>
                        <a:rPr lang="ja-JP" altLang="en-US" sz="2400" u="none" strike="noStrike">
                          <a:effectLst/>
                          <a:latin typeface="UD デジタル 教科書体 NK-B" panose="02020700000000000000" pitchFamily="18" charset="-128"/>
                          <a:ea typeface="UD デジタル 教科書体 NK-B" panose="02020700000000000000" pitchFamily="18" charset="-128"/>
                        </a:rPr>
                        <a:t>近傍</a:t>
                      </a:r>
                      <a:endParaRPr lang="ja-JP" altLang="en-US" sz="24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1</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4291610184"/>
                  </a:ext>
                </a:extLst>
              </a:tr>
              <a:tr h="583756">
                <a:tc rowSpan="2">
                  <a:txBody>
                    <a:bodyPr/>
                    <a:lstStyle/>
                    <a:p>
                      <a:pPr algn="ctr" fontAlgn="ctr"/>
                      <a:r>
                        <a:rPr lang="en-US" sz="2400" u="none" strike="noStrike">
                          <a:effectLst/>
                          <a:latin typeface="UD デジタル 教科書体 NK-B" panose="02020700000000000000" pitchFamily="18" charset="-128"/>
                          <a:ea typeface="UD デジタル 教科書体 NK-B" panose="02020700000000000000" pitchFamily="18" charset="-128"/>
                        </a:rPr>
                        <a:t>Watson Assistant</a:t>
                      </a:r>
                      <a:endParaRPr lang="en-US" sz="24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20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7</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230688608"/>
                  </a:ext>
                </a:extLst>
              </a:tr>
              <a:tr h="583756">
                <a:tc vMerge="1">
                  <a:txBody>
                    <a:bodyPr/>
                    <a:lstStyle/>
                    <a:p>
                      <a:endParaRPr kumimoji="1" lang="ja-JP" altLang="en-US"/>
                    </a:p>
                  </a:txBody>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実数解を持つ二次関数の解の存在確認の方法を教えて</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1</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9</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045693398"/>
                  </a:ext>
                </a:extLst>
              </a:tr>
            </a:tbl>
          </a:graphicData>
        </a:graphic>
      </p:graphicFrame>
      <p:sp>
        <p:nvSpPr>
          <p:cNvPr id="5" name="テキスト ボックス 4">
            <a:extLst>
              <a:ext uri="{FF2B5EF4-FFF2-40B4-BE49-F238E27FC236}">
                <a16:creationId xmlns:a16="http://schemas.microsoft.com/office/drawing/2014/main" id="{275418A9-7FB9-2C94-898B-3FBE536FE7BE}"/>
              </a:ext>
            </a:extLst>
          </p:cNvPr>
          <p:cNvSpPr txBox="1"/>
          <p:nvPr/>
        </p:nvSpPr>
        <p:spPr>
          <a:xfrm>
            <a:off x="1858507" y="290804"/>
            <a:ext cx="8474985" cy="932178"/>
          </a:xfrm>
          <a:prstGeom prst="rect">
            <a:avLst/>
          </a:prstGeom>
          <a:noFill/>
        </p:spPr>
        <p:txBody>
          <a:bodyPr wrap="square">
            <a:spAutoFit/>
          </a:bodyPr>
          <a:lstStyle/>
          <a:p>
            <a:pPr algn="ctr">
              <a:lnSpc>
                <a:spcPct val="150000"/>
              </a:lnSpc>
            </a:pPr>
            <a:r>
              <a:rPr kumimoji="1" lang="ja-JP" altLang="en-US" sz="4000" b="1" kern="1200" dirty="0">
                <a:effectLst/>
                <a:latin typeface="UD デジタル 教科書体 NK-B" panose="02020700000000000000" pitchFamily="18" charset="-128"/>
                <a:ea typeface="UD デジタル 教科書体 NK-B" panose="02020700000000000000" pitchFamily="18" charset="-128"/>
              </a:rPr>
              <a:t>表</a:t>
            </a:r>
            <a:r>
              <a:rPr kumimoji="1" lang="en-US" altLang="ja-JP" sz="4000" b="1" kern="1200" dirty="0">
                <a:effectLst/>
                <a:latin typeface="UD デジタル 教科書体 NK-B" panose="02020700000000000000" pitchFamily="18" charset="-128"/>
                <a:ea typeface="UD デジタル 教科書体 NK-B" panose="02020700000000000000" pitchFamily="18" charset="-128"/>
              </a:rPr>
              <a:t>2</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　各アルゴリズムの間違えた問題</a:t>
            </a:r>
          </a:p>
        </p:txBody>
      </p:sp>
    </p:spTree>
    <p:extLst>
      <p:ext uri="{BB962C8B-B14F-4D97-AF65-F5344CB8AC3E}">
        <p14:creationId xmlns:p14="http://schemas.microsoft.com/office/powerpoint/2010/main" val="20120219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D5D0511F-8730-14B1-0A49-D4B3FC42FD87}"/>
              </a:ext>
            </a:extLst>
          </p:cNvPr>
          <p:cNvGraphicFramePr>
            <a:graphicFrameLocks noGrp="1"/>
          </p:cNvGraphicFramePr>
          <p:nvPr>
            <p:extLst>
              <p:ext uri="{D42A27DB-BD31-4B8C-83A1-F6EECF244321}">
                <p14:modId xmlns:p14="http://schemas.microsoft.com/office/powerpoint/2010/main" val="398319710"/>
              </p:ext>
            </p:extLst>
          </p:nvPr>
        </p:nvGraphicFramePr>
        <p:xfrm>
          <a:off x="1" y="1547446"/>
          <a:ext cx="6491235" cy="5345919"/>
        </p:xfrm>
        <a:graphic>
          <a:graphicData uri="http://schemas.openxmlformats.org/drawingml/2006/table">
            <a:tbl>
              <a:tblPr>
                <a:tableStyleId>{5940675A-B579-460E-94D1-54222C63F5DA}</a:tableStyleId>
              </a:tblPr>
              <a:tblGrid>
                <a:gridCol w="818538">
                  <a:extLst>
                    <a:ext uri="{9D8B030D-6E8A-4147-A177-3AD203B41FA5}">
                      <a16:colId xmlns:a16="http://schemas.microsoft.com/office/drawing/2014/main" val="3273057130"/>
                    </a:ext>
                  </a:extLst>
                </a:gridCol>
                <a:gridCol w="3028054">
                  <a:extLst>
                    <a:ext uri="{9D8B030D-6E8A-4147-A177-3AD203B41FA5}">
                      <a16:colId xmlns:a16="http://schemas.microsoft.com/office/drawing/2014/main" val="48086012"/>
                    </a:ext>
                  </a:extLst>
                </a:gridCol>
                <a:gridCol w="1380279">
                  <a:extLst>
                    <a:ext uri="{9D8B030D-6E8A-4147-A177-3AD203B41FA5}">
                      <a16:colId xmlns:a16="http://schemas.microsoft.com/office/drawing/2014/main" val="2973103807"/>
                    </a:ext>
                  </a:extLst>
                </a:gridCol>
                <a:gridCol w="1264364">
                  <a:extLst>
                    <a:ext uri="{9D8B030D-6E8A-4147-A177-3AD203B41FA5}">
                      <a16:colId xmlns:a16="http://schemas.microsoft.com/office/drawing/2014/main" val="3139293860"/>
                    </a:ext>
                  </a:extLst>
                </a:gridCol>
              </a:tblGrid>
              <a:tr h="608249">
                <a:tc>
                  <a:txBody>
                    <a:bodyPr/>
                    <a:lstStyle/>
                    <a:p>
                      <a:pPr algn="ctr" fontAlgn="ct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アルゴリズム</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間違えた質問</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回答ラベル</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ctr" fontAlgn="ctr"/>
                      <a:r>
                        <a:rPr lang="ja-JP" altLang="en-US" sz="2000" u="none" strike="noStrike" dirty="0">
                          <a:effectLst/>
                          <a:latin typeface="UD デジタル 教科書体 NK-B" panose="02020700000000000000" pitchFamily="18" charset="-128"/>
                          <a:ea typeface="UD デジタル 教科書体 NK-B" panose="02020700000000000000" pitchFamily="18" charset="-128"/>
                        </a:rPr>
                        <a:t>正解ラベル</a:t>
                      </a:r>
                      <a:endParaRPr lang="ja-JP" altLang="en-US" sz="20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extLst>
                  <a:ext uri="{0D108BD9-81ED-4DB2-BD59-A6C34878D82A}">
                    <a16:rowId xmlns:a16="http://schemas.microsoft.com/office/drawing/2014/main" val="250805291"/>
                  </a:ext>
                </a:extLst>
              </a:tr>
              <a:tr h="608249">
                <a:tc>
                  <a:txBody>
                    <a:bodyPr/>
                    <a:lstStyle/>
                    <a:p>
                      <a:pPr algn="ctr" fontAlgn="ctr"/>
                      <a:r>
                        <a:rPr lang="en-US" sz="1600" u="none" strike="noStrike" dirty="0">
                          <a:effectLst/>
                          <a:latin typeface="UD デジタル 教科書体 NK-B" panose="02020700000000000000" pitchFamily="18" charset="-128"/>
                          <a:ea typeface="UD デジタル 教科書体 NK-B" panose="02020700000000000000" pitchFamily="18" charset="-128"/>
                        </a:rPr>
                        <a:t>SVM</a:t>
                      </a:r>
                      <a:endParaRPr lang="en-US" sz="1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6</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3600" u="none" strike="noStrike">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956180300"/>
                  </a:ext>
                </a:extLst>
              </a:tr>
              <a:tr h="584855">
                <a:tc rowSpan="4">
                  <a:txBody>
                    <a:bodyPr/>
                    <a:lstStyle/>
                    <a:p>
                      <a:pPr algn="ctr" fontAlgn="ctr"/>
                      <a:r>
                        <a:rPr lang="en-US" sz="1600" u="none" strike="noStrike" dirty="0">
                          <a:effectLst/>
                          <a:latin typeface="UD デジタル 教科書体 NK-B" panose="02020700000000000000" pitchFamily="18" charset="-128"/>
                          <a:ea typeface="UD デジタル 教科書体 NK-B" panose="02020700000000000000" pitchFamily="18" charset="-128"/>
                        </a:rPr>
                        <a:t>Naive Bayes</a:t>
                      </a:r>
                      <a:endParaRPr lang="en-US" sz="1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9</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619227486"/>
                  </a:ext>
                </a:extLst>
              </a:tr>
              <a:tr h="584855">
                <a:tc vMerge="1">
                  <a:txBody>
                    <a:bodyPr/>
                    <a:lstStyle/>
                    <a:p>
                      <a:endParaRPr kumimoji="1" lang="ja-JP" altLang="en-US"/>
                    </a:p>
                  </a:txBody>
                  <a:tcPr/>
                </a:tc>
                <a:tc>
                  <a:txBody>
                    <a:bodyPr/>
                    <a:lstStyle/>
                    <a:p>
                      <a:pPr algn="ctr" fontAlgn="ct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三角形の合同条件をすべて書きなさい。</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5</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81330254"/>
                  </a:ext>
                </a:extLst>
              </a:tr>
              <a:tr h="584855">
                <a:tc vMerge="1">
                  <a:txBody>
                    <a:bodyPr/>
                    <a:lstStyle/>
                    <a:p>
                      <a:endParaRPr kumimoji="1" lang="ja-JP" altLang="en-US"/>
                    </a:p>
                  </a:txBody>
                  <a:tcPr/>
                </a:tc>
                <a:tc>
                  <a:txBody>
                    <a:bodyPr/>
                    <a:lstStyle/>
                    <a:p>
                      <a:pPr algn="ctr" fontAlgn="ct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共通因数とは何か簡潔に答えて？</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7</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4</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220109499"/>
                  </a:ext>
                </a:extLst>
              </a:tr>
              <a:tr h="584855">
                <a:tc vMerge="1">
                  <a:txBody>
                    <a:bodyPr/>
                    <a:lstStyle/>
                    <a:p>
                      <a:endParaRPr kumimoji="1" lang="ja-JP" altLang="en-US"/>
                    </a:p>
                  </a:txBody>
                  <a:tcPr/>
                </a:tc>
                <a:tc>
                  <a:txBody>
                    <a:bodyPr/>
                    <a:lstStyle/>
                    <a:p>
                      <a:pPr algn="ctr" fontAlgn="ct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三平方の定理を式とともに説明せよ。</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10</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5</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857760359"/>
                  </a:ext>
                </a:extLst>
              </a:tr>
              <a:tr h="584855">
                <a:tc>
                  <a:txBody>
                    <a:bodyPr/>
                    <a:lstStyle/>
                    <a:p>
                      <a:pPr algn="ctr" fontAlgn="ctr"/>
                      <a:r>
                        <a:rPr lang="en-US" sz="1600" u="none" strike="noStrike">
                          <a:effectLst/>
                          <a:latin typeface="UD デジタル 教科書体 NK-B" panose="02020700000000000000" pitchFamily="18" charset="-128"/>
                          <a:ea typeface="UD デジタル 教科書体 NK-B" panose="02020700000000000000" pitchFamily="18" charset="-128"/>
                        </a:rPr>
                        <a:t>K</a:t>
                      </a:r>
                      <a:r>
                        <a:rPr lang="ja-JP" altLang="en-US" sz="1600" u="none" strike="noStrike">
                          <a:effectLst/>
                          <a:latin typeface="UD デジタル 教科書体 NK-B" panose="02020700000000000000" pitchFamily="18" charset="-128"/>
                          <a:ea typeface="UD デジタル 教科書体 NK-B" panose="02020700000000000000" pitchFamily="18" charset="-128"/>
                        </a:rPr>
                        <a:t>近傍</a:t>
                      </a:r>
                      <a:endParaRPr lang="ja-JP" altLang="en-US" sz="16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1</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4291610184"/>
                  </a:ext>
                </a:extLst>
              </a:tr>
              <a:tr h="584855">
                <a:tc rowSpan="2">
                  <a:txBody>
                    <a:bodyPr/>
                    <a:lstStyle/>
                    <a:p>
                      <a:pPr algn="ctr" fontAlgn="ctr"/>
                      <a:r>
                        <a:rPr lang="en-US" sz="1600" u="none" strike="noStrike" dirty="0">
                          <a:effectLst/>
                          <a:latin typeface="UD デジタル 教科書体 NK-B" panose="02020700000000000000" pitchFamily="18" charset="-128"/>
                          <a:ea typeface="UD デジタル 教科書体 NK-B" panose="02020700000000000000" pitchFamily="18" charset="-128"/>
                        </a:rPr>
                        <a:t>Watson</a:t>
                      </a:r>
                      <a:endParaRPr lang="en-US" sz="1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4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7</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rgbClr val="97C7E6"/>
                    </a:solid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230688608"/>
                  </a:ext>
                </a:extLst>
              </a:tr>
              <a:tr h="620291">
                <a:tc vMerge="1">
                  <a:txBody>
                    <a:bodyPr/>
                    <a:lstStyle/>
                    <a:p>
                      <a:endParaRPr kumimoji="1" lang="ja-JP" altLang="en-US"/>
                    </a:p>
                  </a:txBody>
                  <a:tcPr/>
                </a:tc>
                <a:tc>
                  <a:txBody>
                    <a:bodyPr/>
                    <a:lstStyle/>
                    <a:p>
                      <a:pPr algn="ctr" fontAlgn="ctr"/>
                      <a:r>
                        <a:rPr lang="ja-JP" altLang="en-US" sz="1400" u="none" strike="noStrike" dirty="0">
                          <a:effectLst/>
                          <a:latin typeface="UD デジタル 教科書体 NK-B" panose="02020700000000000000" pitchFamily="18" charset="-128"/>
                          <a:ea typeface="UD デジタル 教科書体 NK-B" panose="02020700000000000000" pitchFamily="18" charset="-128"/>
                        </a:rPr>
                        <a:t>実数解を持つ二次関数の解の存在確認の方法を教えて</a:t>
                      </a:r>
                      <a:endParaRPr lang="ja-JP" altLang="en-US" sz="1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1</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tc>
                  <a:txBody>
                    <a:bodyPr/>
                    <a:lstStyle/>
                    <a:p>
                      <a:pPr algn="ctr" fontAlgn="ctr"/>
                      <a:r>
                        <a:rPr lang="en-US" altLang="ja-JP" sz="3600" u="none" strike="noStrike" dirty="0">
                          <a:effectLst/>
                          <a:latin typeface="UD デジタル 教科書体 NK-B" panose="02020700000000000000" pitchFamily="18" charset="-128"/>
                          <a:ea typeface="UD デジタル 教科書体 NK-B" panose="02020700000000000000" pitchFamily="18" charset="-128"/>
                        </a:rPr>
                        <a:t>9</a:t>
                      </a:r>
                      <a:endParaRPr lang="en-US" altLang="ja-JP" sz="3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noFill/>
                  </a:tcPr>
                </a:tc>
                <a:extLst>
                  <a:ext uri="{0D108BD9-81ED-4DB2-BD59-A6C34878D82A}">
                    <a16:rowId xmlns:a16="http://schemas.microsoft.com/office/drawing/2014/main" val="1045693398"/>
                  </a:ext>
                </a:extLst>
              </a:tr>
            </a:tbl>
          </a:graphicData>
        </a:graphic>
      </p:graphicFrame>
      <p:sp>
        <p:nvSpPr>
          <p:cNvPr id="5" name="テキスト ボックス 4">
            <a:extLst>
              <a:ext uri="{FF2B5EF4-FFF2-40B4-BE49-F238E27FC236}">
                <a16:creationId xmlns:a16="http://schemas.microsoft.com/office/drawing/2014/main" id="{275418A9-7FB9-2C94-898B-3FBE536FE7BE}"/>
              </a:ext>
            </a:extLst>
          </p:cNvPr>
          <p:cNvSpPr txBox="1"/>
          <p:nvPr/>
        </p:nvSpPr>
        <p:spPr>
          <a:xfrm>
            <a:off x="-522951" y="451578"/>
            <a:ext cx="8209942" cy="848181"/>
          </a:xfrm>
          <a:prstGeom prst="rect">
            <a:avLst/>
          </a:prstGeom>
          <a:noFill/>
        </p:spPr>
        <p:txBody>
          <a:bodyPr wrap="square">
            <a:spAutoFit/>
          </a:bodyPr>
          <a:lstStyle/>
          <a:p>
            <a:pPr algn="ctr">
              <a:lnSpc>
                <a:spcPct val="150000"/>
              </a:lnSpc>
            </a:pPr>
            <a:r>
              <a:rPr kumimoji="1" lang="ja-JP" altLang="en-US" sz="3600" b="1" kern="1200" dirty="0">
                <a:effectLst/>
                <a:latin typeface="UD デジタル 教科書体 NK-B" panose="02020700000000000000" pitchFamily="18" charset="-128"/>
                <a:ea typeface="UD デジタル 教科書体 NK-B" panose="02020700000000000000" pitchFamily="18" charset="-128"/>
              </a:rPr>
              <a:t>表</a:t>
            </a:r>
            <a:r>
              <a:rPr kumimoji="1" lang="en-US" altLang="ja-JP" sz="3600" b="1" kern="1200" dirty="0">
                <a:effectLst/>
                <a:latin typeface="UD デジタル 教科書体 NK-B" panose="02020700000000000000" pitchFamily="18" charset="-128"/>
                <a:ea typeface="UD デジタル 教科書体 NK-B" panose="02020700000000000000" pitchFamily="18" charset="-128"/>
              </a:rPr>
              <a:t>2</a:t>
            </a:r>
            <a:r>
              <a:rPr kumimoji="1" lang="ja-JP" altLang="en-US" sz="3600" b="1" kern="1200" dirty="0">
                <a:effectLst/>
                <a:latin typeface="UD デジタル 教科書体 NK-B" panose="02020700000000000000" pitchFamily="18" charset="-128"/>
                <a:ea typeface="UD デジタル 教科書体 NK-B" panose="02020700000000000000" pitchFamily="18" charset="-128"/>
                <a:cs typeface="+mn-cs"/>
              </a:rPr>
              <a:t>　各アルゴリズムの間違えた問題</a:t>
            </a:r>
          </a:p>
        </p:txBody>
      </p:sp>
      <p:sp>
        <p:nvSpPr>
          <p:cNvPr id="2" name="テキスト ボックス 1">
            <a:extLst>
              <a:ext uri="{FF2B5EF4-FFF2-40B4-BE49-F238E27FC236}">
                <a16:creationId xmlns:a16="http://schemas.microsoft.com/office/drawing/2014/main" id="{DB4FBEEA-45BB-C679-BE09-0F748A0E1238}"/>
              </a:ext>
            </a:extLst>
          </p:cNvPr>
          <p:cNvSpPr txBox="1"/>
          <p:nvPr/>
        </p:nvSpPr>
        <p:spPr>
          <a:xfrm>
            <a:off x="6702250" y="2737963"/>
            <a:ext cx="5489749" cy="2472600"/>
          </a:xfrm>
          <a:prstGeom prst="rect">
            <a:avLst/>
          </a:prstGeom>
          <a:noFill/>
        </p:spPr>
        <p:txBody>
          <a:bodyPr wrap="square">
            <a:spAutoFit/>
          </a:bodyPr>
          <a:lstStyle/>
          <a:p>
            <a:pPr algn="ctr">
              <a:lnSpc>
                <a:spcPct val="150000"/>
              </a:lnSpc>
            </a:pPr>
            <a:r>
              <a:rPr kumimoji="1" lang="ja-JP" altLang="en-US" sz="5400" b="1" kern="12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同じ質問文</a:t>
            </a:r>
            <a:r>
              <a:rPr kumimoji="1" lang="ja-JP" altLang="en-US" sz="4000" b="1" kern="1200" dirty="0">
                <a:effectLst/>
                <a:latin typeface="UD デジタル 教科書体 NK-B" panose="02020700000000000000" pitchFamily="18" charset="-128"/>
                <a:ea typeface="UD デジタル 教科書体 NK-B" panose="02020700000000000000" pitchFamily="18" charset="-128"/>
                <a:cs typeface="+mn-cs"/>
              </a:rPr>
              <a:t>に対して回答ラベルが</a:t>
            </a:r>
            <a:r>
              <a:rPr kumimoji="1" lang="ja-JP" altLang="en-US" sz="5400" b="1" kern="12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異なる</a:t>
            </a:r>
          </a:p>
        </p:txBody>
      </p:sp>
    </p:spTree>
    <p:extLst>
      <p:ext uri="{BB962C8B-B14F-4D97-AF65-F5344CB8AC3E}">
        <p14:creationId xmlns:p14="http://schemas.microsoft.com/office/powerpoint/2010/main" val="16848051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55FAD020-33BB-344D-A62B-D7F6E715E628}"/>
              </a:ext>
            </a:extLst>
          </p:cNvPr>
          <p:cNvGraphicFramePr>
            <a:graphicFrameLocks noGrp="1"/>
          </p:cNvGraphicFramePr>
          <p:nvPr>
            <p:extLst>
              <p:ext uri="{D42A27DB-BD31-4B8C-83A1-F6EECF244321}">
                <p14:modId xmlns:p14="http://schemas.microsoft.com/office/powerpoint/2010/main" val="3526626162"/>
              </p:ext>
            </p:extLst>
          </p:nvPr>
        </p:nvGraphicFramePr>
        <p:xfrm>
          <a:off x="0" y="1376623"/>
          <a:ext cx="7033845" cy="5481378"/>
        </p:xfrm>
        <a:graphic>
          <a:graphicData uri="http://schemas.openxmlformats.org/drawingml/2006/table">
            <a:tbl>
              <a:tblPr>
                <a:tableStyleId>{5940675A-B579-460E-94D1-54222C63F5DA}</a:tableStyleId>
              </a:tblPr>
              <a:tblGrid>
                <a:gridCol w="3877633">
                  <a:extLst>
                    <a:ext uri="{9D8B030D-6E8A-4147-A177-3AD203B41FA5}">
                      <a16:colId xmlns:a16="http://schemas.microsoft.com/office/drawing/2014/main" val="113907410"/>
                    </a:ext>
                  </a:extLst>
                </a:gridCol>
                <a:gridCol w="991952">
                  <a:extLst>
                    <a:ext uri="{9D8B030D-6E8A-4147-A177-3AD203B41FA5}">
                      <a16:colId xmlns:a16="http://schemas.microsoft.com/office/drawing/2014/main" val="2572968309"/>
                    </a:ext>
                  </a:extLst>
                </a:gridCol>
                <a:gridCol w="991952">
                  <a:extLst>
                    <a:ext uri="{9D8B030D-6E8A-4147-A177-3AD203B41FA5}">
                      <a16:colId xmlns:a16="http://schemas.microsoft.com/office/drawing/2014/main" val="1129374324"/>
                    </a:ext>
                  </a:extLst>
                </a:gridCol>
                <a:gridCol w="1172308">
                  <a:extLst>
                    <a:ext uri="{9D8B030D-6E8A-4147-A177-3AD203B41FA5}">
                      <a16:colId xmlns:a16="http://schemas.microsoft.com/office/drawing/2014/main" val="2636423523"/>
                    </a:ext>
                  </a:extLst>
                </a:gridCol>
              </a:tblGrid>
              <a:tr h="1357294">
                <a:tc>
                  <a:txBody>
                    <a:bodyPr/>
                    <a:lstStyle/>
                    <a:p>
                      <a:pPr algn="l" fontAlgn="ctr"/>
                      <a:r>
                        <a:rPr lang="ja-JP" altLang="en-US" sz="2400" u="none" strike="noStrike" dirty="0">
                          <a:effectLst/>
                          <a:latin typeface="UD デジタル 教科書体 NK-B" panose="02020700000000000000" pitchFamily="18" charset="-128"/>
                          <a:ea typeface="UD デジタル 教科書体 NK-B" panose="02020700000000000000" pitchFamily="18" charset="-128"/>
                        </a:rPr>
                        <a:t>質問</a:t>
                      </a:r>
                      <a:endParaRPr lang="ja-JP" alt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l" fontAlgn="ctr"/>
                      <a:r>
                        <a:rPr lang="ja-JP" altLang="en-US" sz="2400" u="none" strike="noStrike" dirty="0">
                          <a:effectLst/>
                          <a:latin typeface="UD デジタル 教科書体 NK-B" panose="02020700000000000000" pitchFamily="18" charset="-128"/>
                          <a:ea typeface="UD デジタル 教科書体 NK-B" panose="02020700000000000000" pitchFamily="18" charset="-128"/>
                        </a:rPr>
                        <a:t>正解</a:t>
                      </a:r>
                      <a:endParaRPr lang="en-US" altLang="ja-JP" sz="2400" u="none" strike="noStrike" dirty="0">
                        <a:effectLst/>
                        <a:latin typeface="UD デジタル 教科書体 NK-B" panose="02020700000000000000" pitchFamily="18" charset="-128"/>
                        <a:ea typeface="UD デジタル 教科書体 NK-B" panose="02020700000000000000" pitchFamily="18" charset="-128"/>
                      </a:endParaRPr>
                    </a:p>
                    <a:p>
                      <a:pPr algn="l" fontAlgn="ctr"/>
                      <a:r>
                        <a:rPr lang="ja-JP" altLang="en-US" sz="2400" u="none" strike="noStrike" dirty="0">
                          <a:effectLst/>
                          <a:latin typeface="UD デジタル 教科書体 NK-B" panose="02020700000000000000" pitchFamily="18" charset="-128"/>
                          <a:ea typeface="UD デジタル 教科書体 NK-B" panose="02020700000000000000" pitchFamily="18" charset="-128"/>
                        </a:rPr>
                        <a:t>ラベル</a:t>
                      </a:r>
                      <a:endParaRPr lang="ja-JP" alt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l" fontAlgn="ctr"/>
                      <a:r>
                        <a:rPr lang="ja-JP" altLang="en-US" sz="2400" u="none" strike="noStrike" dirty="0">
                          <a:effectLst/>
                          <a:latin typeface="UD デジタル 教科書体 NK-B" panose="02020700000000000000" pitchFamily="18" charset="-128"/>
                          <a:ea typeface="UD デジタル 教科書体 NK-B" panose="02020700000000000000" pitchFamily="18" charset="-128"/>
                        </a:rPr>
                        <a:t>回答</a:t>
                      </a:r>
                      <a:endParaRPr lang="en-US" altLang="ja-JP" sz="2400" u="none" strike="noStrike" dirty="0">
                        <a:effectLst/>
                        <a:latin typeface="UD デジタル 教科書体 NK-B" panose="02020700000000000000" pitchFamily="18" charset="-128"/>
                        <a:ea typeface="UD デジタル 教科書体 NK-B" panose="02020700000000000000" pitchFamily="18" charset="-128"/>
                      </a:endParaRPr>
                    </a:p>
                    <a:p>
                      <a:pPr algn="l" fontAlgn="ctr"/>
                      <a:r>
                        <a:rPr lang="ja-JP" altLang="en-US" sz="2400" u="none" strike="noStrike" dirty="0">
                          <a:effectLst/>
                          <a:latin typeface="UD デジタル 教科書体 NK-B" panose="02020700000000000000" pitchFamily="18" charset="-128"/>
                          <a:ea typeface="UD デジタル 教科書体 NK-B" panose="02020700000000000000" pitchFamily="18" charset="-128"/>
                        </a:rPr>
                        <a:t>ラベル</a:t>
                      </a:r>
                      <a:endParaRPr lang="ja-JP" alt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l" fontAlgn="ctr"/>
                      <a:r>
                        <a:rPr lang="ja-JP" altLang="en-US" sz="2400" u="none" strike="noStrike" dirty="0">
                          <a:effectLst/>
                          <a:latin typeface="UD デジタル 教科書体 NK-B" panose="02020700000000000000" pitchFamily="18" charset="-128"/>
                          <a:ea typeface="UD デジタル 教科書体 NK-B" panose="02020700000000000000" pitchFamily="18" charset="-128"/>
                        </a:rPr>
                        <a:t>信頼度スコア</a:t>
                      </a:r>
                      <a:endParaRPr lang="ja-JP" alt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extLst>
                  <a:ext uri="{0D108BD9-81ED-4DB2-BD59-A6C34878D82A}">
                    <a16:rowId xmlns:a16="http://schemas.microsoft.com/office/drawing/2014/main" val="264493349"/>
                  </a:ext>
                </a:extLst>
              </a:tr>
              <a:tr h="1409496">
                <a:tc>
                  <a:txBody>
                    <a:bodyPr/>
                    <a:lstStyle/>
                    <a:p>
                      <a:pPr algn="l" fontAlgn="ctr"/>
                      <a:r>
                        <a:rPr lang="en-US" altLang="ja-JP" sz="2400" u="none" strike="noStrike" dirty="0" err="1">
                          <a:effectLst/>
                          <a:latin typeface="UD デジタル 教科書体 NK-B" panose="02020700000000000000" pitchFamily="18" charset="-128"/>
                          <a:ea typeface="UD デジタル 教科書体 NK-B" panose="02020700000000000000" pitchFamily="18" charset="-128"/>
                        </a:rPr>
                        <a:t>abc</a:t>
                      </a: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を用いて解の公式を表せ</a:t>
                      </a:r>
                      <a:endParaRPr lang="ja-JP" alt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1</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2800" u="none" strike="noStrike">
                          <a:effectLst/>
                          <a:latin typeface="UD デジタル 教科書体 NK-B" panose="02020700000000000000" pitchFamily="18" charset="-128"/>
                          <a:ea typeface="UD デジタル 教科書体 NK-B" panose="02020700000000000000" pitchFamily="18" charset="-128"/>
                        </a:rPr>
                        <a:t>1</a:t>
                      </a:r>
                      <a:endParaRPr lang="en-US" altLang="ja-JP" sz="2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0.64796</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534566415"/>
                  </a:ext>
                </a:extLst>
              </a:tr>
              <a:tr h="1357294">
                <a:tc>
                  <a:txBody>
                    <a:bodyPr/>
                    <a:lstStyle/>
                    <a:p>
                      <a:pPr algn="l"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SSS</a:t>
                      </a: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SAS</a:t>
                      </a: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a:t>
                      </a: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ASA</a:t>
                      </a: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3</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7</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0.13246</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2451623072"/>
                  </a:ext>
                </a:extLst>
              </a:tr>
              <a:tr h="1357294">
                <a:tc>
                  <a:txBody>
                    <a:bodyPr/>
                    <a:lstStyle/>
                    <a:p>
                      <a:pPr algn="l"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実数解を持つ二次関数の解の存在確認の方法を教えて</a:t>
                      </a:r>
                      <a:endParaRPr lang="ja-JP" altLang="en-US" sz="24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9</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2800" u="none" strike="noStrike" dirty="0">
                          <a:effectLst/>
                          <a:latin typeface="UD デジタル 教科書体 NK-B" panose="02020700000000000000" pitchFamily="18" charset="-128"/>
                          <a:ea typeface="UD デジタル 教科書体 NK-B" panose="02020700000000000000" pitchFamily="18" charset="-128"/>
                        </a:rPr>
                        <a:t>1</a:t>
                      </a:r>
                      <a:endParaRPr lang="en-US" altLang="ja-JP" sz="2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tc>
                  <a:txBody>
                    <a:bodyPr/>
                    <a:lstStyle/>
                    <a:p>
                      <a:pPr algn="r"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0.63252</a:t>
                      </a:r>
                      <a:endParaRPr lang="en-US" altLang="ja-JP"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tc>
                <a:extLst>
                  <a:ext uri="{0D108BD9-81ED-4DB2-BD59-A6C34878D82A}">
                    <a16:rowId xmlns:a16="http://schemas.microsoft.com/office/drawing/2014/main" val="1721906823"/>
                  </a:ext>
                </a:extLst>
              </a:tr>
            </a:tbl>
          </a:graphicData>
        </a:graphic>
      </p:graphicFrame>
      <p:sp>
        <p:nvSpPr>
          <p:cNvPr id="6" name="テキスト ボックス 5">
            <a:extLst>
              <a:ext uri="{FF2B5EF4-FFF2-40B4-BE49-F238E27FC236}">
                <a16:creationId xmlns:a16="http://schemas.microsoft.com/office/drawing/2014/main" id="{36036FEE-7443-45A8-D6E4-8A9816920A0A}"/>
              </a:ext>
            </a:extLst>
          </p:cNvPr>
          <p:cNvSpPr txBox="1"/>
          <p:nvPr/>
        </p:nvSpPr>
        <p:spPr>
          <a:xfrm>
            <a:off x="-1863969" y="250611"/>
            <a:ext cx="11505361" cy="764184"/>
          </a:xfrm>
          <a:prstGeom prst="rect">
            <a:avLst/>
          </a:prstGeom>
          <a:noFill/>
        </p:spPr>
        <p:txBody>
          <a:bodyPr wrap="square">
            <a:spAutoFit/>
          </a:bodyPr>
          <a:lstStyle/>
          <a:p>
            <a:pPr algn="ctr">
              <a:lnSpc>
                <a:spcPct val="150000"/>
              </a:lnSpc>
            </a:pPr>
            <a:r>
              <a:rPr kumimoji="1" lang="ja-JP" altLang="en-US" sz="3200" b="1" kern="1200" dirty="0">
                <a:effectLst/>
                <a:latin typeface="UD デジタル 教科書体 NK-B" panose="02020700000000000000" pitchFamily="18" charset="-128"/>
                <a:ea typeface="UD デジタル 教科書体 NK-B" panose="02020700000000000000" pitchFamily="18" charset="-128"/>
              </a:rPr>
              <a:t>表</a:t>
            </a:r>
            <a:r>
              <a:rPr lang="ja-JP" altLang="en-US" sz="3200" b="1" dirty="0">
                <a:latin typeface="UD デジタル 教科書体 NK-B" panose="02020700000000000000" pitchFamily="18" charset="-128"/>
                <a:ea typeface="UD デジタル 教科書体 NK-B" panose="02020700000000000000" pitchFamily="18" charset="-128"/>
              </a:rPr>
              <a:t>３</a:t>
            </a:r>
            <a:r>
              <a:rPr kumimoji="1" lang="ja-JP" altLang="en-US" sz="3200" b="1" kern="1200" dirty="0">
                <a:effectLst/>
                <a:latin typeface="UD デジタル 教科書体 NK-B" panose="02020700000000000000" pitchFamily="18" charset="-128"/>
                <a:ea typeface="UD デジタル 教科書体 NK-B" panose="02020700000000000000" pitchFamily="18" charset="-128"/>
                <a:cs typeface="+mn-cs"/>
              </a:rPr>
              <a:t>　</a:t>
            </a:r>
            <a:r>
              <a:rPr kumimoji="1" lang="en-US" altLang="ja-JP" sz="3200" b="1" kern="1200" dirty="0">
                <a:effectLst/>
                <a:latin typeface="UD デジタル 教科書体 NK-B" panose="02020700000000000000" pitchFamily="18" charset="-128"/>
                <a:ea typeface="UD デジタル 教科書体 NK-B" panose="02020700000000000000" pitchFamily="18" charset="-128"/>
                <a:cs typeface="+mn-cs"/>
              </a:rPr>
              <a:t>Watson Assistant</a:t>
            </a:r>
            <a:r>
              <a:rPr kumimoji="1" lang="ja-JP" altLang="en-US" sz="3200" b="1" kern="1200" dirty="0">
                <a:effectLst/>
                <a:latin typeface="UD デジタル 教科書体 NK-B" panose="02020700000000000000" pitchFamily="18" charset="-128"/>
                <a:ea typeface="UD デジタル 教科書体 NK-B" panose="02020700000000000000" pitchFamily="18" charset="-128"/>
                <a:cs typeface="+mn-cs"/>
              </a:rPr>
              <a:t>を用いたの信頼度</a:t>
            </a:r>
          </a:p>
        </p:txBody>
      </p:sp>
      <p:sp>
        <p:nvSpPr>
          <p:cNvPr id="7" name="テキスト ボックス 6">
            <a:extLst>
              <a:ext uri="{FF2B5EF4-FFF2-40B4-BE49-F238E27FC236}">
                <a16:creationId xmlns:a16="http://schemas.microsoft.com/office/drawing/2014/main" id="{FBF92261-0411-6836-24C2-B8A8FBE4E312}"/>
              </a:ext>
            </a:extLst>
          </p:cNvPr>
          <p:cNvSpPr txBox="1"/>
          <p:nvPr/>
        </p:nvSpPr>
        <p:spPr>
          <a:xfrm>
            <a:off x="7410658" y="1376623"/>
            <a:ext cx="4461468" cy="4877938"/>
          </a:xfrm>
          <a:prstGeom prst="rect">
            <a:avLst/>
          </a:prstGeom>
          <a:noFill/>
        </p:spPr>
        <p:txBody>
          <a:bodyPr wrap="square">
            <a:spAutoFit/>
          </a:bodyPr>
          <a:lstStyle/>
          <a:p>
            <a:pPr>
              <a:lnSpc>
                <a:spcPct val="150000"/>
              </a:lnSpc>
            </a:pPr>
            <a:r>
              <a:rPr kumimoji="1" lang="ja-JP" altLang="en-US" sz="5400" b="1" kern="1200" dirty="0">
                <a:effectLst/>
                <a:latin typeface="UD デジタル 教科書体 NK-B" panose="02020700000000000000" pitchFamily="18" charset="-128"/>
                <a:ea typeface="UD デジタル 教科書体 NK-B" panose="02020700000000000000" pitchFamily="18" charset="-128"/>
                <a:cs typeface="+mn-cs"/>
              </a:rPr>
              <a:t>３つを除いて</a:t>
            </a:r>
            <a:endParaRPr kumimoji="1" lang="en-US" altLang="ja-JP" sz="5400" b="1" kern="1200" dirty="0">
              <a:effectLst/>
              <a:latin typeface="UD デジタル 教科書体 NK-B" panose="02020700000000000000" pitchFamily="18" charset="-128"/>
              <a:ea typeface="UD デジタル 教科書体 NK-B" panose="02020700000000000000" pitchFamily="18" charset="-128"/>
              <a:cs typeface="+mn-cs"/>
            </a:endParaRPr>
          </a:p>
          <a:p>
            <a:pPr>
              <a:lnSpc>
                <a:spcPct val="150000"/>
              </a:lnSpc>
            </a:pPr>
            <a:r>
              <a:rPr kumimoji="1" lang="ja-JP" altLang="en-US" sz="6600" b="1" kern="1200" dirty="0">
                <a:solidFill>
                  <a:srgbClr val="FF5050"/>
                </a:solidFill>
                <a:effectLst/>
                <a:latin typeface="UD デジタル 教科書体 NK-B" panose="02020700000000000000" pitchFamily="18" charset="-128"/>
                <a:ea typeface="UD デジタル 教科書体 NK-B" panose="02020700000000000000" pitchFamily="18" charset="-128"/>
                <a:cs typeface="+mn-cs"/>
              </a:rPr>
              <a:t>正解</a:t>
            </a:r>
            <a:r>
              <a:rPr kumimoji="1" lang="ja-JP" altLang="en-US" sz="6600" b="1" kern="1200" dirty="0">
                <a:effectLst/>
                <a:latin typeface="UD デジタル 教科書体 NK-B" panose="02020700000000000000" pitchFamily="18" charset="-128"/>
                <a:ea typeface="UD デジタル 教科書体 NK-B" panose="02020700000000000000" pitchFamily="18" charset="-128"/>
                <a:cs typeface="+mn-cs"/>
              </a:rPr>
              <a:t>かつ</a:t>
            </a:r>
            <a:endParaRPr kumimoji="1" lang="en-US" altLang="ja-JP" sz="8000" b="1" kern="1200" dirty="0">
              <a:effectLst/>
              <a:latin typeface="UD デジタル 教科書体 NK-B" panose="02020700000000000000" pitchFamily="18" charset="-128"/>
              <a:ea typeface="UD デジタル 教科書体 NK-B" panose="02020700000000000000" pitchFamily="18" charset="-128"/>
              <a:cs typeface="+mn-cs"/>
            </a:endParaRPr>
          </a:p>
          <a:p>
            <a:pPr>
              <a:lnSpc>
                <a:spcPct val="150000"/>
              </a:lnSpc>
            </a:pPr>
            <a:r>
              <a:rPr lang="ja-JP" altLang="en-US" sz="9600" b="1" dirty="0">
                <a:solidFill>
                  <a:srgbClr val="FF5050"/>
                </a:solidFill>
                <a:latin typeface="UD デジタル 教科書体 NK-B" panose="02020700000000000000" pitchFamily="18" charset="-128"/>
                <a:ea typeface="UD デジタル 教科書体 NK-B" panose="02020700000000000000" pitchFamily="18" charset="-128"/>
              </a:rPr>
              <a:t>０．８</a:t>
            </a:r>
            <a:r>
              <a:rPr lang="ja-JP" altLang="en-US" sz="6600" b="1" dirty="0">
                <a:solidFill>
                  <a:srgbClr val="FF5050"/>
                </a:solidFill>
                <a:latin typeface="UD デジタル 教科書体 NK-B" panose="02020700000000000000" pitchFamily="18" charset="-128"/>
                <a:ea typeface="UD デジタル 教科書体 NK-B" panose="02020700000000000000" pitchFamily="18" charset="-128"/>
              </a:rPr>
              <a:t>以上</a:t>
            </a:r>
            <a:endParaRPr lang="en-US" altLang="ja-JP" sz="6600" b="1" dirty="0">
              <a:solidFill>
                <a:srgbClr val="FF5050"/>
              </a:solidFill>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864428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考察：共通で間違えた質問について</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7" name="テキスト ボックス 6">
            <a:extLst>
              <a:ext uri="{FF2B5EF4-FFF2-40B4-BE49-F238E27FC236}">
                <a16:creationId xmlns:a16="http://schemas.microsoft.com/office/drawing/2014/main" id="{1A79456D-F7C7-A800-522E-A3D210223257}"/>
              </a:ext>
            </a:extLst>
          </p:cNvPr>
          <p:cNvSpPr txBox="1"/>
          <p:nvPr/>
        </p:nvSpPr>
        <p:spPr>
          <a:xfrm>
            <a:off x="113901" y="1666298"/>
            <a:ext cx="12344400" cy="707886"/>
          </a:xfrm>
          <a:prstGeom prst="rect">
            <a:avLst/>
          </a:prstGeom>
          <a:noFill/>
        </p:spPr>
        <p:txBody>
          <a:bodyPr wrap="square">
            <a:spAutoFit/>
          </a:bodyPr>
          <a:lstStyle/>
          <a:p>
            <a:r>
              <a:rPr lang="en-US" altLang="ja-JP" sz="4000" dirty="0">
                <a:latin typeface="UD デジタル 教科書体 NK-B" panose="02020700000000000000" pitchFamily="18" charset="-128"/>
                <a:ea typeface="UD デジタル 教科書体 NK-B" panose="02020700000000000000" pitchFamily="18" charset="-128"/>
              </a:rPr>
              <a:t>Q</a:t>
            </a:r>
            <a:r>
              <a:rPr lang="ja-JP" altLang="en-US" sz="4000" dirty="0">
                <a:latin typeface="UD デジタル 教科書体 NK-B" panose="02020700000000000000" pitchFamily="18" charset="-128"/>
                <a:ea typeface="UD デジタル 教科書体 NK-B" panose="02020700000000000000" pitchFamily="18" charset="-128"/>
              </a:rPr>
              <a:t>：</a:t>
            </a:r>
            <a:r>
              <a:rPr lang="ja-JP" altLang="en-US" sz="3600" dirty="0">
                <a:latin typeface="UD デジタル 教科書体 NK-B" panose="02020700000000000000" pitchFamily="18" charset="-128"/>
                <a:ea typeface="UD デジタル 教科書体 NK-B" panose="02020700000000000000" pitchFamily="18" charset="-128"/>
              </a:rPr>
              <a:t>「</a:t>
            </a:r>
            <a:r>
              <a:rPr lang="en-US" altLang="ja-JP" sz="3600" dirty="0">
                <a:latin typeface="UD デジタル 教科書体 NK-B" panose="02020700000000000000" pitchFamily="18" charset="-128"/>
                <a:ea typeface="UD デジタル 教科書体 NK-B" panose="02020700000000000000" pitchFamily="18" charset="-128"/>
              </a:rPr>
              <a:t>SSS</a:t>
            </a:r>
            <a:r>
              <a:rPr lang="ja-JP" altLang="en-US" sz="3600" dirty="0">
                <a:latin typeface="UD デジタル 教科書体 NK-B" panose="02020700000000000000" pitchFamily="18" charset="-128"/>
                <a:ea typeface="UD デジタル 教科書体 NK-B" panose="02020700000000000000" pitchFamily="18" charset="-128"/>
              </a:rPr>
              <a:t>、</a:t>
            </a:r>
            <a:r>
              <a:rPr lang="en-US" altLang="ja-JP" sz="3600" dirty="0">
                <a:latin typeface="UD デジタル 教科書体 NK-B" panose="02020700000000000000" pitchFamily="18" charset="-128"/>
                <a:ea typeface="UD デジタル 教科書体 NK-B" panose="02020700000000000000" pitchFamily="18" charset="-128"/>
              </a:rPr>
              <a:t>SAS</a:t>
            </a:r>
            <a:r>
              <a:rPr lang="ja-JP" altLang="en-US" sz="3600" dirty="0">
                <a:latin typeface="UD デジタル 教科書体 NK-B" panose="02020700000000000000" pitchFamily="18" charset="-128"/>
                <a:ea typeface="UD デジタル 教科書体 NK-B" panose="02020700000000000000" pitchFamily="18" charset="-128"/>
              </a:rPr>
              <a:t>、</a:t>
            </a:r>
            <a:r>
              <a:rPr lang="en-US" altLang="ja-JP" sz="3600" dirty="0">
                <a:latin typeface="UD デジタル 教科書体 NK-B" panose="02020700000000000000" pitchFamily="18" charset="-128"/>
                <a:ea typeface="UD デジタル 教科書体 NK-B" panose="02020700000000000000" pitchFamily="18" charset="-128"/>
              </a:rPr>
              <a:t>ASA </a:t>
            </a:r>
            <a:r>
              <a:rPr lang="ja-JP" altLang="en-US" sz="3600" dirty="0">
                <a:latin typeface="UD デジタル 教科書体 NK-B" panose="02020700000000000000" pitchFamily="18" charset="-128"/>
                <a:ea typeface="UD デジタル 教科書体 NK-B" panose="02020700000000000000" pitchFamily="18" charset="-128"/>
              </a:rPr>
              <a:t>がそれぞれ何を示しているか教えて」</a:t>
            </a:r>
            <a:endParaRPr lang="ja-JP" altLang="en-US" sz="4000" dirty="0">
              <a:latin typeface="UD デジタル 教科書体 NK-B" panose="02020700000000000000" pitchFamily="18" charset="-128"/>
              <a:ea typeface="UD デジタル 教科書体 NK-B" panose="02020700000000000000" pitchFamily="18" charset="-128"/>
            </a:endParaRPr>
          </a:p>
        </p:txBody>
      </p:sp>
      <p:sp>
        <p:nvSpPr>
          <p:cNvPr id="8" name="正方形/長方形 7">
            <a:extLst>
              <a:ext uri="{FF2B5EF4-FFF2-40B4-BE49-F238E27FC236}">
                <a16:creationId xmlns:a16="http://schemas.microsoft.com/office/drawing/2014/main" id="{3ADA0FDB-7BC3-EB97-6C0B-C6F80C1524E4}"/>
              </a:ext>
            </a:extLst>
          </p:cNvPr>
          <p:cNvSpPr/>
          <p:nvPr/>
        </p:nvSpPr>
        <p:spPr>
          <a:xfrm flipV="1">
            <a:off x="492368" y="3815714"/>
            <a:ext cx="4970585" cy="1250529"/>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A8A5DB10-C7FC-8862-DF01-6DA042ED4ED3}"/>
              </a:ext>
            </a:extLst>
          </p:cNvPr>
          <p:cNvSpPr/>
          <p:nvPr/>
        </p:nvSpPr>
        <p:spPr>
          <a:xfrm flipV="1">
            <a:off x="492369" y="5298425"/>
            <a:ext cx="4970585" cy="1250529"/>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374C4F4-42A9-A50E-C73B-F04A5DC341A1}"/>
              </a:ext>
            </a:extLst>
          </p:cNvPr>
          <p:cNvSpPr/>
          <p:nvPr/>
        </p:nvSpPr>
        <p:spPr>
          <a:xfrm flipV="1">
            <a:off x="492367" y="6688110"/>
            <a:ext cx="4970585" cy="1250529"/>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E46954E7-1802-DECC-98DC-FAF6DA9BAA0D}"/>
              </a:ext>
            </a:extLst>
          </p:cNvPr>
          <p:cNvSpPr txBox="1"/>
          <p:nvPr/>
        </p:nvSpPr>
        <p:spPr>
          <a:xfrm>
            <a:off x="1096945" y="3033008"/>
            <a:ext cx="3917182" cy="646331"/>
          </a:xfrm>
          <a:prstGeom prst="rect">
            <a:avLst/>
          </a:prstGeom>
          <a:noFill/>
        </p:spPr>
        <p:txBody>
          <a:bodyPr wrap="square">
            <a:spAutoFit/>
          </a:bodyPr>
          <a:lstStyle/>
          <a:p>
            <a:r>
              <a:rPr lang="ja-JP" altLang="en-US" sz="3600" dirty="0">
                <a:latin typeface="UD デジタル 教科書体 NK-B" panose="02020700000000000000" pitchFamily="18" charset="-128"/>
                <a:ea typeface="UD デジタル 教科書体 NK-B" panose="02020700000000000000" pitchFamily="18" charset="-128"/>
              </a:rPr>
              <a:t>トレーニングデータ</a:t>
            </a:r>
          </a:p>
        </p:txBody>
      </p:sp>
      <p:sp>
        <p:nvSpPr>
          <p:cNvPr id="12" name="楕円 11">
            <a:extLst>
              <a:ext uri="{FF2B5EF4-FFF2-40B4-BE49-F238E27FC236}">
                <a16:creationId xmlns:a16="http://schemas.microsoft.com/office/drawing/2014/main" id="{78A3641B-4C68-925C-4216-949D004E72EE}"/>
              </a:ext>
            </a:extLst>
          </p:cNvPr>
          <p:cNvSpPr/>
          <p:nvPr/>
        </p:nvSpPr>
        <p:spPr>
          <a:xfrm>
            <a:off x="684145" y="4303482"/>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A81A72FE-5B25-3F47-A53F-8335E483F92C}"/>
              </a:ext>
            </a:extLst>
          </p:cNvPr>
          <p:cNvSpPr/>
          <p:nvPr/>
        </p:nvSpPr>
        <p:spPr>
          <a:xfrm>
            <a:off x="692610" y="4706701"/>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A0939236-57C8-D7E9-C096-F3421C00DABA}"/>
              </a:ext>
            </a:extLst>
          </p:cNvPr>
          <p:cNvSpPr/>
          <p:nvPr/>
        </p:nvSpPr>
        <p:spPr>
          <a:xfrm>
            <a:off x="684145" y="4506683"/>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14BF7C6E-9723-8FF0-504C-A195158E0905}"/>
              </a:ext>
            </a:extLst>
          </p:cNvPr>
          <p:cNvSpPr/>
          <p:nvPr/>
        </p:nvSpPr>
        <p:spPr>
          <a:xfrm>
            <a:off x="675680" y="5797148"/>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2EB9AF84-2F3D-3334-2CCF-190D949FDFA2}"/>
              </a:ext>
            </a:extLst>
          </p:cNvPr>
          <p:cNvSpPr/>
          <p:nvPr/>
        </p:nvSpPr>
        <p:spPr>
          <a:xfrm>
            <a:off x="684145" y="6200367"/>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1BC12015-65F0-3E78-86E5-D99CCDDA2B59}"/>
              </a:ext>
            </a:extLst>
          </p:cNvPr>
          <p:cNvSpPr/>
          <p:nvPr/>
        </p:nvSpPr>
        <p:spPr>
          <a:xfrm>
            <a:off x="675680" y="6000349"/>
            <a:ext cx="135467" cy="13546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7B3C058E-80F5-A556-3285-167F285AFD68}"/>
              </a:ext>
            </a:extLst>
          </p:cNvPr>
          <p:cNvSpPr txBox="1"/>
          <p:nvPr/>
        </p:nvSpPr>
        <p:spPr>
          <a:xfrm>
            <a:off x="584479" y="3882306"/>
            <a:ext cx="4721051" cy="461665"/>
          </a:xfrm>
          <a:prstGeom prst="rect">
            <a:avLst/>
          </a:prstGeom>
          <a:noFill/>
        </p:spPr>
        <p:txBody>
          <a:bodyPr wrap="square">
            <a:spAutoFit/>
          </a:bodyPr>
          <a:lstStyle/>
          <a:p>
            <a:r>
              <a:rPr lang="ja-JP" altLang="en-US" sz="2400" dirty="0">
                <a:latin typeface="UD デジタル 教科書体 NK-B" panose="02020700000000000000" pitchFamily="18" charset="-128"/>
                <a:ea typeface="UD デジタル 教科書体 NK-B" panose="02020700000000000000" pitchFamily="18" charset="-128"/>
              </a:rPr>
              <a:t>二次関数の一般形</a:t>
            </a:r>
          </a:p>
        </p:txBody>
      </p:sp>
      <p:sp>
        <p:nvSpPr>
          <p:cNvPr id="19" name="テキスト ボックス 18">
            <a:extLst>
              <a:ext uri="{FF2B5EF4-FFF2-40B4-BE49-F238E27FC236}">
                <a16:creationId xmlns:a16="http://schemas.microsoft.com/office/drawing/2014/main" id="{05B326D4-3C22-1857-B562-59E3D62713D6}"/>
              </a:ext>
            </a:extLst>
          </p:cNvPr>
          <p:cNvSpPr txBox="1"/>
          <p:nvPr/>
        </p:nvSpPr>
        <p:spPr>
          <a:xfrm>
            <a:off x="584479" y="5373994"/>
            <a:ext cx="4294181" cy="461665"/>
          </a:xfrm>
          <a:prstGeom prst="rect">
            <a:avLst/>
          </a:prstGeom>
          <a:noFill/>
        </p:spPr>
        <p:txBody>
          <a:bodyPr wrap="square">
            <a:spAutoFit/>
          </a:bodyPr>
          <a:lstStyle/>
          <a:p>
            <a:r>
              <a:rPr lang="ja-JP" altLang="en-US" sz="2400" dirty="0">
                <a:latin typeface="UD デジタル 教科書体 NK-B" panose="02020700000000000000" pitchFamily="18" charset="-128"/>
                <a:ea typeface="UD デジタル 教科書体 NK-B" panose="02020700000000000000" pitchFamily="18" charset="-128"/>
              </a:rPr>
              <a:t>導関数の定義</a:t>
            </a:r>
          </a:p>
        </p:txBody>
      </p:sp>
      <p:sp>
        <p:nvSpPr>
          <p:cNvPr id="21" name="テキスト ボックス 20">
            <a:extLst>
              <a:ext uri="{FF2B5EF4-FFF2-40B4-BE49-F238E27FC236}">
                <a16:creationId xmlns:a16="http://schemas.microsoft.com/office/drawing/2014/main" id="{34A82983-D511-B768-FC29-D073EF1AABD8}"/>
              </a:ext>
            </a:extLst>
          </p:cNvPr>
          <p:cNvSpPr txBox="1"/>
          <p:nvPr/>
        </p:nvSpPr>
        <p:spPr>
          <a:xfrm>
            <a:off x="5798664" y="3228458"/>
            <a:ext cx="6545736" cy="1323439"/>
          </a:xfrm>
          <a:prstGeom prst="rect">
            <a:avLst/>
          </a:prstGeom>
          <a:noFill/>
        </p:spPr>
        <p:txBody>
          <a:bodyPr wrap="square">
            <a:spAutoFit/>
          </a:bodyPr>
          <a:lstStyle/>
          <a:p>
            <a:r>
              <a:rPr lang="ja-JP" altLang="en-US" sz="4400" dirty="0">
                <a:latin typeface="UD デジタル 教科書体 NK-B" panose="02020700000000000000" pitchFamily="18" charset="-128"/>
                <a:ea typeface="UD デジタル 教科書体 NK-B" panose="02020700000000000000" pitchFamily="18" charset="-128"/>
              </a:rPr>
              <a:t>「</a:t>
            </a:r>
            <a:r>
              <a:rPr lang="en-US" altLang="ja-JP" sz="4400" dirty="0">
                <a:solidFill>
                  <a:srgbClr val="FF5050"/>
                </a:solidFill>
                <a:latin typeface="UD デジタル 教科書体 NK-B" panose="02020700000000000000" pitchFamily="18" charset="-128"/>
                <a:ea typeface="UD デジタル 教科書体 NK-B" panose="02020700000000000000" pitchFamily="18" charset="-128"/>
              </a:rPr>
              <a:t>SSS</a:t>
            </a:r>
            <a:r>
              <a:rPr lang="ja-JP" altLang="en-US" sz="4400" dirty="0">
                <a:latin typeface="UD デジタル 教科書体 NK-B" panose="02020700000000000000" pitchFamily="18" charset="-128"/>
                <a:ea typeface="UD デジタル 教科書体 NK-B" panose="02020700000000000000" pitchFamily="18" charset="-128"/>
              </a:rPr>
              <a:t>」，「</a:t>
            </a:r>
            <a:r>
              <a:rPr lang="en-US" altLang="ja-JP" sz="4400" dirty="0">
                <a:solidFill>
                  <a:srgbClr val="FF5050"/>
                </a:solidFill>
                <a:latin typeface="UD デジタル 教科書体 NK-B" panose="02020700000000000000" pitchFamily="18" charset="-128"/>
                <a:ea typeface="UD デジタル 教科書体 NK-B" panose="02020700000000000000" pitchFamily="18" charset="-128"/>
              </a:rPr>
              <a:t>SAS</a:t>
            </a:r>
            <a:r>
              <a:rPr lang="ja-JP" altLang="en-US" sz="4400" dirty="0">
                <a:latin typeface="UD デジタル 教科書体 NK-B" panose="02020700000000000000" pitchFamily="18" charset="-128"/>
                <a:ea typeface="UD デジタル 教科書体 NK-B" panose="02020700000000000000" pitchFamily="18" charset="-128"/>
              </a:rPr>
              <a:t>」，「</a:t>
            </a:r>
            <a:r>
              <a:rPr lang="en-US" altLang="ja-JP" sz="4400" dirty="0">
                <a:solidFill>
                  <a:srgbClr val="FF5050"/>
                </a:solidFill>
                <a:latin typeface="UD デジタル 教科書体 NK-B" panose="02020700000000000000" pitchFamily="18" charset="-128"/>
                <a:ea typeface="UD デジタル 教科書体 NK-B" panose="02020700000000000000" pitchFamily="18" charset="-128"/>
              </a:rPr>
              <a:t>ASA</a:t>
            </a:r>
            <a:r>
              <a:rPr lang="ja-JP" altLang="en-US" sz="4400" dirty="0">
                <a:latin typeface="UD デジタル 教科書体 NK-B" panose="02020700000000000000" pitchFamily="18" charset="-128"/>
                <a:ea typeface="UD デジタル 教科書体 NK-B" panose="02020700000000000000" pitchFamily="18" charset="-128"/>
              </a:rPr>
              <a:t>」</a:t>
            </a:r>
            <a:endParaRPr lang="en-US" altLang="ja-JP" sz="4400" dirty="0">
              <a:latin typeface="UD デジタル 教科書体 NK-B" panose="02020700000000000000" pitchFamily="18" charset="-128"/>
              <a:ea typeface="UD デジタル 教科書体 NK-B" panose="02020700000000000000" pitchFamily="18" charset="-128"/>
            </a:endParaRPr>
          </a:p>
          <a:p>
            <a:r>
              <a:rPr lang="ja-JP" altLang="en-US" sz="3600" dirty="0">
                <a:latin typeface="UD デジタル 教科書体 NK-B" panose="02020700000000000000" pitchFamily="18" charset="-128"/>
                <a:ea typeface="UD デジタル 教科書体 NK-B" panose="02020700000000000000" pitchFamily="18" charset="-128"/>
              </a:rPr>
              <a:t>を用いた質問は存在しない</a:t>
            </a:r>
          </a:p>
        </p:txBody>
      </p:sp>
      <p:sp>
        <p:nvSpPr>
          <p:cNvPr id="22" name="二等辺三角形 21">
            <a:extLst>
              <a:ext uri="{FF2B5EF4-FFF2-40B4-BE49-F238E27FC236}">
                <a16:creationId xmlns:a16="http://schemas.microsoft.com/office/drawing/2014/main" id="{8B8DB63C-B879-E5BB-2D4A-5E1DA4D3917E}"/>
              </a:ext>
            </a:extLst>
          </p:cNvPr>
          <p:cNvSpPr/>
          <p:nvPr/>
        </p:nvSpPr>
        <p:spPr>
          <a:xfrm flipV="1">
            <a:off x="7690234" y="4542799"/>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23" name="テキスト ボックス 22">
            <a:extLst>
              <a:ext uri="{FF2B5EF4-FFF2-40B4-BE49-F238E27FC236}">
                <a16:creationId xmlns:a16="http://schemas.microsoft.com/office/drawing/2014/main" id="{C5DE18D7-8C2A-CBD5-87A4-717EF8977297}"/>
              </a:ext>
            </a:extLst>
          </p:cNvPr>
          <p:cNvSpPr txBox="1"/>
          <p:nvPr/>
        </p:nvSpPr>
        <p:spPr>
          <a:xfrm>
            <a:off x="5994699" y="5298425"/>
            <a:ext cx="6545736" cy="1323439"/>
          </a:xfrm>
          <a:prstGeom prst="rect">
            <a:avLst/>
          </a:prstGeom>
          <a:noFill/>
        </p:spPr>
        <p:txBody>
          <a:bodyPr wrap="square">
            <a:spAutoFit/>
          </a:bodyPr>
          <a:lstStyle/>
          <a:p>
            <a:r>
              <a:rPr lang="ja-JP" altLang="en-US" sz="4000" dirty="0">
                <a:latin typeface="UD デジタル 教科書体 NK-B" panose="02020700000000000000" pitchFamily="18" charset="-128"/>
                <a:ea typeface="UD デジタル 教科書体 NK-B" panose="02020700000000000000" pitchFamily="18" charset="-128"/>
              </a:rPr>
              <a:t>学習がおこなわれなかった</a:t>
            </a:r>
            <a:endParaRPr lang="en-US" altLang="ja-JP" sz="4000" dirty="0">
              <a:latin typeface="UD デジタル 教科書体 NK-B" panose="02020700000000000000" pitchFamily="18" charset="-128"/>
              <a:ea typeface="UD デジタル 教科書体 NK-B" panose="02020700000000000000" pitchFamily="18" charset="-128"/>
            </a:endParaRPr>
          </a:p>
          <a:p>
            <a:r>
              <a:rPr lang="ja-JP" altLang="en-US" sz="4000" dirty="0">
                <a:latin typeface="UD デジタル 教科書体 NK-B" panose="02020700000000000000" pitchFamily="18" charset="-128"/>
                <a:ea typeface="UD デジタル 教科書体 NK-B" panose="02020700000000000000" pitchFamily="18" charset="-128"/>
              </a:rPr>
              <a:t>信頼度スコア：</a:t>
            </a:r>
            <a:r>
              <a:rPr lang="en-US" altLang="ja-JP" sz="4000" u="none" strike="noStrike" dirty="0">
                <a:solidFill>
                  <a:srgbClr val="FF5050"/>
                </a:solidFill>
                <a:effectLst/>
                <a:latin typeface="UD デジタル 教科書体 NK-B" panose="02020700000000000000" pitchFamily="18" charset="-128"/>
                <a:ea typeface="UD デジタル 教科書体 NK-B" panose="02020700000000000000" pitchFamily="18" charset="-128"/>
              </a:rPr>
              <a:t>0.13246</a:t>
            </a:r>
            <a:endParaRPr lang="en-US" altLang="ja-JP" sz="4000" b="0" i="0" u="none" strike="noStrike" dirty="0">
              <a:solidFill>
                <a:srgbClr val="FF5050"/>
              </a:solidFill>
              <a:effectLst/>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15237116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考察：過学習の可能性</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3" name="テキスト ボックス 2">
            <a:extLst>
              <a:ext uri="{FF2B5EF4-FFF2-40B4-BE49-F238E27FC236}">
                <a16:creationId xmlns:a16="http://schemas.microsoft.com/office/drawing/2014/main" id="{942287A2-31EE-FC39-54B3-639107430C14}"/>
              </a:ext>
            </a:extLst>
          </p:cNvPr>
          <p:cNvSpPr txBox="1"/>
          <p:nvPr/>
        </p:nvSpPr>
        <p:spPr>
          <a:xfrm>
            <a:off x="2745712" y="1689315"/>
            <a:ext cx="6174712" cy="1226105"/>
          </a:xfrm>
          <a:prstGeom prst="rect">
            <a:avLst/>
          </a:prstGeom>
          <a:noFill/>
        </p:spPr>
        <p:txBody>
          <a:bodyPr wrap="square">
            <a:spAutoFit/>
          </a:bodyPr>
          <a:lstStyle/>
          <a:p>
            <a:pPr algn="ctr">
              <a:lnSpc>
                <a:spcPct val="150000"/>
              </a:lnSpc>
            </a:pPr>
            <a:r>
              <a:rPr kumimoji="1" lang="en-US" altLang="ja-JP" sz="5400" b="1" kern="1200" dirty="0">
                <a:effectLst/>
                <a:latin typeface="UD デジタル 教科書体 NK-B" panose="02020700000000000000" pitchFamily="18" charset="-128"/>
                <a:ea typeface="UD デジタル 教科書体 NK-B" panose="02020700000000000000" pitchFamily="18" charset="-128"/>
                <a:cs typeface="+mn-cs"/>
              </a:rPr>
              <a:t>SVM</a:t>
            </a:r>
            <a:r>
              <a:rPr kumimoji="1" lang="ja-JP" altLang="en-US" sz="3600" b="1" kern="1200" dirty="0">
                <a:effectLst/>
                <a:latin typeface="UD デジタル 教科書体 NK-B" panose="02020700000000000000" pitchFamily="18" charset="-128"/>
                <a:ea typeface="UD デジタル 教科書体 NK-B" panose="02020700000000000000" pitchFamily="18" charset="-128"/>
                <a:cs typeface="+mn-cs"/>
              </a:rPr>
              <a:t>と</a:t>
            </a:r>
            <a:r>
              <a:rPr kumimoji="1" lang="en-US" altLang="ja-JP" sz="5400" b="1" kern="1200" dirty="0">
                <a:effectLst/>
                <a:latin typeface="UD デジタル 教科書体 NK-B" panose="02020700000000000000" pitchFamily="18" charset="-128"/>
                <a:ea typeface="UD デジタル 教科書体 NK-B" panose="02020700000000000000" pitchFamily="18" charset="-128"/>
                <a:cs typeface="+mn-cs"/>
              </a:rPr>
              <a:t>K</a:t>
            </a:r>
            <a:r>
              <a:rPr kumimoji="1" lang="ja-JP" altLang="en-US" sz="5400" b="1" kern="1200" dirty="0">
                <a:effectLst/>
                <a:latin typeface="UD デジタル 教科書体 NK-B" panose="02020700000000000000" pitchFamily="18" charset="-128"/>
                <a:ea typeface="UD デジタル 教科書体 NK-B" panose="02020700000000000000" pitchFamily="18" charset="-128"/>
                <a:cs typeface="+mn-cs"/>
              </a:rPr>
              <a:t>近傍</a:t>
            </a:r>
            <a:endParaRPr lang="en-US" altLang="ja-JP" sz="2000" b="1" dirty="0">
              <a:latin typeface="UD デジタル 教科書体 NK-B" panose="02020700000000000000" pitchFamily="18" charset="-128"/>
              <a:ea typeface="UD デジタル 教科書体 NK-B" panose="02020700000000000000" pitchFamily="18" charset="-128"/>
            </a:endParaRPr>
          </a:p>
        </p:txBody>
      </p:sp>
      <p:sp>
        <p:nvSpPr>
          <p:cNvPr id="6" name="テキスト ボックス 5">
            <a:extLst>
              <a:ext uri="{FF2B5EF4-FFF2-40B4-BE49-F238E27FC236}">
                <a16:creationId xmlns:a16="http://schemas.microsoft.com/office/drawing/2014/main" id="{EDF46EA3-5889-7CB9-7AF4-30F477558EF4}"/>
              </a:ext>
            </a:extLst>
          </p:cNvPr>
          <p:cNvSpPr txBox="1"/>
          <p:nvPr/>
        </p:nvSpPr>
        <p:spPr>
          <a:xfrm>
            <a:off x="-341644" y="3916063"/>
            <a:ext cx="6174712" cy="2031775"/>
          </a:xfrm>
          <a:prstGeom prst="rect">
            <a:avLst/>
          </a:prstGeom>
          <a:noFill/>
        </p:spPr>
        <p:txBody>
          <a:bodyPr wrap="square">
            <a:spAutoFit/>
          </a:bodyPr>
          <a:lstStyle/>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未学習の質問を除いて</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正答率１００</a:t>
            </a:r>
            <a:r>
              <a:rPr lang="en-US" altLang="ja-JP" sz="4400" b="1" dirty="0">
                <a:latin typeface="UD デジタル 教科書体 NK-B" panose="02020700000000000000" pitchFamily="18" charset="-128"/>
                <a:ea typeface="UD デジタル 教科書体 NK-B" panose="02020700000000000000" pitchFamily="18" charset="-128"/>
              </a:rPr>
              <a:t>%</a:t>
            </a:r>
          </a:p>
        </p:txBody>
      </p:sp>
      <p:sp>
        <p:nvSpPr>
          <p:cNvPr id="7" name="二等辺三角形 6">
            <a:extLst>
              <a:ext uri="{FF2B5EF4-FFF2-40B4-BE49-F238E27FC236}">
                <a16:creationId xmlns:a16="http://schemas.microsoft.com/office/drawing/2014/main" id="{D9C55F38-EF8C-7D21-98C9-8F229BFA6926}"/>
              </a:ext>
            </a:extLst>
          </p:cNvPr>
          <p:cNvSpPr/>
          <p:nvPr/>
        </p:nvSpPr>
        <p:spPr>
          <a:xfrm rot="16200000" flipV="1">
            <a:off x="4714702" y="4510929"/>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8" name="テキスト ボックス 7">
            <a:extLst>
              <a:ext uri="{FF2B5EF4-FFF2-40B4-BE49-F238E27FC236}">
                <a16:creationId xmlns:a16="http://schemas.microsoft.com/office/drawing/2014/main" id="{5F2F3079-BE06-1B8F-DDF6-99DE6558C6A1}"/>
              </a:ext>
            </a:extLst>
          </p:cNvPr>
          <p:cNvSpPr txBox="1"/>
          <p:nvPr/>
        </p:nvSpPr>
        <p:spPr>
          <a:xfrm>
            <a:off x="6017288" y="4249334"/>
            <a:ext cx="6174712" cy="1016112"/>
          </a:xfrm>
          <a:prstGeom prst="rect">
            <a:avLst/>
          </a:prstGeom>
          <a:noFill/>
        </p:spPr>
        <p:txBody>
          <a:bodyPr wrap="square">
            <a:spAutoFit/>
          </a:bodyPr>
          <a:lstStyle/>
          <a:p>
            <a:pPr algn="ctr">
              <a:lnSpc>
                <a:spcPct val="150000"/>
              </a:lnSpc>
            </a:pPr>
            <a:r>
              <a:rPr lang="ja-JP" altLang="en-US" sz="4400" b="1" dirty="0">
                <a:solidFill>
                  <a:srgbClr val="FF5050"/>
                </a:solidFill>
                <a:latin typeface="UD デジタル 教科書体 NK-B" panose="02020700000000000000" pitchFamily="18" charset="-128"/>
                <a:ea typeface="UD デジタル 教科書体 NK-B" panose="02020700000000000000" pitchFamily="18" charset="-128"/>
              </a:rPr>
              <a:t>過学習</a:t>
            </a:r>
            <a:r>
              <a:rPr lang="ja-JP" altLang="en-US" sz="4400" b="1" dirty="0">
                <a:latin typeface="UD デジタル 教科書体 NK-B" panose="02020700000000000000" pitchFamily="18" charset="-128"/>
                <a:ea typeface="UD デジタル 教科書体 NK-B" panose="02020700000000000000" pitchFamily="18" charset="-128"/>
              </a:rPr>
              <a:t>の可能性</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35951992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考察：過学習の可能性</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20" name="図 19">
            <a:extLst>
              <a:ext uri="{FF2B5EF4-FFF2-40B4-BE49-F238E27FC236}">
                <a16:creationId xmlns:a16="http://schemas.microsoft.com/office/drawing/2014/main" id="{EA704832-FACF-4131-06A6-9725C1999E23}"/>
              </a:ext>
            </a:extLst>
          </p:cNvPr>
          <p:cNvPicPr>
            <a:picLocks noChangeAspect="1"/>
          </p:cNvPicPr>
          <p:nvPr/>
        </p:nvPicPr>
        <p:blipFill>
          <a:blip r:embed="rId2"/>
          <a:stretch>
            <a:fillRect/>
          </a:stretch>
        </p:blipFill>
        <p:spPr>
          <a:xfrm>
            <a:off x="1395391" y="1488141"/>
            <a:ext cx="9245813" cy="4637421"/>
          </a:xfrm>
          <a:prstGeom prst="rect">
            <a:avLst/>
          </a:prstGeom>
        </p:spPr>
      </p:pic>
      <p:sp>
        <p:nvSpPr>
          <p:cNvPr id="25" name="テキスト ボックス 24">
            <a:extLst>
              <a:ext uri="{FF2B5EF4-FFF2-40B4-BE49-F238E27FC236}">
                <a16:creationId xmlns:a16="http://schemas.microsoft.com/office/drawing/2014/main" id="{4DB6A009-B360-AFF9-6AE9-E13FB8D9DF90}"/>
              </a:ext>
            </a:extLst>
          </p:cNvPr>
          <p:cNvSpPr txBox="1"/>
          <p:nvPr/>
        </p:nvSpPr>
        <p:spPr>
          <a:xfrm>
            <a:off x="1360857" y="6256566"/>
            <a:ext cx="9850487" cy="584775"/>
          </a:xfrm>
          <a:prstGeom prst="rect">
            <a:avLst/>
          </a:prstGeom>
          <a:noFill/>
        </p:spPr>
        <p:txBody>
          <a:bodyPr wrap="square">
            <a:spAutoFit/>
          </a:bodyPr>
          <a:lstStyle/>
          <a:p>
            <a:pPr algn="l"/>
            <a:r>
              <a:rPr lang="ja-JP" altLang="en-US" sz="3200" dirty="0">
                <a:solidFill>
                  <a:srgbClr val="000000"/>
                </a:solidFill>
                <a:latin typeface="UD デジタル 教科書体 NK-B" panose="02020700000000000000" pitchFamily="18" charset="-128"/>
                <a:ea typeface="UD デジタル 教科書体 NK-B" panose="02020700000000000000" pitchFamily="18" charset="-128"/>
              </a:rPr>
              <a:t>グラフ１　</a:t>
            </a:r>
            <a:r>
              <a:rPr lang="en-US" altLang="ja-JP" sz="3200" b="0" i="0" u="none" strike="noStrike" baseline="0" dirty="0">
                <a:solidFill>
                  <a:srgbClr val="000000"/>
                </a:solidFill>
                <a:latin typeface="UD デジタル 教科書体 NK-B" panose="02020700000000000000" pitchFamily="18" charset="-128"/>
                <a:ea typeface="UD デジタル 教科書体 NK-B" panose="02020700000000000000" pitchFamily="18" charset="-128"/>
              </a:rPr>
              <a:t> k</a:t>
            </a:r>
            <a:r>
              <a:rPr lang="ja-JP" altLang="en-US" sz="3200" b="0" i="0" u="none" strike="noStrike" baseline="0" dirty="0">
                <a:solidFill>
                  <a:srgbClr val="000000"/>
                </a:solidFill>
                <a:latin typeface="UD デジタル 教科書体 NK-B" panose="02020700000000000000" pitchFamily="18" charset="-128"/>
                <a:ea typeface="UD デジタル 教科書体 NK-B" panose="02020700000000000000" pitchFamily="18" charset="-128"/>
              </a:rPr>
              <a:t>を</a:t>
            </a:r>
            <a:r>
              <a:rPr lang="en-US" altLang="ja-JP" sz="3200" b="0" i="0" u="none" strike="noStrike" baseline="0" dirty="0">
                <a:solidFill>
                  <a:srgbClr val="000000"/>
                </a:solidFill>
                <a:latin typeface="UD デジタル 教科書体 NK-B" panose="02020700000000000000" pitchFamily="18" charset="-128"/>
                <a:ea typeface="UD デジタル 教科書体 NK-B" panose="02020700000000000000" pitchFamily="18" charset="-128"/>
              </a:rPr>
              <a:t>1</a:t>
            </a:r>
            <a:r>
              <a:rPr lang="ja-JP" altLang="en-US" sz="3200" b="0" i="0" u="none" strike="noStrike" baseline="0" dirty="0">
                <a:solidFill>
                  <a:srgbClr val="000000"/>
                </a:solidFill>
                <a:latin typeface="UD デジタル 教科書体 NK-B" panose="02020700000000000000" pitchFamily="18" charset="-128"/>
                <a:ea typeface="UD デジタル 教科書体 NK-B" panose="02020700000000000000" pitchFamily="18" charset="-128"/>
              </a:rPr>
              <a:t>から</a:t>
            </a:r>
            <a:r>
              <a:rPr lang="en-US" altLang="ja-JP" sz="3200" b="0" i="0" u="none" strike="noStrike" baseline="0" dirty="0">
                <a:solidFill>
                  <a:srgbClr val="000000"/>
                </a:solidFill>
                <a:latin typeface="UD デジタル 教科書体 NK-B" panose="02020700000000000000" pitchFamily="18" charset="-128"/>
                <a:ea typeface="UD デジタル 教科書体 NK-B" panose="02020700000000000000" pitchFamily="18" charset="-128"/>
              </a:rPr>
              <a:t>100</a:t>
            </a:r>
            <a:r>
              <a:rPr lang="ja-JP" altLang="en-US" sz="3200" b="0" i="0" u="none" strike="noStrike" baseline="0" dirty="0">
                <a:solidFill>
                  <a:srgbClr val="000000"/>
                </a:solidFill>
                <a:latin typeface="UD デジタル 教科書体 NK-B" panose="02020700000000000000" pitchFamily="18" charset="-128"/>
                <a:ea typeface="UD デジタル 教科書体 NK-B" panose="02020700000000000000" pitchFamily="18" charset="-128"/>
              </a:rPr>
              <a:t>に変化させたときの正答率推移 </a:t>
            </a:r>
          </a:p>
        </p:txBody>
      </p:sp>
      <p:sp>
        <p:nvSpPr>
          <p:cNvPr id="26" name="楕円 25">
            <a:extLst>
              <a:ext uri="{FF2B5EF4-FFF2-40B4-BE49-F238E27FC236}">
                <a16:creationId xmlns:a16="http://schemas.microsoft.com/office/drawing/2014/main" id="{0650E87B-4C2E-5FB2-ACB4-4FFBBC23AA01}"/>
              </a:ext>
            </a:extLst>
          </p:cNvPr>
          <p:cNvSpPr/>
          <p:nvPr/>
        </p:nvSpPr>
        <p:spPr>
          <a:xfrm>
            <a:off x="2086708" y="1412867"/>
            <a:ext cx="4009292" cy="1406769"/>
          </a:xfrm>
          <a:prstGeom prst="ellipse">
            <a:avLst/>
          </a:prstGeom>
          <a:noFill/>
          <a:ln w="76200">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E370CC82-ED73-E259-60AB-6E50B07F987A}"/>
              </a:ext>
            </a:extLst>
          </p:cNvPr>
          <p:cNvCxnSpPr>
            <a:cxnSpLocks/>
          </p:cNvCxnSpPr>
          <p:nvPr/>
        </p:nvCxnSpPr>
        <p:spPr>
          <a:xfrm>
            <a:off x="2763296" y="5275386"/>
            <a:ext cx="6852976" cy="0"/>
          </a:xfrm>
          <a:prstGeom prst="straightConnector1">
            <a:avLst/>
          </a:prstGeom>
          <a:ln w="127000">
            <a:gradFill flip="none" rotWithShape="1">
              <a:gsLst>
                <a:gs pos="0">
                  <a:srgbClr val="FF5050"/>
                </a:gs>
                <a:gs pos="50000">
                  <a:schemeClr val="bg1">
                    <a:lumMod val="85000"/>
                  </a:schemeClr>
                </a:gs>
                <a:gs pos="100000">
                  <a:srgbClr val="97C7E6"/>
                </a:gs>
              </a:gsLst>
              <a:lin ang="0" scaled="1"/>
              <a:tileRect/>
            </a:gra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a:extLst>
              <a:ext uri="{FF2B5EF4-FFF2-40B4-BE49-F238E27FC236}">
                <a16:creationId xmlns:a16="http://schemas.microsoft.com/office/drawing/2014/main" id="{0460B27B-18EF-9CBB-8651-68F01E292C83}"/>
              </a:ext>
            </a:extLst>
          </p:cNvPr>
          <p:cNvSpPr/>
          <p:nvPr/>
        </p:nvSpPr>
        <p:spPr>
          <a:xfrm>
            <a:off x="2440247" y="4279062"/>
            <a:ext cx="1810206" cy="707885"/>
          </a:xfrm>
          <a:prstGeom prst="rect">
            <a:avLst/>
          </a:prstGeom>
          <a:solidFill>
            <a:schemeClr val="bg2">
              <a:lumMod val="75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B96EEE65-4FD1-3DAB-B841-EA95914F9C36}"/>
              </a:ext>
            </a:extLst>
          </p:cNvPr>
          <p:cNvSpPr txBox="1"/>
          <p:nvPr/>
        </p:nvSpPr>
        <p:spPr>
          <a:xfrm>
            <a:off x="2440247" y="4331896"/>
            <a:ext cx="1810206" cy="707886"/>
          </a:xfrm>
          <a:prstGeom prst="rect">
            <a:avLst/>
          </a:prstGeom>
          <a:noFill/>
        </p:spPr>
        <p:txBody>
          <a:bodyPr wrap="square">
            <a:spAutoFit/>
          </a:bodyPr>
          <a:lstStyle/>
          <a:p>
            <a:r>
              <a:rPr lang="ja-JP" altLang="en-US" sz="4000" b="1" dirty="0">
                <a:solidFill>
                  <a:srgbClr val="FF5050"/>
                </a:solidFill>
                <a:latin typeface="UD デジタル 教科書体 NK-B" panose="02020700000000000000" pitchFamily="18" charset="-128"/>
                <a:ea typeface="UD デジタル 教科書体 NK-B" panose="02020700000000000000" pitchFamily="18" charset="-128"/>
              </a:rPr>
              <a:t>過学習</a:t>
            </a:r>
            <a:endParaRPr lang="ja-JP" altLang="en-US" sz="4000" dirty="0"/>
          </a:p>
        </p:txBody>
      </p:sp>
      <p:sp>
        <p:nvSpPr>
          <p:cNvPr id="36" name="正方形/長方形 35">
            <a:extLst>
              <a:ext uri="{FF2B5EF4-FFF2-40B4-BE49-F238E27FC236}">
                <a16:creationId xmlns:a16="http://schemas.microsoft.com/office/drawing/2014/main" id="{AFAADE10-1DD0-185F-733D-33F2F60090A7}"/>
              </a:ext>
            </a:extLst>
          </p:cNvPr>
          <p:cNvSpPr/>
          <p:nvPr/>
        </p:nvSpPr>
        <p:spPr>
          <a:xfrm>
            <a:off x="7626698" y="4415101"/>
            <a:ext cx="2471895" cy="707885"/>
          </a:xfrm>
          <a:prstGeom prst="rect">
            <a:avLst/>
          </a:prstGeom>
          <a:solidFill>
            <a:schemeClr val="bg2">
              <a:lumMod val="75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55DA64F6-82DC-C0AA-4208-C1632856CFED}"/>
              </a:ext>
            </a:extLst>
          </p:cNvPr>
          <p:cNvSpPr txBox="1"/>
          <p:nvPr/>
        </p:nvSpPr>
        <p:spPr>
          <a:xfrm>
            <a:off x="7626699" y="4449698"/>
            <a:ext cx="2654440" cy="707886"/>
          </a:xfrm>
          <a:prstGeom prst="rect">
            <a:avLst/>
          </a:prstGeom>
          <a:noFill/>
        </p:spPr>
        <p:txBody>
          <a:bodyPr wrap="square">
            <a:spAutoFit/>
          </a:bodyPr>
          <a:lstStyle/>
          <a:p>
            <a:r>
              <a:rPr lang="ja-JP" altLang="en-US" sz="4000" b="1" dirty="0">
                <a:solidFill>
                  <a:srgbClr val="529FD1"/>
                </a:solidFill>
                <a:latin typeface="UD デジタル 教科書体 NK-B" panose="02020700000000000000" pitchFamily="18" charset="-128"/>
                <a:ea typeface="UD デジタル 教科書体 NK-B" panose="02020700000000000000" pitchFamily="18" charset="-128"/>
              </a:rPr>
              <a:t>精度</a:t>
            </a:r>
            <a:r>
              <a:rPr lang="en-US" altLang="ja-JP" sz="4000" b="1" dirty="0">
                <a:solidFill>
                  <a:srgbClr val="529FD1"/>
                </a:solidFill>
                <a:latin typeface="UD デジタル 教科書体 NK-B" panose="02020700000000000000" pitchFamily="18" charset="-128"/>
                <a:ea typeface="UD デジタル 教科書体 NK-B" panose="02020700000000000000" pitchFamily="18" charset="-128"/>
              </a:rPr>
              <a:t>down</a:t>
            </a:r>
            <a:endParaRPr lang="ja-JP" altLang="en-US" sz="4000" dirty="0">
              <a:solidFill>
                <a:srgbClr val="529FD1"/>
              </a:solidFill>
            </a:endParaRPr>
          </a:p>
        </p:txBody>
      </p:sp>
    </p:spTree>
    <p:extLst>
      <p:ext uri="{BB962C8B-B14F-4D97-AF65-F5344CB8AC3E}">
        <p14:creationId xmlns:p14="http://schemas.microsoft.com/office/powerpoint/2010/main" val="31422244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EEE508DC-0899-50C9-06A6-D5D481AC2297}"/>
              </a:ext>
            </a:extLst>
          </p:cNvPr>
          <p:cNvSpPr/>
          <p:nvPr/>
        </p:nvSpPr>
        <p:spPr>
          <a:xfrm>
            <a:off x="63699" y="1797187"/>
            <a:ext cx="6196424" cy="2023335"/>
          </a:xfrm>
          <a:prstGeom prst="rect">
            <a:avLst/>
          </a:prstGeom>
          <a:solidFill>
            <a:schemeClr val="bg2">
              <a:lumMod val="75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86FCCB88-6470-4000-C80A-CAA23BCD98BD}"/>
              </a:ext>
            </a:extLst>
          </p:cNvPr>
          <p:cNvSpPr/>
          <p:nvPr/>
        </p:nvSpPr>
        <p:spPr>
          <a:xfrm>
            <a:off x="6443879" y="1797187"/>
            <a:ext cx="5563901" cy="2023335"/>
          </a:xfrm>
          <a:prstGeom prst="rect">
            <a:avLst/>
          </a:prstGeom>
          <a:solidFill>
            <a:schemeClr val="bg2">
              <a:lumMod val="75000"/>
              <a:alpha val="4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a:t>
            </a:r>
            <a:r>
              <a:rPr lang="ja-JP" altLang="en-US" sz="3300" b="1" dirty="0">
                <a:solidFill>
                  <a:schemeClr val="bg1"/>
                </a:solidFill>
                <a:latin typeface="UD デジタル 教科書体 NK-B" panose="02020700000000000000" pitchFamily="18" charset="-128"/>
                <a:ea typeface="UD デジタル 教科書体 NK-B" panose="02020700000000000000" pitchFamily="18" charset="-128"/>
              </a:rPr>
              <a:t>自ら機械学習を実装する際に最適なアルゴリズムについて</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7" name="二等辺三角形 6">
            <a:extLst>
              <a:ext uri="{FF2B5EF4-FFF2-40B4-BE49-F238E27FC236}">
                <a16:creationId xmlns:a16="http://schemas.microsoft.com/office/drawing/2014/main" id="{D9C55F38-EF8C-7D21-98C9-8F229BFA6926}"/>
              </a:ext>
            </a:extLst>
          </p:cNvPr>
          <p:cNvSpPr/>
          <p:nvPr/>
        </p:nvSpPr>
        <p:spPr>
          <a:xfrm flipV="1">
            <a:off x="4075376" y="4121128"/>
            <a:ext cx="4041248"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2" name="テキスト ボックス 1">
            <a:extLst>
              <a:ext uri="{FF2B5EF4-FFF2-40B4-BE49-F238E27FC236}">
                <a16:creationId xmlns:a16="http://schemas.microsoft.com/office/drawing/2014/main" id="{6EF909FE-ADA9-3FAE-5350-19A86BAD471F}"/>
              </a:ext>
            </a:extLst>
          </p:cNvPr>
          <p:cNvSpPr txBox="1"/>
          <p:nvPr/>
        </p:nvSpPr>
        <p:spPr>
          <a:xfrm>
            <a:off x="-79981" y="1788747"/>
            <a:ext cx="6453522" cy="2031775"/>
          </a:xfrm>
          <a:prstGeom prst="rect">
            <a:avLst/>
          </a:prstGeom>
          <a:noFill/>
        </p:spPr>
        <p:txBody>
          <a:bodyPr wrap="square">
            <a:spAutoFit/>
          </a:bodyPr>
          <a:lstStyle/>
          <a:p>
            <a:pPr algn="ctr">
              <a:lnSpc>
                <a:spcPct val="150000"/>
              </a:lnSpc>
            </a:pPr>
            <a:r>
              <a:rPr lang="en-US" altLang="ja-JP" sz="4400" b="1" dirty="0">
                <a:latin typeface="UD デジタル 教科書体 NK-B" panose="02020700000000000000" pitchFamily="18" charset="-128"/>
                <a:ea typeface="UD デジタル 教科書体 NK-B" panose="02020700000000000000" pitchFamily="18" charset="-128"/>
              </a:rPr>
              <a:t>SVM</a:t>
            </a:r>
            <a:r>
              <a:rPr lang="ja-JP" altLang="en-US" sz="4400" b="1" dirty="0">
                <a:latin typeface="UD デジタル 教科書体 NK-B" panose="02020700000000000000" pitchFamily="18" charset="-128"/>
                <a:ea typeface="UD デジタル 教科書体 NK-B" panose="02020700000000000000" pitchFamily="18" charset="-128"/>
              </a:rPr>
              <a:t>と</a:t>
            </a:r>
            <a:r>
              <a:rPr lang="en-US" altLang="ja-JP" sz="4400" b="1" dirty="0">
                <a:latin typeface="UD デジタル 教科書体 NK-B" panose="02020700000000000000" pitchFamily="18" charset="-128"/>
                <a:ea typeface="UD デジタル 教科書体 NK-B" panose="02020700000000000000" pitchFamily="18" charset="-128"/>
              </a:rPr>
              <a:t>K</a:t>
            </a:r>
            <a:r>
              <a:rPr lang="ja-JP" altLang="en-US" sz="4400" b="1" dirty="0">
                <a:latin typeface="UD デジタル 教科書体 NK-B" panose="02020700000000000000" pitchFamily="18" charset="-128"/>
                <a:ea typeface="UD デジタル 教科書体 NK-B" panose="02020700000000000000" pitchFamily="18" charset="-128"/>
              </a:rPr>
              <a:t>近傍の精度は</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ともに</a:t>
            </a:r>
            <a:r>
              <a:rPr lang="en-US" altLang="ja-JP" sz="4400" b="1" dirty="0">
                <a:latin typeface="UD デジタル 教科書体 NK-B" panose="02020700000000000000" pitchFamily="18" charset="-128"/>
                <a:ea typeface="UD デジタル 教科書体 NK-B" panose="02020700000000000000" pitchFamily="18" charset="-128"/>
              </a:rPr>
              <a:t>Watson</a:t>
            </a:r>
            <a:r>
              <a:rPr lang="ja-JP" altLang="en-US" sz="4400" b="1" dirty="0">
                <a:latin typeface="UD デジタル 教科書体 NK-B" panose="02020700000000000000" pitchFamily="18" charset="-128"/>
                <a:ea typeface="UD デジタル 教科書体 NK-B" panose="02020700000000000000" pitchFamily="18" charset="-128"/>
              </a:rPr>
              <a:t>以上である</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
        <p:nvSpPr>
          <p:cNvPr id="9" name="テキスト ボックス 8">
            <a:extLst>
              <a:ext uri="{FF2B5EF4-FFF2-40B4-BE49-F238E27FC236}">
                <a16:creationId xmlns:a16="http://schemas.microsoft.com/office/drawing/2014/main" id="{221192CF-85D3-452E-CD7A-34E5F65E37F3}"/>
              </a:ext>
            </a:extLst>
          </p:cNvPr>
          <p:cNvSpPr txBox="1"/>
          <p:nvPr/>
        </p:nvSpPr>
        <p:spPr>
          <a:xfrm>
            <a:off x="6443879" y="1797187"/>
            <a:ext cx="5684422" cy="2031775"/>
          </a:xfrm>
          <a:prstGeom prst="rect">
            <a:avLst/>
          </a:prstGeom>
          <a:noFill/>
        </p:spPr>
        <p:txBody>
          <a:bodyPr wrap="square">
            <a:spAutoFit/>
          </a:bodyPr>
          <a:lstStyle/>
          <a:p>
            <a:pPr algn="ctr">
              <a:lnSpc>
                <a:spcPct val="150000"/>
              </a:lnSpc>
            </a:pPr>
            <a:r>
              <a:rPr lang="en-US" altLang="ja-JP" sz="4400" b="1" dirty="0">
                <a:latin typeface="UD デジタル 教科書体 NK-B" panose="02020700000000000000" pitchFamily="18" charset="-128"/>
                <a:ea typeface="UD デジタル 教科書体 NK-B" panose="02020700000000000000" pitchFamily="18" charset="-128"/>
              </a:rPr>
              <a:t>K</a:t>
            </a:r>
            <a:r>
              <a:rPr lang="ja-JP" altLang="en-US" sz="4400" b="1" dirty="0">
                <a:latin typeface="UD デジタル 教科書体 NK-B" panose="02020700000000000000" pitchFamily="18" charset="-128"/>
                <a:ea typeface="UD デジタル 教科書体 NK-B" panose="02020700000000000000" pitchFamily="18" charset="-128"/>
              </a:rPr>
              <a:t>近傍法には</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過学習の可能性がある</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
        <p:nvSpPr>
          <p:cNvPr id="10" name="テキスト ボックス 9">
            <a:extLst>
              <a:ext uri="{FF2B5EF4-FFF2-40B4-BE49-F238E27FC236}">
                <a16:creationId xmlns:a16="http://schemas.microsoft.com/office/drawing/2014/main" id="{9A3EF01B-18D6-73FC-A85E-FF93A3B6247C}"/>
              </a:ext>
            </a:extLst>
          </p:cNvPr>
          <p:cNvSpPr txBox="1"/>
          <p:nvPr/>
        </p:nvSpPr>
        <p:spPr>
          <a:xfrm>
            <a:off x="2743936" y="4723088"/>
            <a:ext cx="6704128" cy="2031775"/>
          </a:xfrm>
          <a:prstGeom prst="rect">
            <a:avLst/>
          </a:prstGeom>
          <a:noFill/>
        </p:spPr>
        <p:txBody>
          <a:bodyPr wrap="square">
            <a:spAutoFit/>
          </a:bodyPr>
          <a:lstStyle/>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自ら実装する際には</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en-US" altLang="ja-JP" sz="4400" b="1" dirty="0">
                <a:solidFill>
                  <a:srgbClr val="FF5050"/>
                </a:solidFill>
                <a:latin typeface="UD デジタル 教科書体 NK-B" panose="02020700000000000000" pitchFamily="18" charset="-128"/>
                <a:ea typeface="UD デジタル 教科書体 NK-B" panose="02020700000000000000" pitchFamily="18" charset="-128"/>
              </a:rPr>
              <a:t>SVM</a:t>
            </a:r>
            <a:r>
              <a:rPr lang="ja-JP" altLang="en-US" sz="4400" b="1" dirty="0">
                <a:latin typeface="UD デジタル 教科書体 NK-B" panose="02020700000000000000" pitchFamily="18" charset="-128"/>
                <a:ea typeface="UD デジタル 教科書体 NK-B" panose="02020700000000000000" pitchFamily="18" charset="-128"/>
              </a:rPr>
              <a:t>のほうが適している</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6324810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SVM</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の決定境界の可視化</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6" name="図 5">
            <a:extLst>
              <a:ext uri="{FF2B5EF4-FFF2-40B4-BE49-F238E27FC236}">
                <a16:creationId xmlns:a16="http://schemas.microsoft.com/office/drawing/2014/main" id="{55CC0361-CC8B-A306-0E7B-C4C2182F9A95}"/>
              </a:ext>
            </a:extLst>
          </p:cNvPr>
          <p:cNvPicPr>
            <a:picLocks noChangeAspect="1"/>
          </p:cNvPicPr>
          <p:nvPr/>
        </p:nvPicPr>
        <p:blipFill>
          <a:blip r:embed="rId2"/>
          <a:stretch>
            <a:fillRect/>
          </a:stretch>
        </p:blipFill>
        <p:spPr>
          <a:xfrm>
            <a:off x="974691" y="1679373"/>
            <a:ext cx="9554195" cy="4869581"/>
          </a:xfrm>
          <a:prstGeom prst="rect">
            <a:avLst/>
          </a:prstGeom>
        </p:spPr>
      </p:pic>
      <p:sp>
        <p:nvSpPr>
          <p:cNvPr id="8" name="テキスト ボックス 7">
            <a:extLst>
              <a:ext uri="{FF2B5EF4-FFF2-40B4-BE49-F238E27FC236}">
                <a16:creationId xmlns:a16="http://schemas.microsoft.com/office/drawing/2014/main" id="{B0ED78F7-7089-0059-A880-C139F4E25819}"/>
              </a:ext>
            </a:extLst>
          </p:cNvPr>
          <p:cNvSpPr txBox="1"/>
          <p:nvPr/>
        </p:nvSpPr>
        <p:spPr>
          <a:xfrm>
            <a:off x="5487872" y="1797187"/>
            <a:ext cx="5041014" cy="1016112"/>
          </a:xfrm>
          <a:prstGeom prst="rect">
            <a:avLst/>
          </a:prstGeom>
          <a:noFill/>
        </p:spPr>
        <p:txBody>
          <a:bodyPr wrap="square">
            <a:spAutoFit/>
          </a:bodyPr>
          <a:lstStyle/>
          <a:p>
            <a:pPr algn="ctr">
              <a:lnSpc>
                <a:spcPct val="150000"/>
              </a:lnSpc>
            </a:pPr>
            <a:r>
              <a:rPr lang="ja-JP" altLang="en-US" sz="4400" b="1" dirty="0">
                <a:solidFill>
                  <a:srgbClr val="FF5050"/>
                </a:solidFill>
                <a:latin typeface="UD デジタル 教科書体 NK-B" panose="02020700000000000000" pitchFamily="18" charset="-128"/>
                <a:ea typeface="UD デジタル 教科書体 NK-B" panose="02020700000000000000" pitchFamily="18" charset="-128"/>
              </a:rPr>
              <a:t>主成分分析</a:t>
            </a:r>
            <a:endParaRPr lang="en-US" altLang="ja-JP" sz="4400" b="1" dirty="0">
              <a:solidFill>
                <a:srgbClr val="FF5050"/>
              </a:solidFill>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8671257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SVM</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の決定境界の可視化</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pic>
        <p:nvPicPr>
          <p:cNvPr id="6" name="図 5">
            <a:extLst>
              <a:ext uri="{FF2B5EF4-FFF2-40B4-BE49-F238E27FC236}">
                <a16:creationId xmlns:a16="http://schemas.microsoft.com/office/drawing/2014/main" id="{55CC0361-CC8B-A306-0E7B-C4C2182F9A95}"/>
              </a:ext>
            </a:extLst>
          </p:cNvPr>
          <p:cNvPicPr>
            <a:picLocks noChangeAspect="1"/>
          </p:cNvPicPr>
          <p:nvPr/>
        </p:nvPicPr>
        <p:blipFill>
          <a:blip r:embed="rId2"/>
          <a:stretch>
            <a:fillRect/>
          </a:stretch>
        </p:blipFill>
        <p:spPr>
          <a:xfrm>
            <a:off x="974691" y="1679373"/>
            <a:ext cx="9554195" cy="4869581"/>
          </a:xfrm>
          <a:prstGeom prst="rect">
            <a:avLst/>
          </a:prstGeom>
        </p:spPr>
      </p:pic>
      <p:sp>
        <p:nvSpPr>
          <p:cNvPr id="3" name="正方形/長方形 2">
            <a:extLst>
              <a:ext uri="{FF2B5EF4-FFF2-40B4-BE49-F238E27FC236}">
                <a16:creationId xmlns:a16="http://schemas.microsoft.com/office/drawing/2014/main" id="{B2315584-FCE1-E065-1D77-BC5C23D32798}"/>
              </a:ext>
            </a:extLst>
          </p:cNvPr>
          <p:cNvSpPr/>
          <p:nvPr/>
        </p:nvSpPr>
        <p:spPr>
          <a:xfrm>
            <a:off x="0" y="1488141"/>
            <a:ext cx="12192000" cy="5369859"/>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7" name="表 6">
            <a:extLst>
              <a:ext uri="{FF2B5EF4-FFF2-40B4-BE49-F238E27FC236}">
                <a16:creationId xmlns:a16="http://schemas.microsoft.com/office/drawing/2014/main" id="{68450812-FDF8-E74D-BFD3-EAE174FC6FEE}"/>
              </a:ext>
            </a:extLst>
          </p:cNvPr>
          <p:cNvGraphicFramePr>
            <a:graphicFrameLocks noGrp="1"/>
          </p:cNvGraphicFramePr>
          <p:nvPr>
            <p:extLst>
              <p:ext uri="{D42A27DB-BD31-4B8C-83A1-F6EECF244321}">
                <p14:modId xmlns:p14="http://schemas.microsoft.com/office/powerpoint/2010/main" val="3799769156"/>
              </p:ext>
            </p:extLst>
          </p:nvPr>
        </p:nvGraphicFramePr>
        <p:xfrm>
          <a:off x="149467" y="2337806"/>
          <a:ext cx="7095394" cy="3741447"/>
        </p:xfrm>
        <a:graphic>
          <a:graphicData uri="http://schemas.openxmlformats.org/drawingml/2006/table">
            <a:tbl>
              <a:tblPr>
                <a:tableStyleId>{5940675A-B579-460E-94D1-54222C63F5DA}</a:tableStyleId>
              </a:tblPr>
              <a:tblGrid>
                <a:gridCol w="1378242">
                  <a:extLst>
                    <a:ext uri="{9D8B030D-6E8A-4147-A177-3AD203B41FA5}">
                      <a16:colId xmlns:a16="http://schemas.microsoft.com/office/drawing/2014/main" val="529945861"/>
                    </a:ext>
                  </a:extLst>
                </a:gridCol>
                <a:gridCol w="1429288">
                  <a:extLst>
                    <a:ext uri="{9D8B030D-6E8A-4147-A177-3AD203B41FA5}">
                      <a16:colId xmlns:a16="http://schemas.microsoft.com/office/drawing/2014/main" val="2514218574"/>
                    </a:ext>
                  </a:extLst>
                </a:gridCol>
                <a:gridCol w="1429288">
                  <a:extLst>
                    <a:ext uri="{9D8B030D-6E8A-4147-A177-3AD203B41FA5}">
                      <a16:colId xmlns:a16="http://schemas.microsoft.com/office/drawing/2014/main" val="1742991851"/>
                    </a:ext>
                  </a:extLst>
                </a:gridCol>
                <a:gridCol w="1429288">
                  <a:extLst>
                    <a:ext uri="{9D8B030D-6E8A-4147-A177-3AD203B41FA5}">
                      <a16:colId xmlns:a16="http://schemas.microsoft.com/office/drawing/2014/main" val="2325923763"/>
                    </a:ext>
                  </a:extLst>
                </a:gridCol>
                <a:gridCol w="1429288">
                  <a:extLst>
                    <a:ext uri="{9D8B030D-6E8A-4147-A177-3AD203B41FA5}">
                      <a16:colId xmlns:a16="http://schemas.microsoft.com/office/drawing/2014/main" val="2249534538"/>
                    </a:ext>
                  </a:extLst>
                </a:gridCol>
              </a:tblGrid>
              <a:tr h="1263346">
                <a:tc>
                  <a:txBody>
                    <a:bodyPr/>
                    <a:lstStyle/>
                    <a:p>
                      <a:pPr algn="l"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　</a:t>
                      </a:r>
                      <a:endParaRPr lang="ja-JP" alt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l"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正解率</a:t>
                      </a:r>
                      <a:endParaRPr lang="ja-JP" alt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l"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適合率</a:t>
                      </a: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a:t>
                      </a:r>
                      <a:r>
                        <a:rPr lang="en-US" sz="1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l" fontAlgn="ct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再現率</a:t>
                      </a: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a:t>
                      </a:r>
                      <a:r>
                        <a:rPr lang="en-US" sz="1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tc>
                  <a:txBody>
                    <a:bodyPr/>
                    <a:lstStyle/>
                    <a:p>
                      <a:pPr algn="l" fontAlgn="ctr"/>
                      <a:r>
                        <a:rPr lang="en-US" sz="1800" u="none" strike="noStrike" dirty="0">
                          <a:effectLst/>
                          <a:latin typeface="UD デジタル 教科書体 NK-B" panose="02020700000000000000" pitchFamily="18" charset="-128"/>
                          <a:ea typeface="UD デジタル 教科書体 NK-B" panose="02020700000000000000" pitchFamily="18" charset="-128"/>
                        </a:rPr>
                        <a:t>F1</a:t>
                      </a:r>
                      <a:r>
                        <a:rPr lang="ja-JP" altLang="en-US" sz="1800" u="none" strike="noStrike" dirty="0">
                          <a:effectLst/>
                          <a:latin typeface="UD デジタル 教科書体 NK-B" panose="02020700000000000000" pitchFamily="18" charset="-128"/>
                          <a:ea typeface="UD デジタル 教科書体 NK-B" panose="02020700000000000000" pitchFamily="18" charset="-128"/>
                        </a:rPr>
                        <a:t>値</a:t>
                      </a:r>
                      <a:endParaRPr lang="en-US" altLang="ja-JP" sz="1800" u="none" strike="noStrike" dirty="0">
                        <a:effectLst/>
                        <a:latin typeface="UD デジタル 教科書体 NK-B" panose="02020700000000000000" pitchFamily="18" charset="-128"/>
                        <a:ea typeface="UD デジタル 教科書体 NK-B" panose="02020700000000000000" pitchFamily="18" charset="-128"/>
                      </a:endParaRPr>
                    </a:p>
                    <a:p>
                      <a:pPr algn="l" fontAlgn="ctr"/>
                      <a:r>
                        <a:rPr lang="en-US" altLang="ja-JP" sz="1800" u="none" strike="noStrike" dirty="0">
                          <a:effectLst/>
                          <a:latin typeface="UD デジタル 教科書体 NK-B" panose="02020700000000000000" pitchFamily="18" charset="-128"/>
                          <a:ea typeface="UD デジタル 教科書体 NK-B" panose="02020700000000000000" pitchFamily="18" charset="-128"/>
                        </a:rPr>
                        <a:t>(</a:t>
                      </a:r>
                      <a:r>
                        <a:rPr lang="en-US" sz="1800" u="none" strike="noStrike" dirty="0">
                          <a:effectLst/>
                          <a:latin typeface="UD デジタル 教科書体 NK-B" panose="02020700000000000000" pitchFamily="18" charset="-128"/>
                          <a:ea typeface="UD デジタル 教科書体 NK-B" panose="02020700000000000000" pitchFamily="18" charset="-128"/>
                        </a:rPr>
                        <a:t>macro avg)</a:t>
                      </a:r>
                      <a:endParaRPr lang="en-US" sz="18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lumMod val="75000"/>
                      </a:schemeClr>
                    </a:solidFill>
                  </a:tcPr>
                </a:tc>
                <a:extLst>
                  <a:ext uri="{0D108BD9-81ED-4DB2-BD59-A6C34878D82A}">
                    <a16:rowId xmlns:a16="http://schemas.microsoft.com/office/drawing/2014/main" val="4017549664"/>
                  </a:ext>
                </a:extLst>
              </a:tr>
              <a:tr h="1263346">
                <a:tc>
                  <a:txBody>
                    <a:bodyPr/>
                    <a:lstStyle/>
                    <a:p>
                      <a:pPr algn="l" fontAlgn="ctr"/>
                      <a:r>
                        <a:rPr lang="ja-JP" altLang="en-US" sz="1600" u="none" strike="noStrike">
                          <a:effectLst/>
                          <a:latin typeface="UD デジタル 教科書体 NK-B" panose="02020700000000000000" pitchFamily="18" charset="-128"/>
                          <a:ea typeface="UD デジタル 教科書体 NK-B" panose="02020700000000000000" pitchFamily="18" charset="-128"/>
                        </a:rPr>
                        <a:t>トレーニングデータ</a:t>
                      </a:r>
                      <a:endParaRPr lang="ja-JP" altLang="en-US" sz="16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tc>
                  <a:txBody>
                    <a:bodyPr/>
                    <a:lstStyle/>
                    <a:p>
                      <a:pPr algn="r" fontAlgn="ctr"/>
                      <a:r>
                        <a:rPr lang="en-US" altLang="ja-JP" sz="1600" u="none" strike="noStrike" dirty="0">
                          <a:effectLst/>
                          <a:latin typeface="UD デジタル 教科書体 NK-B" panose="02020700000000000000" pitchFamily="18" charset="-128"/>
                          <a:ea typeface="UD デジタル 教科書体 NK-B" panose="02020700000000000000" pitchFamily="18" charset="-128"/>
                        </a:rPr>
                        <a:t>0.66667</a:t>
                      </a:r>
                      <a:endParaRPr lang="en-US" altLang="ja-JP" sz="1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tc>
                  <a:txBody>
                    <a:bodyPr/>
                    <a:lstStyle/>
                    <a:p>
                      <a:pPr algn="r" fontAlgn="ctr"/>
                      <a:r>
                        <a:rPr lang="en-US" altLang="ja-JP" sz="1600" u="none" strike="noStrike" dirty="0">
                          <a:effectLst/>
                          <a:latin typeface="UD デジタル 教科書体 NK-B" panose="02020700000000000000" pitchFamily="18" charset="-128"/>
                          <a:ea typeface="UD デジタル 教科書体 NK-B" panose="02020700000000000000" pitchFamily="18" charset="-128"/>
                        </a:rPr>
                        <a:t>0.71419</a:t>
                      </a:r>
                      <a:endParaRPr lang="en-US" altLang="ja-JP" sz="1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tc>
                  <a:txBody>
                    <a:bodyPr/>
                    <a:lstStyle/>
                    <a:p>
                      <a:pPr algn="r" fontAlgn="ctr"/>
                      <a:r>
                        <a:rPr lang="en-US" altLang="ja-JP" sz="1600" u="none" strike="noStrike">
                          <a:effectLst/>
                          <a:latin typeface="UD デジタル 教科書体 NK-B" panose="02020700000000000000" pitchFamily="18" charset="-128"/>
                          <a:ea typeface="UD デジタル 教科書体 NK-B" panose="02020700000000000000" pitchFamily="18" charset="-128"/>
                        </a:rPr>
                        <a:t>0.66025</a:t>
                      </a:r>
                      <a:endParaRPr lang="en-US" altLang="ja-JP" sz="16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tc>
                  <a:txBody>
                    <a:bodyPr/>
                    <a:lstStyle/>
                    <a:p>
                      <a:pPr algn="r" fontAlgn="ctr"/>
                      <a:r>
                        <a:rPr lang="en-US" altLang="ja-JP" sz="1600" u="none" strike="noStrike">
                          <a:effectLst/>
                          <a:latin typeface="UD デジタル 教科書体 NK-B" panose="02020700000000000000" pitchFamily="18" charset="-128"/>
                          <a:ea typeface="UD デジタル 教科書体 NK-B" panose="02020700000000000000" pitchFamily="18" charset="-128"/>
                        </a:rPr>
                        <a:t>0.64041</a:t>
                      </a:r>
                      <a:endParaRPr lang="en-US" altLang="ja-JP" sz="16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extLst>
                  <a:ext uri="{0D108BD9-81ED-4DB2-BD59-A6C34878D82A}">
                    <a16:rowId xmlns:a16="http://schemas.microsoft.com/office/drawing/2014/main" val="1135231732"/>
                  </a:ext>
                </a:extLst>
              </a:tr>
              <a:tr h="1214755">
                <a:tc>
                  <a:txBody>
                    <a:bodyPr/>
                    <a:lstStyle/>
                    <a:p>
                      <a:pPr algn="l" fontAlgn="ctr"/>
                      <a:r>
                        <a:rPr lang="ja-JP" altLang="en-US" sz="1800" u="none" strike="noStrike">
                          <a:effectLst/>
                          <a:latin typeface="UD デジタル 教科書体 NK-B" panose="02020700000000000000" pitchFamily="18" charset="-128"/>
                          <a:ea typeface="UD デジタル 教科書体 NK-B" panose="02020700000000000000" pitchFamily="18" charset="-128"/>
                        </a:rPr>
                        <a:t>テストデータ</a:t>
                      </a:r>
                      <a:endParaRPr lang="ja-JP" altLang="en-US" sz="18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tc>
                  <a:txBody>
                    <a:bodyPr/>
                    <a:lstStyle/>
                    <a:p>
                      <a:pPr algn="r" fontAlgn="ctr"/>
                      <a:r>
                        <a:rPr lang="en-US" altLang="ja-JP" sz="1600" u="none" strike="noStrike">
                          <a:effectLst/>
                          <a:latin typeface="UD デジタル 教科書体 NK-B" panose="02020700000000000000" pitchFamily="18" charset="-128"/>
                          <a:ea typeface="UD デジタル 教科書体 NK-B" panose="02020700000000000000" pitchFamily="18" charset="-128"/>
                        </a:rPr>
                        <a:t>0.08571</a:t>
                      </a:r>
                      <a:endParaRPr lang="en-US" altLang="ja-JP" sz="1600" b="0" i="0" u="none" strike="noStrike">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tc>
                  <a:txBody>
                    <a:bodyPr/>
                    <a:lstStyle/>
                    <a:p>
                      <a:pPr algn="r" fontAlgn="ctr"/>
                      <a:r>
                        <a:rPr lang="en-US" altLang="ja-JP" sz="1600" u="none" strike="noStrike" dirty="0">
                          <a:effectLst/>
                          <a:latin typeface="UD デジタル 教科書体 NK-B" panose="02020700000000000000" pitchFamily="18" charset="-128"/>
                          <a:ea typeface="UD デジタル 教科書体 NK-B" panose="02020700000000000000" pitchFamily="18" charset="-128"/>
                        </a:rPr>
                        <a:t>0.10333</a:t>
                      </a:r>
                      <a:endParaRPr lang="en-US" altLang="ja-JP" sz="1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tc>
                  <a:txBody>
                    <a:bodyPr/>
                    <a:lstStyle/>
                    <a:p>
                      <a:pPr algn="r" fontAlgn="ctr"/>
                      <a:r>
                        <a:rPr lang="en-US" altLang="ja-JP" sz="1600" u="none" strike="noStrike" dirty="0">
                          <a:effectLst/>
                          <a:latin typeface="UD デジタル 教科書体 NK-B" panose="02020700000000000000" pitchFamily="18" charset="-128"/>
                          <a:ea typeface="UD デジタル 教科書体 NK-B" panose="02020700000000000000" pitchFamily="18" charset="-128"/>
                        </a:rPr>
                        <a:t>0.08333</a:t>
                      </a:r>
                      <a:endParaRPr lang="en-US" altLang="ja-JP" sz="1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tc>
                  <a:txBody>
                    <a:bodyPr/>
                    <a:lstStyle/>
                    <a:p>
                      <a:pPr algn="r" fontAlgn="ctr"/>
                      <a:r>
                        <a:rPr lang="en-US" altLang="ja-JP" sz="1600" u="none" strike="noStrike" dirty="0">
                          <a:effectLst/>
                          <a:latin typeface="UD デジタル 教科書体 NK-B" panose="02020700000000000000" pitchFamily="18" charset="-128"/>
                          <a:ea typeface="UD デジタル 教科書体 NK-B" panose="02020700000000000000" pitchFamily="18" charset="-128"/>
                        </a:rPr>
                        <a:t>0.08889</a:t>
                      </a:r>
                      <a:endParaRPr lang="en-US" altLang="ja-JP" sz="1600" b="0" i="0" u="none" strike="noStrike" dirty="0">
                        <a:solidFill>
                          <a:srgbClr val="000000"/>
                        </a:solidFill>
                        <a:effectLst/>
                        <a:latin typeface="UD デジタル 教科書体 NK-B" panose="02020700000000000000" pitchFamily="18" charset="-128"/>
                        <a:ea typeface="UD デジタル 教科書体 NK-B" panose="02020700000000000000" pitchFamily="18" charset="-128"/>
                      </a:endParaRPr>
                    </a:p>
                  </a:txBody>
                  <a:tcPr marL="9525" marR="9525" marT="9525" marB="0" anchor="ctr">
                    <a:solidFill>
                      <a:schemeClr val="bg1"/>
                    </a:solidFill>
                  </a:tcPr>
                </a:tc>
                <a:extLst>
                  <a:ext uri="{0D108BD9-81ED-4DB2-BD59-A6C34878D82A}">
                    <a16:rowId xmlns:a16="http://schemas.microsoft.com/office/drawing/2014/main" val="563966720"/>
                  </a:ext>
                </a:extLst>
              </a:tr>
            </a:tbl>
          </a:graphicData>
        </a:graphic>
      </p:graphicFrame>
      <p:sp>
        <p:nvSpPr>
          <p:cNvPr id="11" name="正方形/長方形 10">
            <a:extLst>
              <a:ext uri="{FF2B5EF4-FFF2-40B4-BE49-F238E27FC236}">
                <a16:creationId xmlns:a16="http://schemas.microsoft.com/office/drawing/2014/main" id="{5B763218-7EE3-F19D-F0AF-FA43EA6FA57B}"/>
              </a:ext>
            </a:extLst>
          </p:cNvPr>
          <p:cNvSpPr/>
          <p:nvPr/>
        </p:nvSpPr>
        <p:spPr>
          <a:xfrm>
            <a:off x="7509468" y="2337806"/>
            <a:ext cx="4533065" cy="3821427"/>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75CBBFF-591B-A679-AD1E-1F0E6AD4CBEF}"/>
              </a:ext>
            </a:extLst>
          </p:cNvPr>
          <p:cNvSpPr txBox="1"/>
          <p:nvPr/>
        </p:nvSpPr>
        <p:spPr>
          <a:xfrm>
            <a:off x="7227187" y="2337807"/>
            <a:ext cx="5041014" cy="1016112"/>
          </a:xfrm>
          <a:prstGeom prst="rect">
            <a:avLst/>
          </a:prstGeom>
          <a:noFill/>
        </p:spPr>
        <p:txBody>
          <a:bodyPr wrap="square">
            <a:spAutoFit/>
          </a:bodyPr>
          <a:lstStyle/>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精度の低下</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
        <p:nvSpPr>
          <p:cNvPr id="9" name="二等辺三角形 8">
            <a:extLst>
              <a:ext uri="{FF2B5EF4-FFF2-40B4-BE49-F238E27FC236}">
                <a16:creationId xmlns:a16="http://schemas.microsoft.com/office/drawing/2014/main" id="{FBC4D910-CF74-F16A-B8F7-818C1A946D88}"/>
              </a:ext>
            </a:extLst>
          </p:cNvPr>
          <p:cNvSpPr/>
          <p:nvPr/>
        </p:nvSpPr>
        <p:spPr>
          <a:xfrm flipV="1">
            <a:off x="8366396" y="3528156"/>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10" name="テキスト ボックス 9">
            <a:extLst>
              <a:ext uri="{FF2B5EF4-FFF2-40B4-BE49-F238E27FC236}">
                <a16:creationId xmlns:a16="http://schemas.microsoft.com/office/drawing/2014/main" id="{C5F85DBA-3D90-9FA0-30FB-614577EC43FE}"/>
              </a:ext>
            </a:extLst>
          </p:cNvPr>
          <p:cNvSpPr txBox="1"/>
          <p:nvPr/>
        </p:nvSpPr>
        <p:spPr>
          <a:xfrm>
            <a:off x="7227187" y="4128960"/>
            <a:ext cx="5041014" cy="2031775"/>
          </a:xfrm>
          <a:prstGeom prst="rect">
            <a:avLst/>
          </a:prstGeom>
          <a:noFill/>
        </p:spPr>
        <p:txBody>
          <a:bodyPr wrap="square">
            <a:spAutoFit/>
          </a:bodyPr>
          <a:lstStyle/>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主成分分析では</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可視化が不可能</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59283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EEE508DC-0899-50C9-06A6-D5D481AC2297}"/>
              </a:ext>
            </a:extLst>
          </p:cNvPr>
          <p:cNvSpPr/>
          <p:nvPr/>
        </p:nvSpPr>
        <p:spPr>
          <a:xfrm>
            <a:off x="63699" y="1737104"/>
            <a:ext cx="5684423" cy="4751767"/>
          </a:xfrm>
          <a:prstGeom prst="rect">
            <a:avLst/>
          </a:prstGeom>
          <a:solidFill>
            <a:srgbClr val="97C7E6">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86FCCB88-6470-4000-C80A-CAA23BCD98BD}"/>
              </a:ext>
            </a:extLst>
          </p:cNvPr>
          <p:cNvSpPr/>
          <p:nvPr/>
        </p:nvSpPr>
        <p:spPr>
          <a:xfrm>
            <a:off x="6228999" y="1797187"/>
            <a:ext cx="5778782" cy="4751767"/>
          </a:xfrm>
          <a:prstGeom prst="rect">
            <a:avLst/>
          </a:prstGeom>
          <a:solidFill>
            <a:srgbClr val="FF505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Watson</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 </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Assistant</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との比較</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2" name="テキスト ボックス 1">
            <a:extLst>
              <a:ext uri="{FF2B5EF4-FFF2-40B4-BE49-F238E27FC236}">
                <a16:creationId xmlns:a16="http://schemas.microsoft.com/office/drawing/2014/main" id="{6EF909FE-ADA9-3FAE-5350-19A86BAD471F}"/>
              </a:ext>
            </a:extLst>
          </p:cNvPr>
          <p:cNvSpPr txBox="1"/>
          <p:nvPr/>
        </p:nvSpPr>
        <p:spPr>
          <a:xfrm>
            <a:off x="0" y="2806432"/>
            <a:ext cx="5533241" cy="2031775"/>
          </a:xfrm>
          <a:prstGeom prst="rect">
            <a:avLst/>
          </a:prstGeom>
          <a:noFill/>
        </p:spPr>
        <p:txBody>
          <a:bodyPr wrap="square">
            <a:spAutoFit/>
          </a:bodyPr>
          <a:lstStyle/>
          <a:p>
            <a:pPr algn="ctr">
              <a:lnSpc>
                <a:spcPct val="150000"/>
              </a:lnSpc>
            </a:pPr>
            <a:r>
              <a:rPr lang="en-US" altLang="ja-JP" sz="4400" b="1" dirty="0">
                <a:latin typeface="UD デジタル 教科書体 NK-B" panose="02020700000000000000" pitchFamily="18" charset="-128"/>
                <a:ea typeface="UD デジタル 教科書体 NK-B" panose="02020700000000000000" pitchFamily="18" charset="-128"/>
              </a:rPr>
              <a:t>SVM</a:t>
            </a:r>
            <a:r>
              <a:rPr lang="ja-JP" altLang="en-US" sz="4400" b="1" dirty="0">
                <a:latin typeface="UD デジタル 教科書体 NK-B" panose="02020700000000000000" pitchFamily="18" charset="-128"/>
                <a:ea typeface="UD デジタル 教科書体 NK-B" panose="02020700000000000000" pitchFamily="18" charset="-128"/>
              </a:rPr>
              <a:t>と</a:t>
            </a:r>
            <a:r>
              <a:rPr lang="en-US" altLang="ja-JP" sz="4400" b="1" dirty="0">
                <a:latin typeface="UD デジタル 教科書体 NK-B" panose="02020700000000000000" pitchFamily="18" charset="-128"/>
                <a:ea typeface="UD デジタル 教科書体 NK-B" panose="02020700000000000000" pitchFamily="18" charset="-128"/>
              </a:rPr>
              <a:t>K</a:t>
            </a:r>
            <a:r>
              <a:rPr lang="ja-JP" altLang="en-US" sz="4400" b="1" dirty="0">
                <a:latin typeface="UD デジタル 教科書体 NK-B" panose="02020700000000000000" pitchFamily="18" charset="-128"/>
                <a:ea typeface="UD デジタル 教科書体 NK-B" panose="02020700000000000000" pitchFamily="18" charset="-128"/>
              </a:rPr>
              <a:t>近傍法では同レベルの精度</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
        <p:nvSpPr>
          <p:cNvPr id="9" name="テキスト ボックス 8">
            <a:extLst>
              <a:ext uri="{FF2B5EF4-FFF2-40B4-BE49-F238E27FC236}">
                <a16:creationId xmlns:a16="http://schemas.microsoft.com/office/drawing/2014/main" id="{221192CF-85D3-452E-CD7A-34E5F65E37F3}"/>
              </a:ext>
            </a:extLst>
          </p:cNvPr>
          <p:cNvSpPr txBox="1"/>
          <p:nvPr/>
        </p:nvSpPr>
        <p:spPr>
          <a:xfrm>
            <a:off x="6102239" y="2173770"/>
            <a:ext cx="6032301" cy="3878434"/>
          </a:xfrm>
          <a:prstGeom prst="rect">
            <a:avLst/>
          </a:prstGeom>
          <a:noFill/>
        </p:spPr>
        <p:txBody>
          <a:bodyPr wrap="square">
            <a:spAutoFit/>
          </a:bodyPr>
          <a:lstStyle/>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質問ごとのスコアの実装</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ストップワードの実装</a:t>
            </a: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データ量増加への適応</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7427338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8302197C-8FF5-9B2C-E902-19541F01CB73}"/>
              </a:ext>
            </a:extLst>
          </p:cNvPr>
          <p:cNvSpPr/>
          <p:nvPr/>
        </p:nvSpPr>
        <p:spPr>
          <a:xfrm>
            <a:off x="26356" y="1869923"/>
            <a:ext cx="5778782" cy="4751767"/>
          </a:xfrm>
          <a:prstGeom prst="rect">
            <a:avLst/>
          </a:prstGeom>
          <a:solidFill>
            <a:srgbClr val="FF505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Watson</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 </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Assistant</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との比較</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3" name="テキスト ボックス 2">
            <a:extLst>
              <a:ext uri="{FF2B5EF4-FFF2-40B4-BE49-F238E27FC236}">
                <a16:creationId xmlns:a16="http://schemas.microsoft.com/office/drawing/2014/main" id="{62FC91EB-7EA8-A0F9-FF4C-96E1E568333A}"/>
              </a:ext>
            </a:extLst>
          </p:cNvPr>
          <p:cNvSpPr txBox="1"/>
          <p:nvPr/>
        </p:nvSpPr>
        <p:spPr>
          <a:xfrm>
            <a:off x="6487905" y="2515018"/>
            <a:ext cx="5704095" cy="3316101"/>
          </a:xfrm>
          <a:prstGeom prst="rect">
            <a:avLst/>
          </a:prstGeom>
          <a:noFill/>
        </p:spPr>
        <p:txBody>
          <a:bodyPr wrap="square">
            <a:spAutoFit/>
          </a:bodyPr>
          <a:lstStyle/>
          <a:p>
            <a:pPr algn="ctr">
              <a:lnSpc>
                <a:spcPct val="150000"/>
              </a:lnSpc>
            </a:pPr>
            <a:r>
              <a:rPr lang="en-US" altLang="ja-JP" sz="4800" b="1" dirty="0">
                <a:solidFill>
                  <a:srgbClr val="FF5050"/>
                </a:solidFill>
                <a:latin typeface="UD デジタル 教科書体 NK-B" panose="02020700000000000000" pitchFamily="18" charset="-128"/>
                <a:ea typeface="UD デジタル 教科書体 NK-B" panose="02020700000000000000" pitchFamily="18" charset="-128"/>
              </a:rPr>
              <a:t>TF-IDF</a:t>
            </a:r>
            <a:r>
              <a:rPr lang="ja-JP" altLang="en-US" sz="4800" b="1" dirty="0">
                <a:solidFill>
                  <a:srgbClr val="FF5050"/>
                </a:solidFill>
                <a:latin typeface="UD デジタル 教科書体 NK-B" panose="02020700000000000000" pitchFamily="18" charset="-128"/>
                <a:ea typeface="UD デジタル 教科書体 NK-B" panose="02020700000000000000" pitchFamily="18" charset="-128"/>
              </a:rPr>
              <a:t>以外</a:t>
            </a:r>
            <a:r>
              <a:rPr lang="ja-JP" altLang="en-US" sz="4800" b="1" dirty="0">
                <a:latin typeface="UD デジタル 教科書体 NK-B" panose="02020700000000000000" pitchFamily="18" charset="-128"/>
                <a:ea typeface="UD デジタル 教科書体 NK-B" panose="02020700000000000000" pitchFamily="18" charset="-128"/>
              </a:rPr>
              <a:t>の</a:t>
            </a:r>
            <a:endParaRPr lang="en-US" altLang="ja-JP" sz="4800"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800" b="1" dirty="0">
                <a:latin typeface="UD デジタル 教科書体 NK-B" panose="02020700000000000000" pitchFamily="18" charset="-128"/>
                <a:ea typeface="UD デジタル 教科書体 NK-B" panose="02020700000000000000" pitchFamily="18" charset="-128"/>
              </a:rPr>
              <a:t>ベクトル化の手法を検討する必要がある</a:t>
            </a:r>
            <a:endParaRPr lang="en-US" altLang="ja-JP" sz="4800" b="1" dirty="0">
              <a:latin typeface="UD デジタル 教科書体 NK-B" panose="02020700000000000000" pitchFamily="18" charset="-128"/>
              <a:ea typeface="UD デジタル 教科書体 NK-B" panose="02020700000000000000" pitchFamily="18" charset="-128"/>
            </a:endParaRPr>
          </a:p>
        </p:txBody>
      </p:sp>
      <p:sp>
        <p:nvSpPr>
          <p:cNvPr id="7" name="テキスト ボックス 6">
            <a:extLst>
              <a:ext uri="{FF2B5EF4-FFF2-40B4-BE49-F238E27FC236}">
                <a16:creationId xmlns:a16="http://schemas.microsoft.com/office/drawing/2014/main" id="{8472BA6F-52A5-D681-5474-06A03A73D8DA}"/>
              </a:ext>
            </a:extLst>
          </p:cNvPr>
          <p:cNvSpPr txBox="1"/>
          <p:nvPr/>
        </p:nvSpPr>
        <p:spPr>
          <a:xfrm>
            <a:off x="-100403" y="2233852"/>
            <a:ext cx="6032301" cy="3878434"/>
          </a:xfrm>
          <a:prstGeom prst="rect">
            <a:avLst/>
          </a:prstGeom>
          <a:noFill/>
        </p:spPr>
        <p:txBody>
          <a:bodyPr wrap="square">
            <a:spAutoFit/>
          </a:bodyPr>
          <a:lstStyle/>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質問ごとのスコアの実装</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ストップワードの実装</a:t>
            </a: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データ量増加への適応</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
        <p:nvSpPr>
          <p:cNvPr id="8" name="二等辺三角形 7">
            <a:extLst>
              <a:ext uri="{FF2B5EF4-FFF2-40B4-BE49-F238E27FC236}">
                <a16:creationId xmlns:a16="http://schemas.microsoft.com/office/drawing/2014/main" id="{9E4173B1-D5A0-732F-8AA8-4F5B41D215C6}"/>
              </a:ext>
            </a:extLst>
          </p:cNvPr>
          <p:cNvSpPr/>
          <p:nvPr/>
        </p:nvSpPr>
        <p:spPr>
          <a:xfrm rot="16200000" flipV="1">
            <a:off x="4828604" y="4150453"/>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17093988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8302197C-8FF5-9B2C-E902-19541F01CB73}"/>
              </a:ext>
            </a:extLst>
          </p:cNvPr>
          <p:cNvSpPr/>
          <p:nvPr/>
        </p:nvSpPr>
        <p:spPr>
          <a:xfrm>
            <a:off x="26356" y="1869923"/>
            <a:ext cx="5778782" cy="4751767"/>
          </a:xfrm>
          <a:prstGeom prst="rect">
            <a:avLst/>
          </a:prstGeom>
          <a:solidFill>
            <a:srgbClr val="FF505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1E25ADCC-FE10-B048-DF59-27B769511329}"/>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AB3689CE-0F4E-F336-8264-B96C747686B4}"/>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考察：</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Watson</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 </a:t>
            </a:r>
            <a:r>
              <a:rPr lang="en-US" altLang="ja-JP" sz="4000" b="1" dirty="0">
                <a:solidFill>
                  <a:schemeClr val="bg1"/>
                </a:solidFill>
                <a:latin typeface="UD デジタル 教科書体 NK-B" panose="02020700000000000000" pitchFamily="18" charset="-128"/>
                <a:ea typeface="UD デジタル 教科書体 NK-B" panose="02020700000000000000" pitchFamily="18" charset="-128"/>
              </a:rPr>
              <a:t>Assistant</a:t>
            </a:r>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との比較</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3" name="テキスト ボックス 2">
            <a:extLst>
              <a:ext uri="{FF2B5EF4-FFF2-40B4-BE49-F238E27FC236}">
                <a16:creationId xmlns:a16="http://schemas.microsoft.com/office/drawing/2014/main" id="{62FC91EB-7EA8-A0F9-FF4C-96E1E568333A}"/>
              </a:ext>
            </a:extLst>
          </p:cNvPr>
          <p:cNvSpPr txBox="1"/>
          <p:nvPr/>
        </p:nvSpPr>
        <p:spPr>
          <a:xfrm>
            <a:off x="6286101" y="2916123"/>
            <a:ext cx="6032300" cy="2208105"/>
          </a:xfrm>
          <a:prstGeom prst="rect">
            <a:avLst/>
          </a:prstGeom>
          <a:noFill/>
        </p:spPr>
        <p:txBody>
          <a:bodyPr wrap="square">
            <a:spAutoFit/>
          </a:bodyPr>
          <a:lstStyle/>
          <a:p>
            <a:pPr algn="ctr">
              <a:lnSpc>
                <a:spcPct val="150000"/>
              </a:lnSpc>
            </a:pPr>
            <a:r>
              <a:rPr lang="en-US" altLang="ja-JP" sz="4400" b="1" dirty="0">
                <a:latin typeface="UD デジタル 教科書体 NK-B" panose="02020700000000000000" pitchFamily="18" charset="-128"/>
                <a:ea typeface="UD デジタル 教科書体 NK-B" panose="02020700000000000000" pitchFamily="18" charset="-128"/>
              </a:rPr>
              <a:t>Watson</a:t>
            </a:r>
            <a:r>
              <a:rPr lang="ja-JP" altLang="en-US" sz="4400" b="1" dirty="0">
                <a:latin typeface="UD デジタル 教科書体 NK-B" panose="02020700000000000000" pitchFamily="18" charset="-128"/>
                <a:ea typeface="UD デジタル 教科書体 NK-B" panose="02020700000000000000" pitchFamily="18" charset="-128"/>
              </a:rPr>
              <a:t>　</a:t>
            </a:r>
            <a:r>
              <a:rPr lang="en-US" altLang="ja-JP" sz="4400" b="1" dirty="0">
                <a:latin typeface="UD デジタル 教科書体 NK-B" panose="02020700000000000000" pitchFamily="18" charset="-128"/>
                <a:ea typeface="UD デジタル 教科書体 NK-B" panose="02020700000000000000" pitchFamily="18" charset="-128"/>
              </a:rPr>
              <a:t>Assistant</a:t>
            </a:r>
            <a:r>
              <a:rPr lang="ja-JP" altLang="en-US" sz="4800" b="1" dirty="0">
                <a:latin typeface="UD デジタル 教科書体 NK-B" panose="02020700000000000000" pitchFamily="18" charset="-128"/>
                <a:ea typeface="UD デジタル 教科書体 NK-B" panose="02020700000000000000" pitchFamily="18" charset="-128"/>
              </a:rPr>
              <a:t>の再現は</a:t>
            </a:r>
            <a:r>
              <a:rPr lang="ja-JP" altLang="en-US" sz="4800" b="1" dirty="0">
                <a:solidFill>
                  <a:srgbClr val="FF5050"/>
                </a:solidFill>
                <a:latin typeface="UD デジタル 教科書体 NK-B" panose="02020700000000000000" pitchFamily="18" charset="-128"/>
                <a:ea typeface="UD デジタル 教科書体 NK-B" panose="02020700000000000000" pitchFamily="18" charset="-128"/>
              </a:rPr>
              <a:t>できていない</a:t>
            </a:r>
            <a:endParaRPr lang="en-US" altLang="ja-JP" sz="4800" b="1" dirty="0">
              <a:solidFill>
                <a:srgbClr val="FF5050"/>
              </a:solidFill>
              <a:latin typeface="UD デジタル 教科書体 NK-B" panose="02020700000000000000" pitchFamily="18" charset="-128"/>
              <a:ea typeface="UD デジタル 教科書体 NK-B" panose="02020700000000000000" pitchFamily="18" charset="-128"/>
            </a:endParaRPr>
          </a:p>
        </p:txBody>
      </p:sp>
      <p:sp>
        <p:nvSpPr>
          <p:cNvPr id="7" name="テキスト ボックス 6">
            <a:extLst>
              <a:ext uri="{FF2B5EF4-FFF2-40B4-BE49-F238E27FC236}">
                <a16:creationId xmlns:a16="http://schemas.microsoft.com/office/drawing/2014/main" id="{8472BA6F-52A5-D681-5474-06A03A73D8DA}"/>
              </a:ext>
            </a:extLst>
          </p:cNvPr>
          <p:cNvSpPr txBox="1"/>
          <p:nvPr/>
        </p:nvSpPr>
        <p:spPr>
          <a:xfrm>
            <a:off x="-100403" y="2233852"/>
            <a:ext cx="6032301" cy="3878434"/>
          </a:xfrm>
          <a:prstGeom prst="rect">
            <a:avLst/>
          </a:prstGeom>
          <a:noFill/>
        </p:spPr>
        <p:txBody>
          <a:bodyPr wrap="square">
            <a:spAutoFit/>
          </a:bodyPr>
          <a:lstStyle/>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質問ごとのスコアの実装</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ストップワードの実装</a:t>
            </a: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データ量増加への適応</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
        <p:nvSpPr>
          <p:cNvPr id="2" name="二等辺三角形 1">
            <a:extLst>
              <a:ext uri="{FF2B5EF4-FFF2-40B4-BE49-F238E27FC236}">
                <a16:creationId xmlns:a16="http://schemas.microsoft.com/office/drawing/2014/main" id="{11398949-6428-8C97-A99C-230E26A93330}"/>
              </a:ext>
            </a:extLst>
          </p:cNvPr>
          <p:cNvSpPr/>
          <p:nvPr/>
        </p:nvSpPr>
        <p:spPr>
          <a:xfrm rot="16200000" flipV="1">
            <a:off x="4828604" y="4150453"/>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3730038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EBF17D19-9049-F65D-2785-09A5E3334304}"/>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1">
            <a:extLst>
              <a:ext uri="{FF2B5EF4-FFF2-40B4-BE49-F238E27FC236}">
                <a16:creationId xmlns:a16="http://schemas.microsoft.com/office/drawing/2014/main" id="{2B487D85-10E6-7295-E24B-510CCB3F3F2B}"/>
              </a:ext>
            </a:extLst>
          </p:cNvPr>
          <p:cNvSpPr txBox="1">
            <a:spLocks/>
          </p:cNvSpPr>
          <p:nvPr/>
        </p:nvSpPr>
        <p:spPr>
          <a:xfrm>
            <a:off x="227802" y="3090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展望</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6" name="正方形/長方形 5">
            <a:extLst>
              <a:ext uri="{FF2B5EF4-FFF2-40B4-BE49-F238E27FC236}">
                <a16:creationId xmlns:a16="http://schemas.microsoft.com/office/drawing/2014/main" id="{4F305991-960E-92DF-CCEA-A5F87E668849}"/>
              </a:ext>
            </a:extLst>
          </p:cNvPr>
          <p:cNvSpPr/>
          <p:nvPr/>
        </p:nvSpPr>
        <p:spPr>
          <a:xfrm>
            <a:off x="26356" y="1869923"/>
            <a:ext cx="5778782" cy="4751767"/>
          </a:xfrm>
          <a:prstGeom prst="rect">
            <a:avLst/>
          </a:prstGeom>
          <a:solidFill>
            <a:srgbClr val="FF505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E69E3933-BB6B-0886-ADE6-644AD53FC2BF}"/>
              </a:ext>
            </a:extLst>
          </p:cNvPr>
          <p:cNvSpPr txBox="1"/>
          <p:nvPr/>
        </p:nvSpPr>
        <p:spPr>
          <a:xfrm>
            <a:off x="-100403" y="2233852"/>
            <a:ext cx="6032301" cy="3878434"/>
          </a:xfrm>
          <a:prstGeom prst="rect">
            <a:avLst/>
          </a:prstGeom>
          <a:noFill/>
        </p:spPr>
        <p:txBody>
          <a:bodyPr wrap="square">
            <a:spAutoFit/>
          </a:bodyPr>
          <a:lstStyle/>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質問ごとのスコアの実装</a:t>
            </a:r>
            <a:endParaRPr lang="en-US" altLang="ja-JP" sz="4400" b="1" dirty="0">
              <a:latin typeface="UD デジタル 教科書体 NK-B" panose="02020700000000000000" pitchFamily="18" charset="-128"/>
              <a:ea typeface="UD デジタル 教科書体 NK-B" panose="02020700000000000000" pitchFamily="18" charset="-128"/>
            </a:endParaRPr>
          </a:p>
          <a:p>
            <a:pPr algn="ctr">
              <a:lnSpc>
                <a:spcPct val="150000"/>
              </a:lnSpc>
            </a:pP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ストップワードの実装</a:t>
            </a: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endParaRPr lang="en-US" altLang="ja-JP" b="1" dirty="0">
              <a:latin typeface="UD デジタル 教科書体 NK-B" panose="02020700000000000000" pitchFamily="18" charset="-128"/>
              <a:ea typeface="UD デジタル 教科書体 NK-B" panose="02020700000000000000" pitchFamily="18" charset="-128"/>
            </a:endParaRPr>
          </a:p>
          <a:p>
            <a:pPr algn="ctr">
              <a:lnSpc>
                <a:spcPct val="150000"/>
              </a:lnSpc>
            </a:pPr>
            <a:r>
              <a:rPr lang="ja-JP" altLang="en-US" sz="4400" b="1" dirty="0">
                <a:latin typeface="UD デジタル 教科書体 NK-B" panose="02020700000000000000" pitchFamily="18" charset="-128"/>
                <a:ea typeface="UD デジタル 教科書体 NK-B" panose="02020700000000000000" pitchFamily="18" charset="-128"/>
              </a:rPr>
              <a:t>データ量増加への適応</a:t>
            </a:r>
            <a:endParaRPr lang="en-US" altLang="ja-JP" sz="4400" b="1" dirty="0">
              <a:latin typeface="UD デジタル 教科書体 NK-B" panose="02020700000000000000" pitchFamily="18" charset="-128"/>
              <a:ea typeface="UD デジタル 教科書体 NK-B" panose="02020700000000000000" pitchFamily="18" charset="-128"/>
            </a:endParaRPr>
          </a:p>
        </p:txBody>
      </p:sp>
      <p:sp>
        <p:nvSpPr>
          <p:cNvPr id="8" name="二等辺三角形 7">
            <a:extLst>
              <a:ext uri="{FF2B5EF4-FFF2-40B4-BE49-F238E27FC236}">
                <a16:creationId xmlns:a16="http://schemas.microsoft.com/office/drawing/2014/main" id="{7CA94B37-69DF-623D-1EED-31B68E1DFAA5}"/>
              </a:ext>
            </a:extLst>
          </p:cNvPr>
          <p:cNvSpPr/>
          <p:nvPr/>
        </p:nvSpPr>
        <p:spPr>
          <a:xfrm rot="5400000" flipV="1">
            <a:off x="4849968" y="4140404"/>
            <a:ext cx="2762595" cy="598737"/>
          </a:xfrm>
          <a:prstGeom prst="triangle">
            <a:avLst/>
          </a:prstGeom>
          <a:solidFill>
            <a:schemeClr val="tx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b="1">
              <a:latin typeface="UD デジタル 教科書体 NK-B" panose="02020700000000000000" pitchFamily="18" charset="-128"/>
              <a:ea typeface="UD デジタル 教科書体 NK-B" panose="02020700000000000000" pitchFamily="18" charset="-128"/>
            </a:endParaRPr>
          </a:p>
        </p:txBody>
      </p:sp>
      <p:sp>
        <p:nvSpPr>
          <p:cNvPr id="9" name="テキスト ボックス 8">
            <a:extLst>
              <a:ext uri="{FF2B5EF4-FFF2-40B4-BE49-F238E27FC236}">
                <a16:creationId xmlns:a16="http://schemas.microsoft.com/office/drawing/2014/main" id="{424A1FAB-8655-6199-8B91-8B1C98C0CFE2}"/>
              </a:ext>
            </a:extLst>
          </p:cNvPr>
          <p:cNvSpPr txBox="1"/>
          <p:nvPr/>
        </p:nvSpPr>
        <p:spPr>
          <a:xfrm>
            <a:off x="6668381" y="3141753"/>
            <a:ext cx="5497263" cy="2208105"/>
          </a:xfrm>
          <a:prstGeom prst="rect">
            <a:avLst/>
          </a:prstGeom>
          <a:noFill/>
        </p:spPr>
        <p:txBody>
          <a:bodyPr wrap="square">
            <a:spAutoFit/>
          </a:bodyPr>
          <a:lstStyle/>
          <a:p>
            <a:pPr algn="ctr">
              <a:lnSpc>
                <a:spcPct val="150000"/>
              </a:lnSpc>
            </a:pPr>
            <a:r>
              <a:rPr lang="en-US" altLang="ja-JP" sz="4800" b="1" dirty="0">
                <a:solidFill>
                  <a:srgbClr val="FF5050"/>
                </a:solidFill>
                <a:latin typeface="UD デジタル 教科書体 NK-B" panose="02020700000000000000" pitchFamily="18" charset="-128"/>
                <a:ea typeface="UD デジタル 教科書体 NK-B" panose="02020700000000000000" pitchFamily="18" charset="-128"/>
              </a:rPr>
              <a:t>Word2Vec</a:t>
            </a:r>
            <a:r>
              <a:rPr lang="ja-JP" altLang="en-US" sz="4800" b="1" dirty="0">
                <a:latin typeface="UD デジタル 教科書体 NK-B" panose="02020700000000000000" pitchFamily="18" charset="-128"/>
                <a:ea typeface="UD デジタル 教科書体 NK-B" panose="02020700000000000000" pitchFamily="18" charset="-128"/>
              </a:rPr>
              <a:t>などで</a:t>
            </a:r>
            <a:r>
              <a:rPr lang="ja-JP" altLang="en-US" sz="4800" b="1" dirty="0">
                <a:solidFill>
                  <a:srgbClr val="FF5050"/>
                </a:solidFill>
                <a:latin typeface="UD デジタル 教科書体 NK-B" panose="02020700000000000000" pitchFamily="18" charset="-128"/>
                <a:ea typeface="UD デジタル 教科書体 NK-B" panose="02020700000000000000" pitchFamily="18" charset="-128"/>
              </a:rPr>
              <a:t>精度向上</a:t>
            </a:r>
            <a:r>
              <a:rPr lang="ja-JP" altLang="en-US" sz="4800" b="1" dirty="0">
                <a:latin typeface="UD デジタル 教科書体 NK-B" panose="02020700000000000000" pitchFamily="18" charset="-128"/>
                <a:ea typeface="UD デジタル 教科書体 NK-B" panose="02020700000000000000" pitchFamily="18" charset="-128"/>
              </a:rPr>
              <a:t>を目指す</a:t>
            </a:r>
            <a:endParaRPr lang="en-US" altLang="ja-JP" sz="4800" b="1" dirty="0">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324911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参考文献</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3" name="テキスト ボックス 2">
            <a:extLst>
              <a:ext uri="{FF2B5EF4-FFF2-40B4-BE49-F238E27FC236}">
                <a16:creationId xmlns:a16="http://schemas.microsoft.com/office/drawing/2014/main" id="{B3CDA350-5886-2D5B-8BD5-AF4B6C72D6E8}"/>
              </a:ext>
            </a:extLst>
          </p:cNvPr>
          <p:cNvSpPr txBox="1"/>
          <p:nvPr/>
        </p:nvSpPr>
        <p:spPr>
          <a:xfrm>
            <a:off x="75402" y="1644787"/>
            <a:ext cx="11878056" cy="5386090"/>
          </a:xfrm>
          <a:prstGeom prst="rect">
            <a:avLst/>
          </a:prstGeom>
          <a:noFill/>
        </p:spPr>
        <p:txBody>
          <a:bodyPr wrap="square">
            <a:spAutoFit/>
          </a:bodyPr>
          <a:lstStyle/>
          <a:p>
            <a:r>
              <a:rPr lang="en-US" altLang="ja-JP" sz="2400" b="0" i="0" u="none" strike="noStrike" baseline="0" dirty="0">
                <a:solidFill>
                  <a:srgbClr val="000000"/>
                </a:solidFill>
                <a:latin typeface="Times New Roman" panose="02020603050405020304" pitchFamily="18" charset="0"/>
              </a:rPr>
              <a:t>(1)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小菅李音，高木正則，市川尚：「チャットボットと個別指導を併用した数学教育における理解困難箇所の学習支援の実践と評価」，情報教育シンポジウム論文集，</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pp.31-38</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渥美雅保</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村田祐樹</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安川葵：</a:t>
            </a:r>
            <a:r>
              <a:rPr lang="ja-JP" altLang="en-US"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オープンチャットとロボットの連係によるティーチングアシスタントとの協働システム</a:t>
            </a:r>
            <a:r>
              <a:rPr lang="ja-JP" altLang="en-US" sz="2400" b="0" i="0" u="none" strike="noStrike" baseline="0" dirty="0">
                <a:solidFill>
                  <a:srgbClr val="000000"/>
                </a:solidFill>
                <a:latin typeface="Times New Roman" panose="02020603050405020304" pitchFamily="18" charset="0"/>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人工知能学会全国大会論文集</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31</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2017</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(3) IBM Watson</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https://www.ibm.com/jp-ja/watson</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(4)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中山光樹：「機械学習・深層学習による自然言語処理入門</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-scikit-learn</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と</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TensorFlow</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を使った実践プログラミング</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pp2-4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，マイナビ出版，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(2020)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(5)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同上，</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pp14-19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(6) Python Japan</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https://www.python.jp/pages/about.html</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(7) NumPy</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https://numpy.org/ja/</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(8) Pandas</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https://pandas.pydata.org/</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(9) Scikit-learn</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https://scikit-learn.org/stable/</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pPr marL="342900" indent="-342900" algn="just">
              <a:buSzPct val="100000"/>
              <a:buFont typeface="Wingdings" panose="05000000000000000000" pitchFamily="2" charset="2"/>
              <a:buChar char="n"/>
              <a:tabLst>
                <a:tab pos="270510" algn="l"/>
              </a:tabLst>
            </a:pPr>
            <a:endParaRPr lang="ja-JP" altLang="ja-JP" sz="3200" kern="100" dirty="0">
              <a:solidFill>
                <a:srgbClr val="000000"/>
              </a:solidFill>
              <a:effectLst/>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4000976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参考文献</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3" name="テキスト ボックス 2">
            <a:extLst>
              <a:ext uri="{FF2B5EF4-FFF2-40B4-BE49-F238E27FC236}">
                <a16:creationId xmlns:a16="http://schemas.microsoft.com/office/drawing/2014/main" id="{B3CDA350-5886-2D5B-8BD5-AF4B6C72D6E8}"/>
              </a:ext>
            </a:extLst>
          </p:cNvPr>
          <p:cNvSpPr txBox="1"/>
          <p:nvPr/>
        </p:nvSpPr>
        <p:spPr>
          <a:xfrm>
            <a:off x="75402" y="1644787"/>
            <a:ext cx="11878056" cy="5262979"/>
          </a:xfrm>
          <a:prstGeom prst="rect">
            <a:avLst/>
          </a:prstGeom>
          <a:noFill/>
        </p:spPr>
        <p:txBody>
          <a:bodyPr wrap="square">
            <a:spAutoFit/>
          </a:bodyPr>
          <a:lstStyle/>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北研二，津田和彦，獅々堀正幹：「情報検索アルゴリズム」，</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pp.33-45</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，共立出版（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2002</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(11) </a:t>
            </a:r>
            <a:r>
              <a:rPr lang="en-US" altLang="ja-JP" sz="2400" b="0" i="0" u="none" strike="noStrike" baseline="0" dirty="0" err="1">
                <a:solidFill>
                  <a:srgbClr val="000000"/>
                </a:solidFill>
                <a:latin typeface="Times New Roman" panose="02020603050405020304" pitchFamily="18" charset="0"/>
                <a:ea typeface="ＭＳ 明朝" panose="02020609040205080304" pitchFamily="17" charset="-128"/>
              </a:rPr>
              <a:t>OpenPyXL</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https://openpyxl.readthedocs.io/en/stable/</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(12) Janome</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https://mocobeta.github.io/janome/</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(13)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岩村陸，岡田浩毅：「</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Watson</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によるチャットボットの学習方法」，</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CIEC</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春季カンファレンス論文集，</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12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pp.136-137</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2021</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(14)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岩村陸，岡田浩毅：「二つの文章に関する類似度スコア計算プログラムの比較検討」，</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CIEC</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春季カンファレンス論文集，</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14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pp.76-77</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(15) MathWorks</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https://jp.mathworks.com/discovery/support-vector-machine.html</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(16)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古宮嘉那子，伊藤裕佑，佐藤直人，小谷善行：「文書分類のための</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Negation Naive Bayes</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」，自然言語処理 </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 (2)</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pp.161-182</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2013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(17) IBM</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https://www.ibm.com/jp-ja/topics/knn</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pPr marL="342900" indent="-342900" algn="just">
              <a:buSzPct val="100000"/>
              <a:buFont typeface="Wingdings" panose="05000000000000000000" pitchFamily="2" charset="2"/>
              <a:buChar char="n"/>
              <a:tabLst>
                <a:tab pos="270510" algn="l"/>
              </a:tabLst>
            </a:pPr>
            <a:endParaRPr lang="ja-JP" altLang="ja-JP" sz="2400" kern="100" dirty="0">
              <a:solidFill>
                <a:srgbClr val="000000"/>
              </a:solidFill>
              <a:effectLst/>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115216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B9C973-AE75-B7DA-450B-85856D251188}"/>
              </a:ext>
            </a:extLst>
          </p:cNvPr>
          <p:cNvSpPr/>
          <p:nvPr/>
        </p:nvSpPr>
        <p:spPr>
          <a:xfrm>
            <a:off x="0" y="0"/>
            <a:ext cx="12192000" cy="148814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タイトル 1">
            <a:extLst>
              <a:ext uri="{FF2B5EF4-FFF2-40B4-BE49-F238E27FC236}">
                <a16:creationId xmlns:a16="http://schemas.microsoft.com/office/drawing/2014/main" id="{6D79F834-C28B-FBE1-91EF-E1076DBD4B10}"/>
              </a:ext>
            </a:extLst>
          </p:cNvPr>
          <p:cNvSpPr txBox="1">
            <a:spLocks/>
          </p:cNvSpPr>
          <p:nvPr/>
        </p:nvSpPr>
        <p:spPr>
          <a:xfrm>
            <a:off x="75402" y="156646"/>
            <a:ext cx="12116598" cy="133149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b="1" dirty="0">
                <a:solidFill>
                  <a:schemeClr val="bg1"/>
                </a:solidFill>
                <a:latin typeface="UD デジタル 教科書体 NK-B" panose="02020700000000000000" pitchFamily="18" charset="-128"/>
                <a:ea typeface="UD デジタル 教科書体 NK-B" panose="02020700000000000000" pitchFamily="18" charset="-128"/>
              </a:rPr>
              <a:t>参考文献</a:t>
            </a:r>
            <a:endParaRPr lang="ja-JP" altLang="en-US" sz="2000" b="1" dirty="0">
              <a:solidFill>
                <a:schemeClr val="bg1"/>
              </a:solidFill>
              <a:latin typeface="UD デジタル 教科書体 NK-B" panose="02020700000000000000" pitchFamily="18" charset="-128"/>
              <a:ea typeface="UD デジタル 教科書体 NK-B" panose="02020700000000000000" pitchFamily="18" charset="-128"/>
            </a:endParaRPr>
          </a:p>
        </p:txBody>
      </p:sp>
      <p:sp>
        <p:nvSpPr>
          <p:cNvPr id="3" name="テキスト ボックス 2">
            <a:extLst>
              <a:ext uri="{FF2B5EF4-FFF2-40B4-BE49-F238E27FC236}">
                <a16:creationId xmlns:a16="http://schemas.microsoft.com/office/drawing/2014/main" id="{B3CDA350-5886-2D5B-8BD5-AF4B6C72D6E8}"/>
              </a:ext>
            </a:extLst>
          </p:cNvPr>
          <p:cNvSpPr txBox="1"/>
          <p:nvPr/>
        </p:nvSpPr>
        <p:spPr>
          <a:xfrm>
            <a:off x="75402" y="1644787"/>
            <a:ext cx="11878056" cy="6494085"/>
          </a:xfrm>
          <a:prstGeom prst="rect">
            <a:avLst/>
          </a:prstGeom>
          <a:noFill/>
        </p:spPr>
        <p:txBody>
          <a:bodyPr wrap="square">
            <a:spAutoFit/>
          </a:bodyPr>
          <a:lstStyle/>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(18)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環境省：</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https://www.renewable-energy-potential.env.go.jp/RenewableEnergy/dat/report/r03-01/r03-01_chpt3_Part2.pdf</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(2023</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年</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10</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24</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日閲覧</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(19)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関栞</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和喜多美月</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杉本理</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Watson Assistant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による</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Web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型チャットボットの開発</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城西大学経営学部におけるチャットボットの実装について</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城西情報科学研究</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,pp27-37,</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城西大学情報科学研究センター</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(2022).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山内一将</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川本淳平</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堀良彰</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櫻井幸一</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「機械学習を用いたセッション分類による</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C&amp;C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トラフィック抽出」</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暗号と情報セキュリティシンポジウム</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,p.4C1-5,(2014)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(21)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中山研一朗</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正田備也</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BERT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を用いた分類モデルによる冗長な質問文の要点抽出」</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第</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21</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回情報科学技術フォーラム</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(2021).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(22)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東中竜一郎</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稲葉通将</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水上雅博</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Python</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でつくる対話システム」</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オーム社</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,2020 </a:t>
            </a:r>
          </a:p>
          <a:p>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(23) </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田中穂積：「自然言語処理</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基礎と応用</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a:t>
            </a:r>
            <a:r>
              <a:rPr lang="ja-JP" altLang="en-US" sz="2400" b="0" i="0" u="none" strike="noStrike" baseline="0" dirty="0">
                <a:solidFill>
                  <a:srgbClr val="000000"/>
                </a:solidFill>
                <a:latin typeface="ＭＳ 明朝" panose="02020609040205080304" pitchFamily="17" charset="-128"/>
                <a:ea typeface="ＭＳ 明朝" panose="02020609040205080304" pitchFamily="17" charset="-128"/>
              </a:rPr>
              <a:t>電子情報通信学会</a:t>
            </a:r>
            <a:r>
              <a:rPr lang="en-US" altLang="ja-JP" sz="2400" b="0" i="0" u="none" strike="noStrike" baseline="0" dirty="0">
                <a:solidFill>
                  <a:srgbClr val="000000"/>
                </a:solidFill>
                <a:latin typeface="Times New Roman" panose="02020603050405020304" pitchFamily="18" charset="0"/>
                <a:ea typeface="ＭＳ 明朝" panose="02020609040205080304" pitchFamily="17" charset="-128"/>
              </a:rPr>
              <a:t>,1999 </a:t>
            </a:r>
          </a:p>
          <a:p>
            <a:pPr marL="342900" indent="-342900" algn="just">
              <a:buSzPct val="100000"/>
              <a:buFont typeface="Wingdings" panose="05000000000000000000" pitchFamily="2" charset="2"/>
              <a:buChar char="n"/>
              <a:tabLst>
                <a:tab pos="270510" algn="l"/>
              </a:tabLst>
            </a:pPr>
            <a:endParaRPr lang="en-US" altLang="ja-JP" sz="3200" kern="100" dirty="0">
              <a:solidFill>
                <a:srgbClr val="000000"/>
              </a:solidFill>
              <a:effectLst/>
              <a:latin typeface="UD デジタル 教科書体 NK-B" panose="02020700000000000000" pitchFamily="18" charset="-128"/>
              <a:ea typeface="UD デジタル 教科書体 NK-B" panose="02020700000000000000" pitchFamily="18" charset="-128"/>
            </a:endParaRPr>
          </a:p>
          <a:p>
            <a:pPr marL="342900" indent="-342900" algn="just">
              <a:buSzPct val="100000"/>
              <a:buFont typeface="Wingdings" panose="05000000000000000000" pitchFamily="2" charset="2"/>
              <a:buChar char="n"/>
              <a:tabLst>
                <a:tab pos="270510" algn="l"/>
              </a:tabLst>
            </a:pPr>
            <a:endParaRPr lang="en-US" altLang="ja-JP" sz="2400" kern="100" dirty="0">
              <a:solidFill>
                <a:srgbClr val="000000"/>
              </a:solidFill>
              <a:effectLst/>
              <a:latin typeface="UD デジタル 教科書体 NK-B" panose="02020700000000000000" pitchFamily="18" charset="-128"/>
              <a:ea typeface="UD デジタル 教科書体 NK-B" panose="02020700000000000000" pitchFamily="18" charset="-128"/>
            </a:endParaRPr>
          </a:p>
          <a:p>
            <a:pPr marL="342900" indent="-342900" algn="just">
              <a:buSzPct val="100000"/>
              <a:buFont typeface="Wingdings" panose="05000000000000000000" pitchFamily="2" charset="2"/>
              <a:buChar char="n"/>
              <a:tabLst>
                <a:tab pos="270510" algn="l"/>
              </a:tabLst>
            </a:pPr>
            <a:endParaRPr lang="en-US" altLang="ja-JP" sz="2400" kern="100" dirty="0">
              <a:solidFill>
                <a:srgbClr val="000000"/>
              </a:solidFill>
              <a:effectLst/>
              <a:latin typeface="UD デジタル 教科書体 NK-B" panose="02020700000000000000" pitchFamily="18" charset="-128"/>
              <a:ea typeface="UD デジタル 教科書体 NK-B" panose="02020700000000000000" pitchFamily="18" charset="-128"/>
            </a:endParaRPr>
          </a:p>
          <a:p>
            <a:pPr marL="342900" indent="-342900" algn="just">
              <a:buSzPct val="100000"/>
              <a:buFont typeface="Wingdings" panose="05000000000000000000" pitchFamily="2" charset="2"/>
              <a:buChar char="n"/>
              <a:tabLst>
                <a:tab pos="270510" algn="l"/>
              </a:tabLst>
            </a:pPr>
            <a:endParaRPr lang="en-US" altLang="ja-JP" sz="2400" kern="100" dirty="0">
              <a:solidFill>
                <a:srgbClr val="000000"/>
              </a:solidFill>
              <a:effectLst/>
              <a:latin typeface="UD デジタル 教科書体 NK-B" panose="02020700000000000000" pitchFamily="18" charset="-128"/>
              <a:ea typeface="UD デジタル 教科書体 NK-B" panose="02020700000000000000" pitchFamily="18" charset="-128"/>
            </a:endParaRPr>
          </a:p>
          <a:p>
            <a:pPr marL="342900" indent="-342900" algn="just">
              <a:buSzPct val="100000"/>
              <a:buFont typeface="Wingdings" panose="05000000000000000000" pitchFamily="2" charset="2"/>
              <a:buChar char="n"/>
              <a:tabLst>
                <a:tab pos="270510" algn="l"/>
              </a:tabLst>
            </a:pPr>
            <a:endParaRPr lang="ja-JP" altLang="ja-JP" sz="2400" kern="100" dirty="0">
              <a:solidFill>
                <a:srgbClr val="000000"/>
              </a:solidFill>
              <a:effectLst/>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37507764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1511</TotalTime>
  <Words>4786</Words>
  <Application>Microsoft Office PowerPoint</Application>
  <PresentationFormat>ワイド画面</PresentationFormat>
  <Paragraphs>631</Paragraphs>
  <Slides>58</Slides>
  <Notes>22</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58</vt:i4>
      </vt:variant>
    </vt:vector>
  </HeadingPairs>
  <TitlesOfParts>
    <vt:vector size="70" baseType="lpstr">
      <vt:lpstr>ＭＳ 明朝</vt:lpstr>
      <vt:lpstr>UD デジタル 教科書体 NK-B</vt:lpstr>
      <vt:lpstr>UD デジタル 教科書体 N-R</vt:lpstr>
      <vt:lpstr>游ゴシック</vt:lpstr>
      <vt:lpstr>游ゴシック Light</vt:lpstr>
      <vt:lpstr>游明朝</vt:lpstr>
      <vt:lpstr>Arial</vt:lpstr>
      <vt:lpstr>Cambria Math</vt:lpstr>
      <vt:lpstr>Comic Sans MS</vt:lpstr>
      <vt:lpstr>Times New Roman</vt:lpstr>
      <vt:lpstr>Wingdings</vt:lpstr>
      <vt:lpstr>Office テーマ</vt:lpstr>
      <vt:lpstr>卒論発表  数学に関する質問文分類プログラムの比較検証 ‐TF-IDFを用いた文章のベクトル化と機械学習の実装‐</vt:lpstr>
      <vt:lpstr>目次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CIEC 春季カンファレンス2023　U-18  二つの文章に関する 類似度スコア計算プログラムの比較検討 ‐Watsonの内部処理の再現‐</dc:title>
  <dc:creator>岡田 浩毅</dc:creator>
  <cp:lastModifiedBy>浩毅 岡田</cp:lastModifiedBy>
  <cp:revision>5</cp:revision>
  <dcterms:created xsi:type="dcterms:W3CDTF">2023-01-30T06:40:16Z</dcterms:created>
  <dcterms:modified xsi:type="dcterms:W3CDTF">2023-11-10T11:44:47Z</dcterms:modified>
</cp:coreProperties>
</file>